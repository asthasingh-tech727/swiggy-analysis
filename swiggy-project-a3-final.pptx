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5125700" cy="10693400"/>
  <p:notesSz cx="151257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126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4903" y="3314954"/>
            <a:ext cx="12862243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69807" y="5988304"/>
            <a:ext cx="1059243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file:///C:/Users/L470/Desktop/swiggy-</a:t>
            </a:r>
            <a:r>
              <a:rPr dirty="0"/>
              <a:t>project.html</a:t>
            </a:r>
            <a:r>
              <a:rPr spc="190" dirty="0"/>
              <a:t>  </a:t>
            </a:r>
            <a:fld id="{81D60167-4931-47E6-BA6A-407CBD079E47}" type="slidenum">
              <a:rPr spc="-25" dirty="0"/>
              <a:t>‹#›</a:t>
            </a:fld>
            <a:r>
              <a:rPr spc="-25" dirty="0"/>
              <a:t>/9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file:///C:/Users/L470/Desktop/swiggy-</a:t>
            </a:r>
            <a:r>
              <a:rPr dirty="0"/>
              <a:t>project.html</a:t>
            </a:r>
            <a:r>
              <a:rPr spc="190" dirty="0"/>
              <a:t>  </a:t>
            </a:r>
            <a:fld id="{81D60167-4931-47E6-BA6A-407CBD079E47}" type="slidenum">
              <a:rPr spc="-25" dirty="0"/>
              <a:t>‹#›</a:t>
            </a:fld>
            <a:r>
              <a:rPr spc="-25" dirty="0"/>
              <a:t>/9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6602" y="2459482"/>
            <a:ext cx="658244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793005" y="2459482"/>
            <a:ext cx="658244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file:///C:/Users/L470/Desktop/swiggy-</a:t>
            </a:r>
            <a:r>
              <a:rPr dirty="0"/>
              <a:t>project.html</a:t>
            </a:r>
            <a:r>
              <a:rPr spc="190" dirty="0"/>
              <a:t>  </a:t>
            </a:r>
            <a:fld id="{81D60167-4931-47E6-BA6A-407CBD079E47}" type="slidenum">
              <a:rPr spc="-25" dirty="0"/>
              <a:t>‹#›</a:t>
            </a:fld>
            <a:r>
              <a:rPr spc="-25" dirty="0"/>
              <a:t>/9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file:///C:/Users/L470/Desktop/swiggy-</a:t>
            </a:r>
            <a:r>
              <a:rPr dirty="0"/>
              <a:t>project.html</a:t>
            </a:r>
            <a:r>
              <a:rPr spc="190" dirty="0"/>
              <a:t>  </a:t>
            </a:r>
            <a:fld id="{81D60167-4931-47E6-BA6A-407CBD079E47}" type="slidenum">
              <a:rPr spc="-25" dirty="0"/>
              <a:t>‹#›</a:t>
            </a:fld>
            <a:r>
              <a:rPr spc="-25" dirty="0"/>
              <a:t>/9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file:///C:/Users/L470/Desktop/swiggy-</a:t>
            </a:r>
            <a:r>
              <a:rPr dirty="0"/>
              <a:t>project.html</a:t>
            </a:r>
            <a:r>
              <a:rPr spc="190" dirty="0"/>
              <a:t>  </a:t>
            </a:r>
            <a:fld id="{81D60167-4931-47E6-BA6A-407CBD079E47}" type="slidenum">
              <a:rPr spc="-25" dirty="0"/>
              <a:t>‹#›</a:t>
            </a:fld>
            <a:r>
              <a:rPr spc="-25" dirty="0"/>
              <a:t>/9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6602" y="427736"/>
            <a:ext cx="1361884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602" y="2459482"/>
            <a:ext cx="1361884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44897" y="9944862"/>
            <a:ext cx="484225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56602" y="9944862"/>
            <a:ext cx="3480371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85876" y="10379984"/>
            <a:ext cx="2454275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file:///C:/Users/L470/Desktop/swiggy-</a:t>
            </a:r>
            <a:r>
              <a:rPr dirty="0"/>
              <a:t>project.html</a:t>
            </a:r>
            <a:r>
              <a:rPr spc="190" dirty="0"/>
              <a:t>  </a:t>
            </a:r>
            <a:fld id="{81D60167-4931-47E6-BA6A-407CBD079E47}" type="slidenum">
              <a:rPr spc="-25" dirty="0"/>
              <a:t>‹#›</a:t>
            </a:fld>
            <a:r>
              <a:rPr spc="-25" dirty="0"/>
              <a:t>/9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5876" y="189992"/>
            <a:ext cx="15887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6/11/26,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12:59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PM</a:t>
            </a:r>
            <a:r>
              <a:rPr sz="800" spc="4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swiggy-project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25955" y="534415"/>
            <a:ext cx="3409315" cy="1012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Segoe UI"/>
                <a:cs typeface="Segoe UI"/>
              </a:rPr>
              <a:t>SWIGGY</a:t>
            </a:r>
            <a:r>
              <a:rPr sz="2200" b="1" spc="-70" dirty="0">
                <a:latin typeface="Segoe UI"/>
                <a:cs typeface="Segoe UI"/>
              </a:rPr>
              <a:t> </a:t>
            </a:r>
            <a:r>
              <a:rPr sz="2200" b="1" dirty="0">
                <a:latin typeface="Segoe UI"/>
                <a:cs typeface="Segoe UI"/>
              </a:rPr>
              <a:t>SALES</a:t>
            </a:r>
            <a:r>
              <a:rPr sz="2200" b="1" spc="-75" dirty="0">
                <a:latin typeface="Segoe UI"/>
                <a:cs typeface="Segoe UI"/>
              </a:rPr>
              <a:t> </a:t>
            </a:r>
            <a:r>
              <a:rPr sz="2200" b="1" spc="-10" dirty="0">
                <a:latin typeface="Segoe UI"/>
                <a:cs typeface="Segoe UI"/>
              </a:rPr>
              <a:t>ANALYSIS</a:t>
            </a:r>
            <a:endParaRPr sz="2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Segoe UI"/>
                <a:cs typeface="Segoe UI"/>
              </a:rPr>
              <a:t>IMPORT</a:t>
            </a:r>
            <a:r>
              <a:rPr sz="1800" b="1" spc="-25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LIBRARIES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6731" y="1819401"/>
            <a:ext cx="554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[24]: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5955" y="3299586"/>
            <a:ext cx="20948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Segoe UI"/>
                <a:cs typeface="Segoe UI"/>
              </a:rPr>
              <a:t>IMPORT</a:t>
            </a:r>
            <a:r>
              <a:rPr sz="1800" b="1" spc="-25" dirty="0">
                <a:latin typeface="Segoe UI"/>
                <a:cs typeface="Segoe UI"/>
              </a:rPr>
              <a:t> </a:t>
            </a:r>
            <a:r>
              <a:rPr sz="1800" b="1" spc="-10" dirty="0">
                <a:latin typeface="Segoe UI"/>
                <a:cs typeface="Segoe UI"/>
              </a:rPr>
              <a:t>LIBRARIES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6731" y="3869562"/>
            <a:ext cx="554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[25]: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731" y="4255134"/>
            <a:ext cx="554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[26]: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5876" y="4588585"/>
            <a:ext cx="5802630" cy="34861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Out[26]:</a:t>
            </a:r>
            <a:endParaRPr sz="950">
              <a:latin typeface="Consolas"/>
              <a:cs typeface="Consolas"/>
            </a:endParaRPr>
          </a:p>
          <a:p>
            <a:pPr marL="18415">
              <a:lnSpc>
                <a:spcPct val="100000"/>
              </a:lnSpc>
              <a:spcBef>
                <a:spcPts val="135"/>
              </a:spcBef>
            </a:pPr>
            <a:r>
              <a:rPr sz="950" b="1" dirty="0">
                <a:latin typeface="Segoe UI"/>
                <a:cs typeface="Segoe UI"/>
              </a:rPr>
              <a:t>State</a:t>
            </a:r>
            <a:r>
              <a:rPr sz="950" b="1" spc="-40" dirty="0">
                <a:latin typeface="Segoe UI"/>
                <a:cs typeface="Segoe UI"/>
              </a:rPr>
              <a:t> </a:t>
            </a:r>
            <a:r>
              <a:rPr sz="950" b="1" dirty="0">
                <a:latin typeface="Segoe UI"/>
                <a:cs typeface="Segoe UI"/>
              </a:rPr>
              <a:t>City</a:t>
            </a:r>
            <a:r>
              <a:rPr sz="950" b="1" spc="-35" dirty="0">
                <a:latin typeface="Segoe UI"/>
                <a:cs typeface="Segoe UI"/>
              </a:rPr>
              <a:t> </a:t>
            </a:r>
            <a:r>
              <a:rPr sz="950" b="1" dirty="0">
                <a:latin typeface="Segoe UI"/>
                <a:cs typeface="Segoe UI"/>
              </a:rPr>
              <a:t>Order</a:t>
            </a:r>
            <a:r>
              <a:rPr sz="950" b="1" spc="-45" dirty="0">
                <a:latin typeface="Segoe UI"/>
                <a:cs typeface="Segoe UI"/>
              </a:rPr>
              <a:t> </a:t>
            </a:r>
            <a:r>
              <a:rPr sz="950" b="1" dirty="0">
                <a:latin typeface="Segoe UI"/>
                <a:cs typeface="Segoe UI"/>
              </a:rPr>
              <a:t>Date</a:t>
            </a:r>
            <a:r>
              <a:rPr sz="950" b="1" spc="-35" dirty="0">
                <a:latin typeface="Segoe UI"/>
                <a:cs typeface="Segoe UI"/>
              </a:rPr>
              <a:t> </a:t>
            </a:r>
            <a:r>
              <a:rPr sz="950" b="1" dirty="0">
                <a:latin typeface="Segoe UI"/>
                <a:cs typeface="Segoe UI"/>
              </a:rPr>
              <a:t>Restaurant</a:t>
            </a:r>
            <a:r>
              <a:rPr sz="950" b="1" spc="-40" dirty="0">
                <a:latin typeface="Segoe UI"/>
                <a:cs typeface="Segoe UI"/>
              </a:rPr>
              <a:t> </a:t>
            </a:r>
            <a:r>
              <a:rPr sz="950" b="1" dirty="0">
                <a:latin typeface="Segoe UI"/>
                <a:cs typeface="Segoe UI"/>
              </a:rPr>
              <a:t>Name</a:t>
            </a:r>
            <a:r>
              <a:rPr sz="950" b="1" spc="-35" dirty="0">
                <a:latin typeface="Segoe UI"/>
                <a:cs typeface="Segoe UI"/>
              </a:rPr>
              <a:t> </a:t>
            </a:r>
            <a:r>
              <a:rPr sz="950" b="1" dirty="0">
                <a:latin typeface="Segoe UI"/>
                <a:cs typeface="Segoe UI"/>
              </a:rPr>
              <a:t>Location</a:t>
            </a:r>
            <a:r>
              <a:rPr sz="950" b="1" spc="-35" dirty="0">
                <a:latin typeface="Segoe UI"/>
                <a:cs typeface="Segoe UI"/>
              </a:rPr>
              <a:t> </a:t>
            </a:r>
            <a:r>
              <a:rPr sz="950" b="1" dirty="0">
                <a:latin typeface="Segoe UI"/>
                <a:cs typeface="Segoe UI"/>
              </a:rPr>
              <a:t>Category</a:t>
            </a:r>
            <a:r>
              <a:rPr sz="950" b="1" spc="-35" dirty="0">
                <a:latin typeface="Segoe UI"/>
                <a:cs typeface="Segoe UI"/>
              </a:rPr>
              <a:t> </a:t>
            </a:r>
            <a:r>
              <a:rPr sz="950" b="1" dirty="0">
                <a:latin typeface="Segoe UI"/>
                <a:cs typeface="Segoe UI"/>
              </a:rPr>
              <a:t>Dish</a:t>
            </a:r>
            <a:r>
              <a:rPr sz="950" b="1" spc="-40" dirty="0">
                <a:latin typeface="Segoe UI"/>
                <a:cs typeface="Segoe UI"/>
              </a:rPr>
              <a:t> </a:t>
            </a:r>
            <a:r>
              <a:rPr sz="950" b="1" dirty="0">
                <a:latin typeface="Segoe UI"/>
                <a:cs typeface="Segoe UI"/>
              </a:rPr>
              <a:t>Name</a:t>
            </a:r>
            <a:r>
              <a:rPr sz="950" b="1" spc="-35" dirty="0">
                <a:latin typeface="Segoe UI"/>
                <a:cs typeface="Segoe UI"/>
              </a:rPr>
              <a:t> </a:t>
            </a:r>
            <a:r>
              <a:rPr sz="950" b="1" dirty="0">
                <a:latin typeface="Segoe UI"/>
                <a:cs typeface="Segoe UI"/>
              </a:rPr>
              <a:t>Price</a:t>
            </a:r>
            <a:r>
              <a:rPr sz="950" b="1" spc="-35" dirty="0">
                <a:latin typeface="Segoe UI"/>
                <a:cs typeface="Segoe UI"/>
              </a:rPr>
              <a:t> </a:t>
            </a:r>
            <a:r>
              <a:rPr sz="950" b="1" dirty="0">
                <a:latin typeface="Segoe UI"/>
                <a:cs typeface="Segoe UI"/>
              </a:rPr>
              <a:t>(INR)</a:t>
            </a:r>
            <a:r>
              <a:rPr sz="950" b="1" spc="-30" dirty="0">
                <a:latin typeface="Segoe UI"/>
                <a:cs typeface="Segoe UI"/>
              </a:rPr>
              <a:t> </a:t>
            </a:r>
            <a:r>
              <a:rPr sz="950" b="1" dirty="0">
                <a:latin typeface="Segoe UI"/>
                <a:cs typeface="Segoe UI"/>
              </a:rPr>
              <a:t>Rating</a:t>
            </a:r>
            <a:r>
              <a:rPr sz="950" b="1" spc="-35" dirty="0">
                <a:latin typeface="Segoe UI"/>
                <a:cs typeface="Segoe UI"/>
              </a:rPr>
              <a:t> </a:t>
            </a:r>
            <a:r>
              <a:rPr sz="950" b="1" dirty="0">
                <a:latin typeface="Segoe UI"/>
                <a:cs typeface="Segoe UI"/>
              </a:rPr>
              <a:t>Rating</a:t>
            </a:r>
            <a:r>
              <a:rPr sz="950" b="1" spc="-35" dirty="0">
                <a:latin typeface="Segoe UI"/>
                <a:cs typeface="Segoe UI"/>
              </a:rPr>
              <a:t> </a:t>
            </a:r>
            <a:r>
              <a:rPr sz="950" b="1" spc="-10" dirty="0">
                <a:latin typeface="Segoe UI"/>
                <a:cs typeface="Segoe UI"/>
              </a:rPr>
              <a:t>Count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9925" y="5253354"/>
            <a:ext cx="81216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3050" algn="l"/>
              </a:tabLst>
            </a:pPr>
            <a:r>
              <a:rPr sz="950" b="1" spc="-50" dirty="0">
                <a:latin typeface="Segoe UI"/>
                <a:cs typeface="Segoe UI"/>
              </a:rPr>
              <a:t>0</a:t>
            </a:r>
            <a:r>
              <a:rPr sz="950" b="1" dirty="0">
                <a:latin typeface="Segoe UI"/>
                <a:cs typeface="Segoe UI"/>
              </a:rPr>
              <a:t>	</a:t>
            </a:r>
            <a:r>
              <a:rPr sz="950" spc="-10" dirty="0">
                <a:latin typeface="Segoe UI"/>
                <a:cs typeface="Segoe UI"/>
              </a:rPr>
              <a:t>Karnataka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14929" y="5253354"/>
            <a:ext cx="56451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latin typeface="Segoe UI"/>
                <a:cs typeface="Segoe UI"/>
              </a:rPr>
              <a:t>Bengaluru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29329" y="5253354"/>
            <a:ext cx="64452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latin typeface="Segoe UI"/>
                <a:cs typeface="Segoe UI"/>
              </a:rPr>
              <a:t>2025-06-</a:t>
            </a:r>
            <a:r>
              <a:rPr sz="950" spc="-25" dirty="0">
                <a:latin typeface="Segoe UI"/>
                <a:cs typeface="Segoe UI"/>
              </a:rPr>
              <a:t>29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43729" y="5253354"/>
            <a:ext cx="144335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latin typeface="Segoe UI"/>
                <a:cs typeface="Segoe UI"/>
              </a:rPr>
              <a:t>Anand</a:t>
            </a:r>
            <a:r>
              <a:rPr sz="950" spc="-25" dirty="0">
                <a:latin typeface="Segoe UI"/>
                <a:cs typeface="Segoe UI"/>
              </a:rPr>
              <a:t> </a:t>
            </a:r>
            <a:r>
              <a:rPr sz="950" dirty="0">
                <a:latin typeface="Segoe UI"/>
                <a:cs typeface="Segoe UI"/>
              </a:rPr>
              <a:t>Sweets</a:t>
            </a:r>
            <a:r>
              <a:rPr sz="950" spc="-20" dirty="0">
                <a:latin typeface="Segoe UI"/>
                <a:cs typeface="Segoe UI"/>
              </a:rPr>
              <a:t> </a:t>
            </a:r>
            <a:r>
              <a:rPr sz="950" dirty="0">
                <a:latin typeface="Segoe UI"/>
                <a:cs typeface="Segoe UI"/>
              </a:rPr>
              <a:t>&amp;</a:t>
            </a:r>
            <a:r>
              <a:rPr sz="950" spc="-30" dirty="0">
                <a:latin typeface="Segoe UI"/>
                <a:cs typeface="Segoe UI"/>
              </a:rPr>
              <a:t> </a:t>
            </a:r>
            <a:r>
              <a:rPr sz="950" spc="-10" dirty="0">
                <a:latin typeface="Segoe UI"/>
                <a:cs typeface="Segoe UI"/>
              </a:rPr>
              <a:t>Savouries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2910" y="5253354"/>
            <a:ext cx="114300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latin typeface="Segoe UI"/>
                <a:cs typeface="Segoe UI"/>
              </a:rPr>
              <a:t>Rajarajeshwari</a:t>
            </a:r>
            <a:r>
              <a:rPr sz="950" spc="55" dirty="0">
                <a:latin typeface="Segoe UI"/>
                <a:cs typeface="Segoe UI"/>
              </a:rPr>
              <a:t> </a:t>
            </a:r>
            <a:r>
              <a:rPr sz="950" spc="-20" dirty="0">
                <a:latin typeface="Segoe UI"/>
                <a:cs typeface="Segoe UI"/>
              </a:rPr>
              <a:t>Nagar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44765" y="5253354"/>
            <a:ext cx="173482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950" spc="-10" dirty="0">
                <a:latin typeface="Segoe UI"/>
                <a:cs typeface="Segoe UI"/>
              </a:rPr>
              <a:t>Snack</a:t>
            </a:r>
            <a:r>
              <a:rPr sz="950" dirty="0">
                <a:latin typeface="Segoe UI"/>
                <a:cs typeface="Segoe UI"/>
              </a:rPr>
              <a:t>	Butter</a:t>
            </a:r>
            <a:r>
              <a:rPr sz="950" spc="5" dirty="0">
                <a:latin typeface="Segoe UI"/>
                <a:cs typeface="Segoe UI"/>
              </a:rPr>
              <a:t> </a:t>
            </a:r>
            <a:r>
              <a:rPr sz="950" spc="-10" dirty="0">
                <a:latin typeface="Segoe UI"/>
                <a:cs typeface="Segoe UI"/>
              </a:rPr>
              <a:t>Murukku-200gm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73565" y="5253354"/>
            <a:ext cx="63944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950" spc="-10" dirty="0">
                <a:latin typeface="Segoe UI"/>
                <a:cs typeface="Segoe UI"/>
              </a:rPr>
              <a:t>133.9</a:t>
            </a:r>
            <a:r>
              <a:rPr sz="950" dirty="0">
                <a:latin typeface="Segoe UI"/>
                <a:cs typeface="Segoe UI"/>
              </a:rPr>
              <a:t>	</a:t>
            </a:r>
            <a:r>
              <a:rPr sz="950" spc="-25" dirty="0">
                <a:latin typeface="Segoe UI"/>
                <a:cs typeface="Segoe UI"/>
              </a:rPr>
              <a:t>4.0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87965" y="5253354"/>
            <a:ext cx="9080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50" dirty="0">
                <a:latin typeface="Segoe UI"/>
                <a:cs typeface="Segoe UI"/>
              </a:rPr>
              <a:t>0</a:t>
            </a:r>
            <a:endParaRPr sz="950">
              <a:latin typeface="Segoe UI"/>
              <a:cs typeface="Segoe UI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400555" y="5505322"/>
          <a:ext cx="9657077" cy="10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310"/>
                <a:gridCol w="659130"/>
                <a:gridCol w="682625"/>
                <a:gridCol w="909320"/>
                <a:gridCol w="1789430"/>
                <a:gridCol w="916939"/>
                <a:gridCol w="1119505"/>
                <a:gridCol w="1365884"/>
                <a:gridCol w="698500"/>
                <a:gridCol w="715009"/>
                <a:gridCol w="606425"/>
              </a:tblGrid>
              <a:tr h="2863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b="1" spc="-50" dirty="0">
                          <a:latin typeface="Segoe UI"/>
                          <a:cs typeface="Segoe UI"/>
                        </a:rPr>
                        <a:t>1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96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Karnataka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96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Bengaluru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96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2025-04-</a:t>
                      </a:r>
                      <a:r>
                        <a:rPr sz="950" spc="-25" dirty="0">
                          <a:latin typeface="Segoe UI"/>
                          <a:cs typeface="Segoe UI"/>
                        </a:rPr>
                        <a:t>03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96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dirty="0">
                          <a:latin typeface="Segoe UI"/>
                          <a:cs typeface="Segoe UI"/>
                        </a:rPr>
                        <a:t>Srinidhi</a:t>
                      </a:r>
                      <a:r>
                        <a:rPr sz="95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latin typeface="Segoe UI"/>
                          <a:cs typeface="Segoe UI"/>
                        </a:rPr>
                        <a:t>Sagar</a:t>
                      </a:r>
                      <a:r>
                        <a:rPr sz="95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latin typeface="Segoe UI"/>
                          <a:cs typeface="Segoe UI"/>
                        </a:rPr>
                        <a:t>Deluxe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96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Kengeri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96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Recommended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96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98120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dirty="0">
                          <a:latin typeface="Segoe UI"/>
                          <a:cs typeface="Segoe UI"/>
                        </a:rPr>
                        <a:t>Badam</a:t>
                      </a:r>
                      <a:r>
                        <a:rPr sz="950" spc="-5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20" dirty="0">
                          <a:latin typeface="Segoe UI"/>
                          <a:cs typeface="Segoe UI"/>
                        </a:rPr>
                        <a:t>Milk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96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30175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20" dirty="0">
                          <a:latin typeface="Segoe UI"/>
                          <a:cs typeface="Segoe UI"/>
                        </a:rPr>
                        <a:t>52.0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96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25" dirty="0">
                          <a:latin typeface="Segoe UI"/>
                          <a:cs typeface="Segoe UI"/>
                        </a:rPr>
                        <a:t>4.5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96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950" spc="-25" dirty="0">
                          <a:latin typeface="Segoe UI"/>
                          <a:cs typeface="Segoe UI"/>
                        </a:rPr>
                        <a:t>25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960" marB="0">
                    <a:solidFill>
                      <a:srgbClr val="F5F5F5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b="1" spc="-50" dirty="0">
                          <a:latin typeface="Segoe UI"/>
                          <a:cs typeface="Segoe UI"/>
                        </a:rPr>
                        <a:t>2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Karnataka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Bengaluru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2025-01-</a:t>
                      </a:r>
                      <a:r>
                        <a:rPr sz="950" spc="-25" dirty="0">
                          <a:latin typeface="Segoe UI"/>
                          <a:cs typeface="Segoe UI"/>
                        </a:rPr>
                        <a:t>15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dirty="0">
                          <a:latin typeface="Segoe UI"/>
                          <a:cs typeface="Segoe UI"/>
                        </a:rPr>
                        <a:t>Srinidhi</a:t>
                      </a:r>
                      <a:r>
                        <a:rPr sz="95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latin typeface="Segoe UI"/>
                          <a:cs typeface="Segoe UI"/>
                        </a:rPr>
                        <a:t>Sagar</a:t>
                      </a:r>
                      <a:r>
                        <a:rPr sz="95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latin typeface="Segoe UI"/>
                          <a:cs typeface="Segoe UI"/>
                        </a:rPr>
                        <a:t>Deluxe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Kengeri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Recommended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205740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dirty="0">
                          <a:latin typeface="Segoe UI"/>
                          <a:cs typeface="Segoe UI"/>
                        </a:rPr>
                        <a:t>Chow</a:t>
                      </a:r>
                      <a:r>
                        <a:rPr sz="95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latin typeface="Segoe UI"/>
                          <a:cs typeface="Segoe UI"/>
                        </a:rPr>
                        <a:t>Chow</a:t>
                      </a:r>
                      <a:r>
                        <a:rPr sz="95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20" dirty="0">
                          <a:latin typeface="Segoe UI"/>
                          <a:cs typeface="Segoe UI"/>
                        </a:rPr>
                        <a:t>Bath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117.0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25" dirty="0">
                          <a:latin typeface="Segoe UI"/>
                          <a:cs typeface="Segoe UI"/>
                        </a:rPr>
                        <a:t>4.7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25" dirty="0">
                          <a:latin typeface="Segoe UI"/>
                          <a:cs typeface="Segoe UI"/>
                        </a:rPr>
                        <a:t>48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</a:tr>
              <a:tr h="2863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950" b="1" spc="-50" dirty="0">
                          <a:latin typeface="Segoe UI"/>
                          <a:cs typeface="Segoe UI"/>
                        </a:rPr>
                        <a:t>3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3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Karnataka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3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Bengaluru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3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2025-04-</a:t>
                      </a:r>
                      <a:r>
                        <a:rPr sz="950" spc="-25" dirty="0">
                          <a:latin typeface="Segoe UI"/>
                          <a:cs typeface="Segoe UI"/>
                        </a:rPr>
                        <a:t>17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3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950" dirty="0">
                          <a:latin typeface="Segoe UI"/>
                          <a:cs typeface="Segoe UI"/>
                        </a:rPr>
                        <a:t>Srinidhi</a:t>
                      </a:r>
                      <a:r>
                        <a:rPr sz="95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latin typeface="Segoe UI"/>
                          <a:cs typeface="Segoe UI"/>
                        </a:rPr>
                        <a:t>Sagar</a:t>
                      </a:r>
                      <a:r>
                        <a:rPr sz="95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latin typeface="Segoe UI"/>
                          <a:cs typeface="Segoe UI"/>
                        </a:rPr>
                        <a:t>Deluxe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3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Kengeri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3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Recommended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3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9621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950" dirty="0">
                          <a:latin typeface="Segoe UI"/>
                          <a:cs typeface="Segoe UI"/>
                        </a:rPr>
                        <a:t>Kesari</a:t>
                      </a:r>
                      <a:r>
                        <a:rPr sz="950" spc="-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20" dirty="0">
                          <a:latin typeface="Segoe UI"/>
                          <a:cs typeface="Segoe UI"/>
                        </a:rPr>
                        <a:t>Bath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3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3017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950" spc="-20" dirty="0">
                          <a:latin typeface="Segoe UI"/>
                          <a:cs typeface="Segoe UI"/>
                        </a:rPr>
                        <a:t>65.0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3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950" spc="-25" dirty="0">
                          <a:latin typeface="Segoe UI"/>
                          <a:cs typeface="Segoe UI"/>
                        </a:rPr>
                        <a:t>4.6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32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950" spc="-25" dirty="0">
                          <a:latin typeface="Segoe UI"/>
                          <a:cs typeface="Segoe UI"/>
                        </a:rPr>
                        <a:t>65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60325" marB="0">
                    <a:solidFill>
                      <a:srgbClr val="F5F5F5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b="1" spc="-50" dirty="0">
                          <a:latin typeface="Segoe UI"/>
                          <a:cs typeface="Segoe UI"/>
                        </a:rPr>
                        <a:t>4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Karnataka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Bengaluru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2025-03-</a:t>
                      </a:r>
                      <a:r>
                        <a:rPr sz="950" spc="-25" dirty="0">
                          <a:latin typeface="Segoe UI"/>
                          <a:cs typeface="Segoe UI"/>
                        </a:rPr>
                        <a:t>13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dirty="0">
                          <a:latin typeface="Segoe UI"/>
                          <a:cs typeface="Segoe UI"/>
                        </a:rPr>
                        <a:t>Srinidhi</a:t>
                      </a:r>
                      <a:r>
                        <a:rPr sz="95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latin typeface="Segoe UI"/>
                          <a:cs typeface="Segoe UI"/>
                        </a:rPr>
                        <a:t>Sagar</a:t>
                      </a:r>
                      <a:r>
                        <a:rPr sz="95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latin typeface="Segoe UI"/>
                          <a:cs typeface="Segoe UI"/>
                        </a:rPr>
                        <a:t>Deluxe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Kengeri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Recommended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195580" algn="r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dirty="0">
                          <a:latin typeface="Segoe UI"/>
                          <a:cs typeface="Segoe UI"/>
                        </a:rPr>
                        <a:t>Mix</a:t>
                      </a:r>
                      <a:r>
                        <a:rPr sz="95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latin typeface="Segoe UI"/>
                          <a:cs typeface="Segoe UI"/>
                        </a:rPr>
                        <a:t>Raitha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130.0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spc="-25" dirty="0">
                          <a:latin typeface="Segoe UI"/>
                          <a:cs typeface="Segoe UI"/>
                        </a:rPr>
                        <a:t>4.0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48895" algn="r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spc="-50" dirty="0">
                          <a:latin typeface="Segoe UI"/>
                          <a:cs typeface="Segoe UI"/>
                        </a:rPr>
                        <a:t>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776731" y="6625208"/>
            <a:ext cx="554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[27]: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6731" y="6974204"/>
            <a:ext cx="554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Out[27]: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5876" y="7135748"/>
            <a:ext cx="808863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  <a:tab pos="927100" algn="l"/>
                <a:tab pos="1841500" algn="l"/>
                <a:tab pos="3213100" algn="l"/>
                <a:tab pos="4127500" algn="l"/>
                <a:tab pos="5041900" algn="l"/>
                <a:tab pos="5956300" algn="l"/>
                <a:tab pos="6871334" algn="l"/>
              </a:tabLst>
            </a:pPr>
            <a:r>
              <a:rPr sz="950" b="1" spc="-10" dirty="0">
                <a:latin typeface="Segoe UI"/>
                <a:cs typeface="Segoe UI"/>
              </a:rPr>
              <a:t>State</a:t>
            </a:r>
            <a:r>
              <a:rPr sz="950" b="1" dirty="0">
                <a:latin typeface="Segoe UI"/>
                <a:cs typeface="Segoe UI"/>
              </a:rPr>
              <a:t>	</a:t>
            </a:r>
            <a:r>
              <a:rPr sz="950" b="1" spc="-20" dirty="0">
                <a:latin typeface="Segoe UI"/>
                <a:cs typeface="Segoe UI"/>
              </a:rPr>
              <a:t>City</a:t>
            </a:r>
            <a:r>
              <a:rPr sz="950" b="1" dirty="0">
                <a:latin typeface="Segoe UI"/>
                <a:cs typeface="Segoe UI"/>
              </a:rPr>
              <a:t>	Order</a:t>
            </a:r>
            <a:r>
              <a:rPr sz="950" b="1" spc="-40" dirty="0">
                <a:latin typeface="Segoe UI"/>
                <a:cs typeface="Segoe UI"/>
              </a:rPr>
              <a:t> </a:t>
            </a:r>
            <a:r>
              <a:rPr sz="950" b="1" spc="-20" dirty="0">
                <a:latin typeface="Segoe UI"/>
                <a:cs typeface="Segoe UI"/>
              </a:rPr>
              <a:t>Date</a:t>
            </a:r>
            <a:r>
              <a:rPr sz="950" b="1" dirty="0">
                <a:latin typeface="Segoe UI"/>
                <a:cs typeface="Segoe UI"/>
              </a:rPr>
              <a:t>	Restaurant</a:t>
            </a:r>
            <a:r>
              <a:rPr sz="950" b="1" spc="-50" dirty="0">
                <a:latin typeface="Segoe UI"/>
                <a:cs typeface="Segoe UI"/>
              </a:rPr>
              <a:t> </a:t>
            </a:r>
            <a:r>
              <a:rPr sz="950" b="1" spc="-20" dirty="0">
                <a:latin typeface="Segoe UI"/>
                <a:cs typeface="Segoe UI"/>
              </a:rPr>
              <a:t>Name</a:t>
            </a:r>
            <a:r>
              <a:rPr sz="950" b="1" dirty="0">
                <a:latin typeface="Segoe UI"/>
                <a:cs typeface="Segoe UI"/>
              </a:rPr>
              <a:t>	</a:t>
            </a:r>
            <a:r>
              <a:rPr sz="950" b="1" spc="-10" dirty="0">
                <a:latin typeface="Segoe UI"/>
                <a:cs typeface="Segoe UI"/>
              </a:rPr>
              <a:t>Location</a:t>
            </a:r>
            <a:r>
              <a:rPr sz="950" b="1" dirty="0">
                <a:latin typeface="Segoe UI"/>
                <a:cs typeface="Segoe UI"/>
              </a:rPr>
              <a:t>	</a:t>
            </a:r>
            <a:r>
              <a:rPr sz="950" b="1" spc="-10" dirty="0">
                <a:latin typeface="Segoe UI"/>
                <a:cs typeface="Segoe UI"/>
              </a:rPr>
              <a:t>Category</a:t>
            </a:r>
            <a:r>
              <a:rPr sz="950" b="1" dirty="0">
                <a:latin typeface="Segoe UI"/>
                <a:cs typeface="Segoe UI"/>
              </a:rPr>
              <a:t>	Dish</a:t>
            </a:r>
            <a:r>
              <a:rPr sz="950" b="1" spc="-30" dirty="0">
                <a:latin typeface="Segoe UI"/>
                <a:cs typeface="Segoe UI"/>
              </a:rPr>
              <a:t> </a:t>
            </a:r>
            <a:r>
              <a:rPr sz="950" b="1" spc="-20" dirty="0">
                <a:latin typeface="Segoe UI"/>
                <a:cs typeface="Segoe UI"/>
              </a:rPr>
              <a:t>Name</a:t>
            </a:r>
            <a:r>
              <a:rPr sz="950" b="1" dirty="0">
                <a:latin typeface="Segoe UI"/>
                <a:cs typeface="Segoe UI"/>
              </a:rPr>
              <a:t>	Price</a:t>
            </a:r>
            <a:r>
              <a:rPr sz="950" b="1" spc="-35" dirty="0">
                <a:latin typeface="Segoe UI"/>
                <a:cs typeface="Segoe UI"/>
              </a:rPr>
              <a:t> </a:t>
            </a:r>
            <a:r>
              <a:rPr sz="950" b="1" spc="-10" dirty="0">
                <a:latin typeface="Segoe UI"/>
                <a:cs typeface="Segoe UI"/>
              </a:rPr>
              <a:t>(INR)</a:t>
            </a:r>
            <a:r>
              <a:rPr sz="950" b="1" dirty="0">
                <a:latin typeface="Segoe UI"/>
                <a:cs typeface="Segoe UI"/>
              </a:rPr>
              <a:t>	Rating</a:t>
            </a:r>
            <a:r>
              <a:rPr sz="950" b="1" spc="325" dirty="0">
                <a:latin typeface="Segoe UI"/>
                <a:cs typeface="Segoe UI"/>
              </a:rPr>
              <a:t> </a:t>
            </a:r>
            <a:r>
              <a:rPr sz="950" b="1" dirty="0">
                <a:latin typeface="Segoe UI"/>
                <a:cs typeface="Segoe UI"/>
              </a:rPr>
              <a:t>Rating</a:t>
            </a:r>
            <a:r>
              <a:rPr sz="950" b="1" spc="-30" dirty="0">
                <a:latin typeface="Segoe UI"/>
                <a:cs typeface="Segoe UI"/>
              </a:rPr>
              <a:t> </a:t>
            </a:r>
            <a:r>
              <a:rPr sz="950" b="1" spc="-10" dirty="0">
                <a:latin typeface="Segoe UI"/>
                <a:cs typeface="Segoe UI"/>
              </a:rPr>
              <a:t>Count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39925" y="7618856"/>
            <a:ext cx="4406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10" dirty="0">
                <a:latin typeface="Segoe UI"/>
                <a:cs typeface="Segoe UI"/>
              </a:rPr>
              <a:t>197425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57729" y="7618856"/>
            <a:ext cx="37020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latin typeface="Segoe UI"/>
                <a:cs typeface="Segoe UI"/>
              </a:rPr>
              <a:t>Sikkim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14929" y="7618856"/>
            <a:ext cx="110172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latin typeface="Segoe UI"/>
                <a:cs typeface="Segoe UI"/>
              </a:rPr>
              <a:t>Gangtok2025-01-</a:t>
            </a:r>
            <a:r>
              <a:rPr sz="950" spc="-25" dirty="0">
                <a:latin typeface="Segoe UI"/>
                <a:cs typeface="Segoe UI"/>
              </a:rPr>
              <a:t>25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86529" y="7618856"/>
            <a:ext cx="32727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latin typeface="Segoe UI"/>
                <a:cs typeface="Segoe UI"/>
              </a:rPr>
              <a:t>Mama's</a:t>
            </a:r>
            <a:r>
              <a:rPr sz="950" spc="-30" dirty="0">
                <a:latin typeface="Segoe UI"/>
                <a:cs typeface="Segoe UI"/>
              </a:rPr>
              <a:t> </a:t>
            </a:r>
            <a:r>
              <a:rPr sz="950" dirty="0">
                <a:latin typeface="Segoe UI"/>
                <a:cs typeface="Segoe UI"/>
              </a:rPr>
              <a:t>Kitchen</a:t>
            </a:r>
            <a:r>
              <a:rPr sz="950" spc="260" dirty="0">
                <a:latin typeface="Segoe UI"/>
                <a:cs typeface="Segoe UI"/>
              </a:rPr>
              <a:t> </a:t>
            </a:r>
            <a:r>
              <a:rPr sz="950" dirty="0">
                <a:latin typeface="Segoe UI"/>
                <a:cs typeface="Segoe UI"/>
              </a:rPr>
              <a:t>GangtokMomos</a:t>
            </a:r>
            <a:r>
              <a:rPr sz="950" spc="125" dirty="0">
                <a:latin typeface="Segoe UI"/>
                <a:cs typeface="Segoe UI"/>
              </a:rPr>
              <a:t> </a:t>
            </a:r>
            <a:r>
              <a:rPr sz="950" dirty="0">
                <a:latin typeface="Segoe UI"/>
                <a:cs typeface="Segoe UI"/>
              </a:rPr>
              <a:t>Soya</a:t>
            </a:r>
            <a:r>
              <a:rPr sz="950" spc="-30" dirty="0">
                <a:latin typeface="Segoe UI"/>
                <a:cs typeface="Segoe UI"/>
              </a:rPr>
              <a:t> </a:t>
            </a:r>
            <a:r>
              <a:rPr sz="950" dirty="0">
                <a:latin typeface="Segoe UI"/>
                <a:cs typeface="Segoe UI"/>
              </a:rPr>
              <a:t>cheese</a:t>
            </a:r>
            <a:r>
              <a:rPr sz="950" spc="-35" dirty="0">
                <a:latin typeface="Segoe UI"/>
                <a:cs typeface="Segoe UI"/>
              </a:rPr>
              <a:t> </a:t>
            </a:r>
            <a:r>
              <a:rPr sz="950" dirty="0">
                <a:latin typeface="Segoe UI"/>
                <a:cs typeface="Segoe UI"/>
              </a:rPr>
              <a:t>chilli</a:t>
            </a:r>
            <a:r>
              <a:rPr sz="950" spc="-30" dirty="0">
                <a:latin typeface="Segoe UI"/>
                <a:cs typeface="Segoe UI"/>
              </a:rPr>
              <a:t> </a:t>
            </a:r>
            <a:r>
              <a:rPr sz="950" dirty="0">
                <a:latin typeface="Segoe UI"/>
                <a:cs typeface="Segoe UI"/>
              </a:rPr>
              <a:t>momo</a:t>
            </a:r>
            <a:r>
              <a:rPr sz="950" spc="-30" dirty="0">
                <a:latin typeface="Segoe UI"/>
                <a:cs typeface="Segoe UI"/>
              </a:rPr>
              <a:t> </a:t>
            </a:r>
            <a:r>
              <a:rPr sz="950" spc="-25" dirty="0">
                <a:latin typeface="Segoe UI"/>
                <a:cs typeface="Segoe UI"/>
              </a:rPr>
              <a:t>...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44765" y="7618856"/>
            <a:ext cx="63944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950" spc="-10" dirty="0">
                <a:latin typeface="Segoe UI"/>
                <a:cs typeface="Segoe UI"/>
              </a:rPr>
              <a:t>112.0</a:t>
            </a:r>
            <a:r>
              <a:rPr sz="950" dirty="0">
                <a:latin typeface="Segoe UI"/>
                <a:cs typeface="Segoe UI"/>
              </a:rPr>
              <a:t>	</a:t>
            </a:r>
            <a:r>
              <a:rPr sz="950" spc="-25" dirty="0">
                <a:latin typeface="Segoe UI"/>
                <a:cs typeface="Segoe UI"/>
              </a:rPr>
              <a:t>4.4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59165" y="7618856"/>
            <a:ext cx="9080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50" dirty="0">
                <a:latin typeface="Segoe UI"/>
                <a:cs typeface="Segoe UI"/>
              </a:rPr>
              <a:t>0</a:t>
            </a:r>
            <a:endParaRPr sz="950">
              <a:latin typeface="Segoe UI"/>
              <a:cs typeface="Segoe UI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1400555" y="7871205"/>
          <a:ext cx="8537572" cy="106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4830"/>
                <a:gridCol w="480059"/>
                <a:gridCol w="594360"/>
                <a:gridCol w="831850"/>
                <a:gridCol w="1071245"/>
                <a:gridCol w="671195"/>
                <a:gridCol w="718820"/>
                <a:gridCol w="1634489"/>
                <a:gridCol w="661670"/>
                <a:gridCol w="747395"/>
                <a:gridCol w="581659"/>
              </a:tblGrid>
              <a:tr h="2863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b="1" spc="-10" dirty="0">
                          <a:latin typeface="Segoe UI"/>
                          <a:cs typeface="Segoe UI"/>
                        </a:rPr>
                        <a:t>197426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Sikkim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Gangtok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2025-07-</a:t>
                      </a:r>
                      <a:r>
                        <a:rPr sz="950" spc="-25" dirty="0">
                          <a:latin typeface="Segoe UI"/>
                          <a:cs typeface="Segoe UI"/>
                        </a:rPr>
                        <a:t>02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dirty="0">
                          <a:latin typeface="Segoe UI"/>
                          <a:cs typeface="Segoe UI"/>
                        </a:rPr>
                        <a:t>Mama's</a:t>
                      </a:r>
                      <a:r>
                        <a:rPr sz="95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latin typeface="Segoe UI"/>
                          <a:cs typeface="Segoe UI"/>
                        </a:rPr>
                        <a:t>Kitchen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Gangtok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Momos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255270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dirty="0">
                          <a:latin typeface="Segoe UI"/>
                          <a:cs typeface="Segoe UI"/>
                        </a:rPr>
                        <a:t>Kurkure</a:t>
                      </a:r>
                      <a:r>
                        <a:rPr sz="95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latin typeface="Segoe UI"/>
                          <a:cs typeface="Segoe UI"/>
                        </a:rPr>
                        <a:t>momo</a:t>
                      </a:r>
                      <a:r>
                        <a:rPr sz="95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latin typeface="Segoe UI"/>
                          <a:cs typeface="Segoe UI"/>
                        </a:rPr>
                        <a:t>fried</a:t>
                      </a:r>
                      <a:r>
                        <a:rPr sz="950" spc="-25" dirty="0">
                          <a:latin typeface="Segoe UI"/>
                          <a:cs typeface="Segoe UI"/>
                        </a:rPr>
                        <a:t> ...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34620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140.0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25" dirty="0">
                          <a:latin typeface="Segoe UI"/>
                          <a:cs typeface="Segoe UI"/>
                        </a:rPr>
                        <a:t>4.4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50" dirty="0">
                          <a:latin typeface="Segoe UI"/>
                          <a:cs typeface="Segoe UI"/>
                        </a:rPr>
                        <a:t>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b="1" spc="-10" dirty="0">
                          <a:latin typeface="Segoe UI"/>
                          <a:cs typeface="Segoe UI"/>
                        </a:rPr>
                        <a:t>197427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Sikkim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Gangtok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2025-03-</a:t>
                      </a:r>
                      <a:r>
                        <a:rPr sz="950" spc="-25" dirty="0">
                          <a:latin typeface="Segoe UI"/>
                          <a:cs typeface="Segoe UI"/>
                        </a:rPr>
                        <a:t>25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dirty="0">
                          <a:latin typeface="Segoe UI"/>
                          <a:cs typeface="Segoe UI"/>
                        </a:rPr>
                        <a:t>Mama's</a:t>
                      </a:r>
                      <a:r>
                        <a:rPr sz="95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latin typeface="Segoe UI"/>
                          <a:cs typeface="Segoe UI"/>
                        </a:rPr>
                        <a:t>Kitchen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Gangtok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Momos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251460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dirty="0">
                          <a:latin typeface="Segoe UI"/>
                          <a:cs typeface="Segoe UI"/>
                        </a:rPr>
                        <a:t>Chilli</a:t>
                      </a:r>
                      <a:r>
                        <a:rPr sz="95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latin typeface="Segoe UI"/>
                          <a:cs typeface="Segoe UI"/>
                        </a:rPr>
                        <a:t>cheese</a:t>
                      </a:r>
                      <a:r>
                        <a:rPr sz="95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20" dirty="0">
                          <a:latin typeface="Segoe UI"/>
                          <a:cs typeface="Segoe UI"/>
                        </a:rPr>
                        <a:t>momo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134620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126.0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25" dirty="0">
                          <a:latin typeface="Segoe UI"/>
                          <a:cs typeface="Segoe UI"/>
                        </a:rPr>
                        <a:t>4.4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50" dirty="0">
                          <a:latin typeface="Segoe UI"/>
                          <a:cs typeface="Segoe UI"/>
                        </a:rPr>
                        <a:t>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</a:tr>
              <a:tr h="2863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b="1" spc="-10" dirty="0">
                          <a:latin typeface="Segoe UI"/>
                          <a:cs typeface="Segoe UI"/>
                        </a:rPr>
                        <a:t>197428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Sikkim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Gangtok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2025-03-</a:t>
                      </a:r>
                      <a:r>
                        <a:rPr sz="950" spc="-25" dirty="0">
                          <a:latin typeface="Segoe UI"/>
                          <a:cs typeface="Segoe UI"/>
                        </a:rPr>
                        <a:t>26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dirty="0">
                          <a:latin typeface="Segoe UI"/>
                          <a:cs typeface="Segoe UI"/>
                        </a:rPr>
                        <a:t>Mama's</a:t>
                      </a:r>
                      <a:r>
                        <a:rPr sz="95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latin typeface="Segoe UI"/>
                          <a:cs typeface="Segoe UI"/>
                        </a:rPr>
                        <a:t>Kitchen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Gangtok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Momos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236854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dirty="0">
                          <a:latin typeface="Segoe UI"/>
                          <a:cs typeface="Segoe UI"/>
                        </a:rPr>
                        <a:t>Veg</a:t>
                      </a:r>
                      <a:r>
                        <a:rPr sz="95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latin typeface="Segoe UI"/>
                          <a:cs typeface="Segoe UI"/>
                        </a:rPr>
                        <a:t>Momos</a:t>
                      </a:r>
                      <a:r>
                        <a:rPr sz="95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dirty="0">
                          <a:latin typeface="Segoe UI"/>
                          <a:cs typeface="Segoe UI"/>
                        </a:rPr>
                        <a:t>(8</a:t>
                      </a:r>
                      <a:r>
                        <a:rPr sz="950" spc="-25" dirty="0">
                          <a:latin typeface="Segoe UI"/>
                          <a:cs typeface="Segoe UI"/>
                        </a:rPr>
                        <a:t> Pc)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32715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20" dirty="0">
                          <a:latin typeface="Segoe UI"/>
                          <a:cs typeface="Segoe UI"/>
                        </a:rPr>
                        <a:t>85.0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25" dirty="0">
                          <a:latin typeface="Segoe UI"/>
                          <a:cs typeface="Segoe UI"/>
                        </a:rPr>
                        <a:t>4.4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950" spc="-50" dirty="0">
                          <a:latin typeface="Segoe UI"/>
                          <a:cs typeface="Segoe UI"/>
                        </a:rPr>
                        <a:t>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>
                    <a:solidFill>
                      <a:srgbClr val="F5F5F5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b="1" spc="-10" dirty="0">
                          <a:latin typeface="Segoe UI"/>
                          <a:cs typeface="Segoe UI"/>
                        </a:rPr>
                        <a:t>197429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Sikkim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Gangtok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59055" algn="ctr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2025-03-</a:t>
                      </a:r>
                      <a:r>
                        <a:rPr sz="950" spc="-25" dirty="0">
                          <a:latin typeface="Segoe UI"/>
                          <a:cs typeface="Segoe UI"/>
                        </a:rPr>
                        <a:t>27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dirty="0">
                          <a:latin typeface="Segoe UI"/>
                          <a:cs typeface="Segoe UI"/>
                        </a:rPr>
                        <a:t>Mama's</a:t>
                      </a:r>
                      <a:r>
                        <a:rPr sz="95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latin typeface="Segoe UI"/>
                          <a:cs typeface="Segoe UI"/>
                        </a:rPr>
                        <a:t>Kitchen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27940" algn="ctr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Gangtok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Momos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223520" algn="r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dirty="0">
                          <a:latin typeface="Segoe UI"/>
                          <a:cs typeface="Segoe UI"/>
                        </a:rPr>
                        <a:t>Soya</a:t>
                      </a:r>
                      <a:r>
                        <a:rPr sz="95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20" dirty="0">
                          <a:latin typeface="Segoe UI"/>
                          <a:cs typeface="Segoe UI"/>
                        </a:rPr>
                        <a:t>Momo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134620" algn="r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100.0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spc="-25" dirty="0">
                          <a:latin typeface="Segoe UI"/>
                          <a:cs typeface="Segoe UI"/>
                        </a:rPr>
                        <a:t>4.4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  <a:tc>
                  <a:txBody>
                    <a:bodyPr/>
                    <a:lstStyle/>
                    <a:p>
                      <a:pPr marR="58419" algn="r">
                        <a:lnSpc>
                          <a:spcPts val="1090"/>
                        </a:lnSpc>
                        <a:spcBef>
                          <a:spcPts val="465"/>
                        </a:spcBef>
                      </a:pPr>
                      <a:r>
                        <a:rPr sz="950" spc="-50" dirty="0">
                          <a:latin typeface="Segoe UI"/>
                          <a:cs typeface="Segoe UI"/>
                        </a:rPr>
                        <a:t>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59055" marB="0"/>
                </a:tc>
              </a:tr>
            </a:tbl>
          </a:graphicData>
        </a:graphic>
      </p:graphicFrame>
      <p:sp>
        <p:nvSpPr>
          <p:cNvPr id="28" name="object 28"/>
          <p:cNvSpPr txBox="1"/>
          <p:nvPr/>
        </p:nvSpPr>
        <p:spPr>
          <a:xfrm>
            <a:off x="1425955" y="9015221"/>
            <a:ext cx="8851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Segoe UI"/>
                <a:cs typeface="Segoe UI"/>
              </a:rPr>
              <a:t>Metadata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6731" y="9481515"/>
            <a:ext cx="554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[28]: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09700" y="1937257"/>
            <a:ext cx="13039725" cy="1231900"/>
          </a:xfrm>
          <a:prstGeom prst="rect">
            <a:avLst/>
          </a:prstGeom>
          <a:solidFill>
            <a:srgbClr val="F5F5F5"/>
          </a:solidFill>
          <a:ln w="9143">
            <a:solidFill>
              <a:srgbClr val="DFDFDF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610"/>
              </a:spcBef>
            </a:pPr>
            <a:r>
              <a:rPr sz="950" b="1" dirty="0">
                <a:solidFill>
                  <a:srgbClr val="008000"/>
                </a:solidFill>
                <a:latin typeface="Consolas"/>
                <a:cs typeface="Consolas"/>
              </a:rPr>
              <a:t>import</a:t>
            </a:r>
            <a:r>
              <a:rPr sz="950" b="1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pandas</a:t>
            </a:r>
            <a:r>
              <a:rPr sz="950" spc="-35" dirty="0">
                <a:solidFill>
                  <a:srgbClr val="202020"/>
                </a:solidFill>
                <a:latin typeface="Consolas"/>
                <a:cs typeface="Consolas"/>
              </a:rPr>
              <a:t> </a:t>
            </a:r>
            <a:r>
              <a:rPr sz="950" b="1" dirty="0">
                <a:solidFill>
                  <a:srgbClr val="008000"/>
                </a:solidFill>
                <a:latin typeface="Consolas"/>
                <a:cs typeface="Consolas"/>
              </a:rPr>
              <a:t>as</a:t>
            </a:r>
            <a:r>
              <a:rPr sz="950" b="1" spc="-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202020"/>
                </a:solidFill>
                <a:latin typeface="Consolas"/>
                <a:cs typeface="Consolas"/>
              </a:rPr>
              <a:t>pd</a:t>
            </a:r>
            <a:endParaRPr sz="950">
              <a:latin typeface="Consolas"/>
              <a:cs typeface="Consolas"/>
            </a:endParaRPr>
          </a:p>
          <a:p>
            <a:pPr marL="42545">
              <a:lnSpc>
                <a:spcPct val="100000"/>
              </a:lnSpc>
              <a:spcBef>
                <a:spcPts val="140"/>
              </a:spcBef>
            </a:pPr>
            <a:r>
              <a:rPr sz="950" b="1" dirty="0">
                <a:solidFill>
                  <a:srgbClr val="008000"/>
                </a:solidFill>
                <a:latin typeface="Consolas"/>
                <a:cs typeface="Consolas"/>
              </a:rPr>
              <a:t>import</a:t>
            </a:r>
            <a:r>
              <a:rPr sz="950" b="1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numpy</a:t>
            </a:r>
            <a:r>
              <a:rPr sz="950" spc="-30" dirty="0">
                <a:solidFill>
                  <a:srgbClr val="202020"/>
                </a:solidFill>
                <a:latin typeface="Consolas"/>
                <a:cs typeface="Consolas"/>
              </a:rPr>
              <a:t> </a:t>
            </a:r>
            <a:r>
              <a:rPr sz="950" b="1" dirty="0">
                <a:solidFill>
                  <a:srgbClr val="008000"/>
                </a:solidFill>
                <a:latin typeface="Consolas"/>
                <a:cs typeface="Consolas"/>
              </a:rPr>
              <a:t>as</a:t>
            </a:r>
            <a:r>
              <a:rPr sz="950" b="1" spc="-3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202020"/>
                </a:solidFill>
                <a:latin typeface="Consolas"/>
                <a:cs typeface="Consolas"/>
              </a:rPr>
              <a:t>np</a:t>
            </a:r>
            <a:endParaRPr sz="950">
              <a:latin typeface="Consolas"/>
              <a:cs typeface="Consolas"/>
            </a:endParaRPr>
          </a:p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950" b="1" dirty="0">
                <a:solidFill>
                  <a:srgbClr val="008000"/>
                </a:solidFill>
                <a:latin typeface="Consolas"/>
                <a:cs typeface="Consolas"/>
              </a:rPr>
              <a:t>import</a:t>
            </a:r>
            <a:r>
              <a:rPr sz="950" b="1" spc="-6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matplotlib.pyplot</a:t>
            </a:r>
            <a:r>
              <a:rPr sz="950" spc="-50" dirty="0">
                <a:solidFill>
                  <a:srgbClr val="202020"/>
                </a:solidFill>
                <a:latin typeface="Consolas"/>
                <a:cs typeface="Consolas"/>
              </a:rPr>
              <a:t> </a:t>
            </a:r>
            <a:r>
              <a:rPr sz="950" b="1" dirty="0">
                <a:solidFill>
                  <a:srgbClr val="008000"/>
                </a:solidFill>
                <a:latin typeface="Consolas"/>
                <a:cs typeface="Consolas"/>
              </a:rPr>
              <a:t>as</a:t>
            </a:r>
            <a:r>
              <a:rPr sz="950" b="1" spc="-6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202020"/>
                </a:solidFill>
                <a:latin typeface="Consolas"/>
                <a:cs typeface="Consolas"/>
              </a:rPr>
              <a:t>plt</a:t>
            </a:r>
            <a:endParaRPr sz="950">
              <a:latin typeface="Consolas"/>
              <a:cs typeface="Consolas"/>
            </a:endParaRPr>
          </a:p>
          <a:p>
            <a:pPr marL="42545" marR="11198860">
              <a:lnSpc>
                <a:spcPct val="112100"/>
              </a:lnSpc>
              <a:spcBef>
                <a:spcPts val="5"/>
              </a:spcBef>
            </a:pPr>
            <a:r>
              <a:rPr sz="950" b="1" dirty="0">
                <a:solidFill>
                  <a:srgbClr val="008000"/>
                </a:solidFill>
                <a:latin typeface="Consolas"/>
                <a:cs typeface="Consolas"/>
              </a:rPr>
              <a:t>import</a:t>
            </a:r>
            <a:r>
              <a:rPr sz="950" b="1" spc="-4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seaborn</a:t>
            </a:r>
            <a:r>
              <a:rPr sz="950" spc="-35" dirty="0">
                <a:solidFill>
                  <a:srgbClr val="202020"/>
                </a:solidFill>
                <a:latin typeface="Consolas"/>
                <a:cs typeface="Consolas"/>
              </a:rPr>
              <a:t> </a:t>
            </a:r>
            <a:r>
              <a:rPr sz="950" b="1" dirty="0">
                <a:solidFill>
                  <a:srgbClr val="008000"/>
                </a:solidFill>
                <a:latin typeface="Consolas"/>
                <a:cs typeface="Consolas"/>
              </a:rPr>
              <a:t>as</a:t>
            </a:r>
            <a:r>
              <a:rPr sz="950" b="1" spc="-3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202020"/>
                </a:solidFill>
                <a:latin typeface="Consolas"/>
                <a:cs typeface="Consolas"/>
              </a:rPr>
              <a:t>sns </a:t>
            </a:r>
            <a:r>
              <a:rPr sz="950" b="1" dirty="0">
                <a:solidFill>
                  <a:srgbClr val="008000"/>
                </a:solidFill>
                <a:latin typeface="Consolas"/>
                <a:cs typeface="Consolas"/>
              </a:rPr>
              <a:t>import</a:t>
            </a:r>
            <a:r>
              <a:rPr sz="950" b="1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plotly.express</a:t>
            </a:r>
            <a:r>
              <a:rPr sz="950" spc="-45" dirty="0">
                <a:solidFill>
                  <a:srgbClr val="202020"/>
                </a:solidFill>
                <a:latin typeface="Consolas"/>
                <a:cs typeface="Consolas"/>
              </a:rPr>
              <a:t> </a:t>
            </a:r>
            <a:r>
              <a:rPr sz="950" b="1" dirty="0">
                <a:solidFill>
                  <a:srgbClr val="008000"/>
                </a:solidFill>
                <a:latin typeface="Consolas"/>
                <a:cs typeface="Consolas"/>
              </a:rPr>
              <a:t>as</a:t>
            </a:r>
            <a:r>
              <a:rPr sz="950" b="1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202020"/>
                </a:solidFill>
                <a:latin typeface="Consolas"/>
                <a:cs typeface="Consolas"/>
              </a:rPr>
              <a:t>px </a:t>
            </a:r>
            <a:r>
              <a:rPr sz="950" b="1" dirty="0">
                <a:solidFill>
                  <a:srgbClr val="008000"/>
                </a:solidFill>
                <a:latin typeface="Consolas"/>
                <a:cs typeface="Consolas"/>
              </a:rPr>
              <a:t>import</a:t>
            </a:r>
            <a:r>
              <a:rPr sz="950" b="1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plotly.io</a:t>
            </a:r>
            <a:r>
              <a:rPr sz="950" spc="-30" dirty="0">
                <a:solidFill>
                  <a:srgbClr val="202020"/>
                </a:solidFill>
                <a:latin typeface="Consolas"/>
                <a:cs typeface="Consolas"/>
              </a:rPr>
              <a:t> </a:t>
            </a:r>
            <a:r>
              <a:rPr sz="950" b="1" dirty="0">
                <a:solidFill>
                  <a:srgbClr val="008000"/>
                </a:solidFill>
                <a:latin typeface="Consolas"/>
                <a:cs typeface="Consolas"/>
              </a:rPr>
              <a:t>as</a:t>
            </a:r>
            <a:r>
              <a:rPr sz="950" b="1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202020"/>
                </a:solidFill>
                <a:latin typeface="Consolas"/>
                <a:cs typeface="Consolas"/>
              </a:rPr>
              <a:t>pio</a:t>
            </a:r>
            <a:endParaRPr sz="950">
              <a:latin typeface="Consolas"/>
              <a:cs typeface="Consolas"/>
            </a:endParaRPr>
          </a:p>
          <a:p>
            <a:pPr marL="42545">
              <a:lnSpc>
                <a:spcPct val="100000"/>
              </a:lnSpc>
              <a:spcBef>
                <a:spcPts val="145"/>
              </a:spcBef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pio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renderers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default</a:t>
            </a:r>
            <a:r>
              <a:rPr sz="950" spc="25" dirty="0">
                <a:solidFill>
                  <a:srgbClr val="202020"/>
                </a:solidFill>
                <a:latin typeface="Consolas"/>
                <a:cs typeface="Consolas"/>
              </a:rPr>
              <a:t> 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b="1" spc="25" dirty="0">
                <a:solidFill>
                  <a:srgbClr val="AA21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"notebook"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09700" y="4031614"/>
            <a:ext cx="13039725" cy="256540"/>
          </a:xfrm>
          <a:prstGeom prst="rect">
            <a:avLst/>
          </a:prstGeom>
          <a:solidFill>
            <a:srgbClr val="F5F5F5"/>
          </a:solidFill>
          <a:ln w="9143">
            <a:solidFill>
              <a:srgbClr val="DFDFDF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610"/>
              </a:spcBef>
            </a:pP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spc="65" dirty="0">
                <a:solidFill>
                  <a:srgbClr val="202020"/>
                </a:solidFill>
                <a:latin typeface="Consolas"/>
                <a:cs typeface="Consolas"/>
              </a:rPr>
              <a:t> 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b="1" spc="65" dirty="0">
                <a:solidFill>
                  <a:srgbClr val="AA21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pd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read_excel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"C:/Users/L470/Desktop/project-swiggy/swiggy_data.xlsx"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09700" y="4403470"/>
            <a:ext cx="13039725" cy="254635"/>
          </a:xfrm>
          <a:prstGeom prst="rect">
            <a:avLst/>
          </a:prstGeom>
          <a:solidFill>
            <a:srgbClr val="F5F5F5"/>
          </a:solidFill>
          <a:ln w="9143">
            <a:solidFill>
              <a:srgbClr val="DFDFDF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610"/>
              </a:spcBef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head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09700" y="6814692"/>
            <a:ext cx="13039725" cy="256540"/>
          </a:xfrm>
          <a:prstGeom prst="rect">
            <a:avLst/>
          </a:prstGeom>
          <a:solidFill>
            <a:srgbClr val="F5F5F5"/>
          </a:solidFill>
          <a:ln w="9143">
            <a:solidFill>
              <a:srgbClr val="DFDFDF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610"/>
              </a:spcBef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tail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09700" y="9657283"/>
            <a:ext cx="13039725" cy="254635"/>
          </a:xfrm>
          <a:prstGeom prst="rect">
            <a:avLst/>
          </a:prstGeom>
          <a:solidFill>
            <a:srgbClr val="F5F5F5"/>
          </a:solidFill>
          <a:ln w="9143">
            <a:solidFill>
              <a:srgbClr val="DFDFDF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595"/>
              </a:spcBef>
            </a:pP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print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"No</a:t>
            </a:r>
            <a:r>
              <a:rPr sz="950" spc="-45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of</a:t>
            </a:r>
            <a:r>
              <a:rPr sz="950" spc="-4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rows:"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shape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0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400556" y="5154167"/>
            <a:ext cx="9657715" cy="9525"/>
          </a:xfrm>
          <a:custGeom>
            <a:avLst/>
            <a:gdLst/>
            <a:ahLst/>
            <a:cxnLst/>
            <a:rect l="l" t="t" r="r" b="b"/>
            <a:pathLst>
              <a:path w="9657715" h="9525">
                <a:moveTo>
                  <a:pt x="9657588" y="0"/>
                </a:moveTo>
                <a:lnTo>
                  <a:pt x="9657588" y="0"/>
                </a:lnTo>
                <a:lnTo>
                  <a:pt x="0" y="0"/>
                </a:lnTo>
                <a:lnTo>
                  <a:pt x="0" y="9144"/>
                </a:lnTo>
                <a:lnTo>
                  <a:pt x="9657588" y="9144"/>
                </a:lnTo>
                <a:lnTo>
                  <a:pt x="9657588" y="0"/>
                </a:lnTo>
                <a:close/>
              </a:path>
            </a:pathLst>
          </a:custGeom>
          <a:solidFill>
            <a:srgbClr val="BCBC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00556" y="7519415"/>
            <a:ext cx="8533130" cy="9525"/>
          </a:xfrm>
          <a:custGeom>
            <a:avLst/>
            <a:gdLst/>
            <a:ahLst/>
            <a:cxnLst/>
            <a:rect l="l" t="t" r="r" b="b"/>
            <a:pathLst>
              <a:path w="8533130" h="9525">
                <a:moveTo>
                  <a:pt x="8532876" y="0"/>
                </a:moveTo>
                <a:lnTo>
                  <a:pt x="8532876" y="0"/>
                </a:lnTo>
                <a:lnTo>
                  <a:pt x="0" y="0"/>
                </a:lnTo>
                <a:lnTo>
                  <a:pt x="0" y="9144"/>
                </a:lnTo>
                <a:lnTo>
                  <a:pt x="8532876" y="9144"/>
                </a:lnTo>
                <a:lnTo>
                  <a:pt x="8532876" y="0"/>
                </a:lnTo>
                <a:close/>
              </a:path>
            </a:pathLst>
          </a:custGeom>
          <a:solidFill>
            <a:srgbClr val="BCBC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file:///C:/Users/L470/Desktop/swiggy-</a:t>
            </a:r>
            <a:r>
              <a:rPr dirty="0"/>
              <a:t>project.html</a:t>
            </a:r>
            <a:r>
              <a:rPr spc="190" dirty="0"/>
              <a:t>  </a:t>
            </a:r>
            <a:fld id="{81D60167-4931-47E6-BA6A-407CBD079E47}" type="slidenum">
              <a:rPr spc="-25" dirty="0"/>
              <a:t>1</a:t>
            </a:fld>
            <a:r>
              <a:rPr spc="-25" dirty="0"/>
              <a:t>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5876" y="189992"/>
            <a:ext cx="17748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6/11/26,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12:59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PM</a:t>
            </a:r>
            <a:r>
              <a:rPr sz="800" spc="4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swiggy-project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800">
              <a:latin typeface="Arial"/>
              <a:cs typeface="Arial"/>
            </a:endParaRPr>
          </a:p>
          <a:p>
            <a:pPr marL="568960">
              <a:lnSpc>
                <a:spcPct val="100000"/>
              </a:lnSpc>
            </a:pPr>
            <a:r>
              <a:rPr sz="950" dirty="0">
                <a:latin typeface="Consolas"/>
                <a:cs typeface="Consolas"/>
              </a:rPr>
              <a:t>No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of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rows:</a:t>
            </a:r>
            <a:r>
              <a:rPr sz="950" spc="-2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197430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5876" y="805687"/>
            <a:ext cx="554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[29]: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1467" y="1142745"/>
            <a:ext cx="135064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latin typeface="Consolas"/>
                <a:cs typeface="Consolas"/>
              </a:rPr>
              <a:t>No</a:t>
            </a:r>
            <a:r>
              <a:rPr sz="950" spc="-3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of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fields: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197430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6731" y="1470406"/>
            <a:ext cx="554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[30]: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1467" y="1718512"/>
            <a:ext cx="2941955" cy="84391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950" dirty="0">
                <a:latin typeface="Consolas"/>
                <a:cs typeface="Consolas"/>
              </a:rPr>
              <a:t>&lt; class</a:t>
            </a:r>
            <a:r>
              <a:rPr sz="950" spc="1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'pandas.core.frame.DataFrame'</a:t>
            </a:r>
            <a:r>
              <a:rPr sz="950" spc="5" dirty="0">
                <a:latin typeface="Consolas"/>
                <a:cs typeface="Consolas"/>
              </a:rPr>
              <a:t> </a:t>
            </a:r>
            <a:r>
              <a:rPr sz="950" spc="-50" dirty="0">
                <a:latin typeface="Consolas"/>
                <a:cs typeface="Consolas"/>
              </a:rPr>
              <a:t>&gt;</a:t>
            </a:r>
            <a:endParaRPr sz="950">
              <a:latin typeface="Consolas"/>
              <a:cs typeface="Consolas"/>
            </a:endParaRPr>
          </a:p>
          <a:p>
            <a:pPr marL="19685" marR="6985" indent="-7620">
              <a:lnSpc>
                <a:spcPct val="100000"/>
              </a:lnSpc>
              <a:spcBef>
                <a:spcPts val="254"/>
              </a:spcBef>
            </a:pPr>
            <a:r>
              <a:rPr sz="950" dirty="0">
                <a:latin typeface="Consolas"/>
                <a:cs typeface="Consolas"/>
              </a:rPr>
              <a:t>RangeIndex: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197430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entries,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0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to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197429</a:t>
            </a:r>
            <a:r>
              <a:rPr sz="950" spc="-30" dirty="0"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Data </a:t>
            </a:r>
            <a:r>
              <a:rPr sz="950" dirty="0">
                <a:latin typeface="Consolas"/>
                <a:cs typeface="Consolas"/>
              </a:rPr>
              <a:t>columns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(total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10</a:t>
            </a:r>
            <a:r>
              <a:rPr sz="950" spc="-4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columns):</a:t>
            </a:r>
            <a:endParaRPr sz="950">
              <a:latin typeface="Consolas"/>
              <a:cs typeface="Consolas"/>
            </a:endParaRPr>
          </a:p>
          <a:p>
            <a:pPr marL="78105">
              <a:lnSpc>
                <a:spcPct val="100000"/>
              </a:lnSpc>
              <a:spcBef>
                <a:spcPts val="240"/>
              </a:spcBef>
              <a:tabLst>
                <a:tab pos="342900" algn="l"/>
                <a:tab pos="1469390" algn="l"/>
                <a:tab pos="2597785" algn="l"/>
              </a:tabLst>
            </a:pPr>
            <a:r>
              <a:rPr sz="950" spc="-50" dirty="0">
                <a:latin typeface="Consolas"/>
                <a:cs typeface="Consolas"/>
              </a:rPr>
              <a:t>#</a:t>
            </a:r>
            <a:r>
              <a:rPr sz="950" dirty="0">
                <a:latin typeface="Consolas"/>
                <a:cs typeface="Consolas"/>
              </a:rPr>
              <a:t>	</a:t>
            </a:r>
            <a:r>
              <a:rPr sz="950" spc="-10" dirty="0">
                <a:latin typeface="Consolas"/>
                <a:cs typeface="Consolas"/>
              </a:rPr>
              <a:t>Column</a:t>
            </a:r>
            <a:r>
              <a:rPr sz="950" dirty="0">
                <a:latin typeface="Consolas"/>
                <a:cs typeface="Consolas"/>
              </a:rPr>
              <a:t>	</a:t>
            </a:r>
            <a:r>
              <a:rPr sz="950" spc="-10" dirty="0">
                <a:latin typeface="Consolas"/>
                <a:cs typeface="Consolas"/>
              </a:rPr>
              <a:t>Non-</a:t>
            </a:r>
            <a:r>
              <a:rPr sz="950" dirty="0">
                <a:latin typeface="Consolas"/>
                <a:cs typeface="Consolas"/>
              </a:rPr>
              <a:t>Null</a:t>
            </a:r>
            <a:r>
              <a:rPr sz="950" spc="-5" dirty="0"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Count</a:t>
            </a:r>
            <a:r>
              <a:rPr sz="950" dirty="0">
                <a:latin typeface="Consolas"/>
                <a:cs typeface="Consolas"/>
              </a:rPr>
              <a:t>	</a:t>
            </a:r>
            <a:r>
              <a:rPr sz="950" spc="-20" dirty="0">
                <a:latin typeface="Consolas"/>
                <a:cs typeface="Consolas"/>
              </a:rPr>
              <a:t>Dtype</a:t>
            </a:r>
            <a:endParaRPr sz="950">
              <a:latin typeface="Consolas"/>
              <a:cs typeface="Consolas"/>
            </a:endParaRPr>
          </a:p>
          <a:p>
            <a:pPr marL="19685">
              <a:lnSpc>
                <a:spcPct val="100000"/>
              </a:lnSpc>
              <a:tabLst>
                <a:tab pos="815975" algn="l"/>
                <a:tab pos="1943735" algn="l"/>
              </a:tabLst>
            </a:pPr>
            <a:r>
              <a:rPr sz="950" spc="-50" dirty="0">
                <a:latin typeface="Consolas"/>
                <a:cs typeface="Consolas"/>
              </a:rPr>
              <a:t>-</a:t>
            </a:r>
            <a:r>
              <a:rPr sz="950" dirty="0">
                <a:latin typeface="Consolas"/>
                <a:cs typeface="Consolas"/>
              </a:rPr>
              <a:t>	</a:t>
            </a:r>
            <a:r>
              <a:rPr sz="950" spc="-25" dirty="0">
                <a:latin typeface="Consolas"/>
                <a:cs typeface="Consolas"/>
              </a:rPr>
              <a:t>-</a:t>
            </a:r>
            <a:r>
              <a:rPr sz="950" spc="-10" dirty="0">
                <a:latin typeface="Consolas"/>
                <a:cs typeface="Consolas"/>
              </a:rPr>
              <a:t>-</a:t>
            </a:r>
            <a:r>
              <a:rPr sz="950" spc="-25" dirty="0">
                <a:latin typeface="Consolas"/>
                <a:cs typeface="Consolas"/>
              </a:rPr>
              <a:t>-</a:t>
            </a:r>
            <a:r>
              <a:rPr sz="950" spc="-10" dirty="0">
                <a:latin typeface="Consolas"/>
                <a:cs typeface="Consolas"/>
              </a:rPr>
              <a:t>--</a:t>
            </a:r>
            <a:r>
              <a:rPr sz="950" spc="-25" dirty="0">
                <a:latin typeface="Consolas"/>
                <a:cs typeface="Consolas"/>
              </a:rPr>
              <a:t>-</a:t>
            </a:r>
            <a:r>
              <a:rPr sz="950" spc="-10" dirty="0">
                <a:latin typeface="Consolas"/>
                <a:cs typeface="Consolas"/>
              </a:rPr>
              <a:t>-</a:t>
            </a:r>
            <a:r>
              <a:rPr sz="950" spc="-25" dirty="0">
                <a:latin typeface="Consolas"/>
                <a:cs typeface="Consolas"/>
              </a:rPr>
              <a:t>-</a:t>
            </a:r>
            <a:r>
              <a:rPr sz="950" spc="-10" dirty="0">
                <a:latin typeface="Consolas"/>
                <a:cs typeface="Consolas"/>
              </a:rPr>
              <a:t>-</a:t>
            </a:r>
            <a:r>
              <a:rPr sz="950" spc="-25" dirty="0">
                <a:latin typeface="Consolas"/>
                <a:cs typeface="Consolas"/>
              </a:rPr>
              <a:t>-</a:t>
            </a:r>
            <a:r>
              <a:rPr sz="950" spc="-10" dirty="0">
                <a:latin typeface="Consolas"/>
                <a:cs typeface="Consolas"/>
              </a:rPr>
              <a:t>-</a:t>
            </a:r>
            <a:r>
              <a:rPr sz="950" spc="-25" dirty="0">
                <a:latin typeface="Consolas"/>
                <a:cs typeface="Consolas"/>
              </a:rPr>
              <a:t>-</a:t>
            </a:r>
            <a:r>
              <a:rPr sz="950" spc="-10" dirty="0">
                <a:latin typeface="Consolas"/>
                <a:cs typeface="Consolas"/>
              </a:rPr>
              <a:t>-</a:t>
            </a:r>
            <a:r>
              <a:rPr sz="950" spc="-50" dirty="0">
                <a:latin typeface="Consolas"/>
                <a:cs typeface="Consolas"/>
              </a:rPr>
              <a:t>-</a:t>
            </a:r>
            <a:r>
              <a:rPr sz="950" dirty="0">
                <a:latin typeface="Consolas"/>
                <a:cs typeface="Consolas"/>
              </a:rPr>
              <a:t>	</a:t>
            </a:r>
            <a:r>
              <a:rPr sz="950" spc="-25" dirty="0">
                <a:latin typeface="Consolas"/>
                <a:cs typeface="Consolas"/>
              </a:rPr>
              <a:t>-</a:t>
            </a:r>
            <a:r>
              <a:rPr sz="950" spc="-10" dirty="0">
                <a:latin typeface="Consolas"/>
                <a:cs typeface="Consolas"/>
              </a:rPr>
              <a:t>-</a:t>
            </a:r>
            <a:r>
              <a:rPr sz="950" spc="-25" dirty="0">
                <a:latin typeface="Consolas"/>
                <a:cs typeface="Consolas"/>
              </a:rPr>
              <a:t>-</a:t>
            </a:r>
            <a:r>
              <a:rPr sz="950" spc="-10" dirty="0">
                <a:latin typeface="Consolas"/>
                <a:cs typeface="Consolas"/>
              </a:rPr>
              <a:t>-</a:t>
            </a:r>
            <a:r>
              <a:rPr sz="950" spc="-50" dirty="0">
                <a:latin typeface="Consolas"/>
                <a:cs typeface="Consolas"/>
              </a:rPr>
              <a:t>-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7802" y="2247645"/>
            <a:ext cx="8128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1345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latin typeface="Consolas"/>
                <a:cs typeface="Consolas"/>
              </a:rPr>
              <a:t>-</a:t>
            </a:r>
            <a:r>
              <a:rPr sz="950" spc="-25" dirty="0">
                <a:latin typeface="Consolas"/>
                <a:cs typeface="Consolas"/>
              </a:rPr>
              <a:t>-</a:t>
            </a:r>
            <a:r>
              <a:rPr sz="950" spc="-50" dirty="0">
                <a:latin typeface="Consolas"/>
                <a:cs typeface="Consolas"/>
              </a:rPr>
              <a:t>-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277495" algn="l"/>
              </a:tabLst>
            </a:pPr>
            <a:r>
              <a:rPr sz="950" spc="-50" dirty="0">
                <a:latin typeface="Consolas"/>
                <a:cs typeface="Consolas"/>
              </a:rPr>
              <a:t>0</a:t>
            </a:r>
            <a:r>
              <a:rPr sz="950" dirty="0">
                <a:latin typeface="Consolas"/>
                <a:cs typeface="Consolas"/>
              </a:rPr>
              <a:t>	</a:t>
            </a:r>
            <a:r>
              <a:rPr sz="950" spc="-10" dirty="0">
                <a:latin typeface="Consolas"/>
                <a:cs typeface="Consolas"/>
              </a:rPr>
              <a:t>State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78678" y="2247645"/>
            <a:ext cx="3568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25" dirty="0">
                <a:latin typeface="Consolas"/>
                <a:cs typeface="Consolas"/>
              </a:rPr>
              <a:t>-</a:t>
            </a:r>
            <a:r>
              <a:rPr sz="950" spc="-10" dirty="0">
                <a:latin typeface="Consolas"/>
                <a:cs typeface="Consolas"/>
              </a:rPr>
              <a:t>-</a:t>
            </a:r>
            <a:r>
              <a:rPr sz="950" spc="-25" dirty="0">
                <a:latin typeface="Consolas"/>
                <a:cs typeface="Consolas"/>
              </a:rPr>
              <a:t>-</a:t>
            </a:r>
            <a:r>
              <a:rPr sz="950" spc="-10" dirty="0">
                <a:latin typeface="Consolas"/>
                <a:cs typeface="Consolas"/>
              </a:rPr>
              <a:t>-</a:t>
            </a:r>
            <a:r>
              <a:rPr sz="950" spc="-50" dirty="0">
                <a:latin typeface="Consolas"/>
                <a:cs typeface="Consolas"/>
              </a:rPr>
              <a:t>-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9088" y="2537206"/>
            <a:ext cx="155003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39825" algn="l"/>
              </a:tabLst>
            </a:pPr>
            <a:r>
              <a:rPr sz="950" dirty="0">
                <a:latin typeface="Consolas"/>
                <a:cs typeface="Consolas"/>
              </a:rPr>
              <a:t>197430</a:t>
            </a:r>
            <a:r>
              <a:rPr sz="950" spc="-4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non-</a:t>
            </a:r>
            <a:r>
              <a:rPr sz="950" spc="-20" dirty="0">
                <a:latin typeface="Consolas"/>
                <a:cs typeface="Consolas"/>
              </a:rPr>
              <a:t>null</a:t>
            </a:r>
            <a:r>
              <a:rPr sz="950" dirty="0">
                <a:latin typeface="Consolas"/>
                <a:cs typeface="Consolas"/>
              </a:rPr>
              <a:t>	</a:t>
            </a:r>
            <a:r>
              <a:rPr sz="950" spc="-10" dirty="0">
                <a:latin typeface="Consolas"/>
                <a:cs typeface="Consolas"/>
              </a:rPr>
              <a:t>object</a:t>
            </a:r>
            <a:endParaRPr sz="950">
              <a:latin typeface="Consolas"/>
              <a:cs typeface="Consolas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312417" y="2756146"/>
          <a:ext cx="11522710" cy="1348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554"/>
                <a:gridCol w="889000"/>
                <a:gridCol w="332740"/>
                <a:gridCol w="497204"/>
                <a:gridCol w="631189"/>
                <a:gridCol w="962660"/>
                <a:gridCol w="263525"/>
                <a:gridCol w="530860"/>
                <a:gridCol w="530225"/>
                <a:gridCol w="596900"/>
                <a:gridCol w="633729"/>
                <a:gridCol w="695960"/>
                <a:gridCol w="795654"/>
                <a:gridCol w="1258570"/>
                <a:gridCol w="796290"/>
                <a:gridCol w="662304"/>
                <a:gridCol w="662304"/>
                <a:gridCol w="462915"/>
              </a:tblGrid>
              <a:tr h="147955">
                <a:tc>
                  <a:txBody>
                    <a:bodyPr/>
                    <a:lstStyle/>
                    <a:p>
                      <a:pPr marL="31750">
                        <a:lnSpc>
                          <a:spcPts val="894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1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 marR="3175">
                        <a:lnSpc>
                          <a:spcPts val="894"/>
                        </a:lnSpc>
                      </a:pPr>
                      <a:r>
                        <a:rPr sz="950" spc="-20" dirty="0">
                          <a:latin typeface="Consolas"/>
                          <a:cs typeface="Consolas"/>
                        </a:rPr>
                        <a:t>City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894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197430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ts val="894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non-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null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894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object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ts val="111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2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 marR="3175">
                        <a:lnSpc>
                          <a:spcPts val="1115"/>
                        </a:lnSpc>
                      </a:pPr>
                      <a:r>
                        <a:rPr sz="950" dirty="0">
                          <a:latin typeface="Consolas"/>
                          <a:cs typeface="Consolas"/>
                        </a:rPr>
                        <a:t>Order</a:t>
                      </a:r>
                      <a:r>
                        <a:rPr sz="95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Date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115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197430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ts val="1115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non-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null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115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datetime64[ns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ts val="111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]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gridSpan="1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ts val="1110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3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 marR="3175">
                        <a:lnSpc>
                          <a:spcPts val="111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Restaurant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110"/>
                        </a:lnSpc>
                      </a:pPr>
                      <a:r>
                        <a:rPr sz="950" spc="-20" dirty="0">
                          <a:latin typeface="Consolas"/>
                          <a:cs typeface="Consolas"/>
                        </a:rPr>
                        <a:t>Name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11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197430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ts val="111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non-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null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11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object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ts val="1120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4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 marR="3175">
                        <a:lnSpc>
                          <a:spcPts val="112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Location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12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197430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ts val="112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non-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null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12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object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ts val="1110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5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 marR="3175">
                        <a:lnSpc>
                          <a:spcPts val="111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Category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11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197430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ts val="111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non-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null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11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object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ts val="1115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6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 marR="3175">
                        <a:lnSpc>
                          <a:spcPts val="1115"/>
                        </a:lnSpc>
                      </a:pPr>
                      <a:r>
                        <a:rPr sz="950" dirty="0">
                          <a:latin typeface="Consolas"/>
                          <a:cs typeface="Consolas"/>
                        </a:rPr>
                        <a:t>Dish</a:t>
                      </a:r>
                      <a:r>
                        <a:rPr sz="95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Name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115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197430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ts val="1115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non-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null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115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object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3990">
                <a:tc>
                  <a:txBody>
                    <a:bodyPr/>
                    <a:lstStyle/>
                    <a:p>
                      <a:pPr marL="31750">
                        <a:lnSpc>
                          <a:spcPts val="1110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7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ts val="1110"/>
                        </a:lnSpc>
                      </a:pPr>
                      <a:r>
                        <a:rPr sz="950" dirty="0">
                          <a:latin typeface="Consolas"/>
                          <a:cs typeface="Consolas"/>
                        </a:rPr>
                        <a:t>Price</a:t>
                      </a:r>
                      <a:r>
                        <a:rPr sz="95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(INR)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11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197430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ts val="111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non-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null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11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float64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46685">
                <a:tc>
                  <a:txBody>
                    <a:bodyPr/>
                    <a:lstStyle/>
                    <a:p>
                      <a:pPr marL="31750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8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130" marR="3175">
                        <a:lnSpc>
                          <a:spcPts val="106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Rating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ts val="106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197430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106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non-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null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06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float64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-50" dirty="0">
                          <a:latin typeface="Consolas"/>
                          <a:cs typeface="Consolas"/>
                        </a:rPr>
                        <a:t>9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06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Rating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06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Count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ts val="106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197430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060"/>
                        </a:lnSpc>
                      </a:pPr>
                      <a:r>
                        <a:rPr sz="950" dirty="0">
                          <a:latin typeface="Consolas"/>
                          <a:cs typeface="Consolas"/>
                        </a:rPr>
                        <a:t>non-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null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06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int64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7815">
                        <a:lnSpc>
                          <a:spcPts val="106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dtypes: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ts val="106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datetime64[ns](1),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06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float64(2),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06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int64(1),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06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object(6)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060"/>
                        </a:lnSpc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memory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331467" y="4099686"/>
            <a:ext cx="101917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latin typeface="Consolas"/>
                <a:cs typeface="Consolas"/>
              </a:rPr>
              <a:t>usage: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15.1+</a:t>
            </a:r>
            <a:r>
              <a:rPr sz="950" spc="-50" dirty="0">
                <a:latin typeface="Consolas"/>
                <a:cs typeface="Consolas"/>
              </a:rPr>
              <a:t> </a:t>
            </a:r>
            <a:r>
              <a:rPr sz="950" spc="-25" dirty="0">
                <a:latin typeface="Consolas"/>
                <a:cs typeface="Consolas"/>
              </a:rPr>
              <a:t>MB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25955" y="4520310"/>
            <a:ext cx="10153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Segoe UI"/>
                <a:cs typeface="Segoe UI"/>
              </a:rPr>
              <a:t>Data</a:t>
            </a:r>
            <a:r>
              <a:rPr sz="1500" b="1" spc="-60" dirty="0">
                <a:latin typeface="Segoe UI"/>
                <a:cs typeface="Segoe UI"/>
              </a:rPr>
              <a:t> </a:t>
            </a:r>
            <a:r>
              <a:rPr sz="1500" b="1" spc="-10" dirty="0">
                <a:latin typeface="Segoe UI"/>
                <a:cs typeface="Segoe UI"/>
              </a:rPr>
              <a:t>Types</a:t>
            </a:r>
            <a:endParaRPr sz="1500">
              <a:latin typeface="Segoe UI"/>
              <a:cs typeface="Segoe U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66826" y="5028811"/>
          <a:ext cx="5845175" cy="2732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1030"/>
                <a:gridCol w="3515360"/>
                <a:gridCol w="755650"/>
                <a:gridCol w="876935"/>
              </a:tblGrid>
              <a:tr h="2732405">
                <a:tc>
                  <a:txBody>
                    <a:bodyPr/>
                    <a:lstStyle/>
                    <a:p>
                      <a:pPr marL="31750">
                        <a:lnSpc>
                          <a:spcPts val="894"/>
                        </a:lnSpc>
                      </a:pPr>
                      <a:r>
                        <a:rPr sz="950" dirty="0">
                          <a:solidFill>
                            <a:srgbClr val="606060"/>
                          </a:solidFill>
                          <a:latin typeface="Consolas"/>
                          <a:cs typeface="Consolas"/>
                        </a:rPr>
                        <a:t>In</a:t>
                      </a:r>
                      <a:r>
                        <a:rPr sz="950" spc="-30" dirty="0">
                          <a:solidFill>
                            <a:srgbClr val="60606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solidFill>
                            <a:srgbClr val="606060"/>
                          </a:solidFill>
                          <a:latin typeface="Consolas"/>
                          <a:cs typeface="Consolas"/>
                        </a:rPr>
                        <a:t>[31]: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950" spc="-10" dirty="0">
                          <a:solidFill>
                            <a:srgbClr val="606060"/>
                          </a:solidFill>
                          <a:latin typeface="Consolas"/>
                          <a:cs typeface="Consolas"/>
                        </a:rPr>
                        <a:t>Out[31]: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606060"/>
                          </a:solidFill>
                          <a:latin typeface="Consolas"/>
                          <a:cs typeface="Consolas"/>
                        </a:rPr>
                        <a:t>In</a:t>
                      </a:r>
                      <a:r>
                        <a:rPr sz="950" spc="-30" dirty="0">
                          <a:solidFill>
                            <a:srgbClr val="60606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solidFill>
                            <a:srgbClr val="606060"/>
                          </a:solidFill>
                          <a:latin typeface="Consolas"/>
                          <a:cs typeface="Consolas"/>
                        </a:rPr>
                        <a:t>[32]: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1095"/>
                        </a:lnSpc>
                      </a:pPr>
                      <a:r>
                        <a:rPr sz="950" spc="-10" dirty="0">
                          <a:solidFill>
                            <a:srgbClr val="606060"/>
                          </a:solidFill>
                          <a:latin typeface="Consolas"/>
                          <a:cs typeface="Consolas"/>
                        </a:rPr>
                        <a:t>Out[32]: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ts val="894"/>
                        </a:lnSpc>
                      </a:pPr>
                      <a:r>
                        <a:rPr sz="950" spc="-10" dirty="0">
                          <a:solidFill>
                            <a:srgbClr val="202020"/>
                          </a:solidFill>
                          <a:latin typeface="Consolas"/>
                          <a:cs typeface="Consolas"/>
                        </a:rPr>
                        <a:t>df</a:t>
                      </a:r>
                      <a:r>
                        <a:rPr sz="950" b="1" spc="-10" dirty="0">
                          <a:solidFill>
                            <a:srgbClr val="AA21FF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950" spc="-10" dirty="0">
                          <a:solidFill>
                            <a:srgbClr val="202020"/>
                          </a:solidFill>
                          <a:latin typeface="Consolas"/>
                          <a:cs typeface="Consolas"/>
                        </a:rPr>
                        <a:t>dtypes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  <a:tabLst>
                          <a:tab pos="1870075" algn="l"/>
                        </a:tabLst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State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	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object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  <a:spcBef>
                          <a:spcPts val="220"/>
                        </a:spcBef>
                        <a:tabLst>
                          <a:tab pos="1868170" algn="l"/>
                        </a:tabLst>
                      </a:pPr>
                      <a:r>
                        <a:rPr sz="950" spc="-20" dirty="0">
                          <a:latin typeface="Consolas"/>
                          <a:cs typeface="Consolas"/>
                        </a:rPr>
                        <a:t>City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	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object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80010" marR="1242060">
                        <a:lnSpc>
                          <a:spcPts val="1370"/>
                        </a:lnSpc>
                        <a:spcBef>
                          <a:spcPts val="70"/>
                        </a:spcBef>
                        <a:tabLst>
                          <a:tab pos="1338580" algn="l"/>
                          <a:tab pos="1868170" algn="l"/>
                        </a:tabLst>
                      </a:pPr>
                      <a:r>
                        <a:rPr sz="950" dirty="0">
                          <a:latin typeface="Consolas"/>
                          <a:cs typeface="Consolas"/>
                        </a:rPr>
                        <a:t>Order</a:t>
                      </a:r>
                      <a:r>
                        <a:rPr sz="95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Date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	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datetime64[ns]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Restaurant</a:t>
                      </a:r>
                      <a:r>
                        <a:rPr sz="950" spc="-9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Name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		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object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  <a:spcBef>
                          <a:spcPts val="130"/>
                        </a:spcBef>
                        <a:tabLst>
                          <a:tab pos="1868170" algn="l"/>
                        </a:tabLst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Location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	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object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1868170" algn="l"/>
                        </a:tabLst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Category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	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object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1868170" algn="l"/>
                        </a:tabLst>
                      </a:pPr>
                      <a:r>
                        <a:rPr sz="950" dirty="0">
                          <a:latin typeface="Consolas"/>
                          <a:cs typeface="Consolas"/>
                        </a:rPr>
                        <a:t>Dish</a:t>
                      </a:r>
                      <a:r>
                        <a:rPr sz="95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Name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	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object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1801495" algn="l"/>
                        </a:tabLst>
                      </a:pPr>
                      <a:r>
                        <a:rPr sz="950" dirty="0">
                          <a:latin typeface="Consolas"/>
                          <a:cs typeface="Consolas"/>
                        </a:rPr>
                        <a:t>Price</a:t>
                      </a:r>
                      <a:r>
                        <a:rPr sz="950" spc="-45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(INR)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	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float64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80010">
                        <a:lnSpc>
                          <a:spcPct val="100000"/>
                        </a:lnSpc>
                        <a:spcBef>
                          <a:spcPts val="204"/>
                        </a:spcBef>
                        <a:tabLst>
                          <a:tab pos="1803400" algn="l"/>
                        </a:tabLst>
                      </a:pPr>
                      <a:r>
                        <a:rPr sz="950" spc="-10" dirty="0">
                          <a:latin typeface="Consolas"/>
                          <a:cs typeface="Consolas"/>
                        </a:rPr>
                        <a:t>Rating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	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float64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 marL="59690" marR="1261745">
                        <a:lnSpc>
                          <a:spcPts val="1630"/>
                        </a:lnSpc>
                        <a:spcBef>
                          <a:spcPts val="125"/>
                        </a:spcBef>
                        <a:tabLst>
                          <a:tab pos="1913889" algn="l"/>
                        </a:tabLst>
                      </a:pPr>
                      <a:r>
                        <a:rPr sz="950" dirty="0">
                          <a:latin typeface="Consolas"/>
                          <a:cs typeface="Consolas"/>
                        </a:rPr>
                        <a:t>Rating</a:t>
                      </a:r>
                      <a:r>
                        <a:rPr sz="950" spc="-6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latin typeface="Consolas"/>
                          <a:cs typeface="Consolas"/>
                        </a:rPr>
                        <a:t>Count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	</a:t>
                      </a:r>
                      <a:r>
                        <a:rPr sz="950" spc="-20" dirty="0">
                          <a:latin typeface="Consolas"/>
                          <a:cs typeface="Consolas"/>
                        </a:rPr>
                        <a:t>int64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dtype:</a:t>
                      </a:r>
                      <a:r>
                        <a:rPr sz="950" spc="-5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dirty="0">
                          <a:latin typeface="Consolas"/>
                          <a:cs typeface="Consolas"/>
                        </a:rPr>
                        <a:t>object</a:t>
                      </a:r>
                      <a:r>
                        <a:rPr sz="950" spc="-40" dirty="0"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solidFill>
                            <a:srgbClr val="202020"/>
                          </a:solidFill>
                          <a:latin typeface="Consolas"/>
                          <a:cs typeface="Consolas"/>
                        </a:rPr>
                        <a:t>df</a:t>
                      </a:r>
                      <a:r>
                        <a:rPr sz="950" b="1" spc="-10" dirty="0">
                          <a:solidFill>
                            <a:srgbClr val="AA21FF"/>
                          </a:solidFill>
                          <a:latin typeface="Consolas"/>
                          <a:cs typeface="Consolas"/>
                        </a:rPr>
                        <a:t>.</a:t>
                      </a:r>
                      <a:r>
                        <a:rPr sz="950" spc="-10" dirty="0">
                          <a:solidFill>
                            <a:srgbClr val="202020"/>
                          </a:solidFill>
                          <a:latin typeface="Consolas"/>
                          <a:cs typeface="Consolas"/>
                        </a:rPr>
                        <a:t>describe</a:t>
                      </a:r>
                      <a:r>
                        <a:rPr sz="950" spc="-10" dirty="0">
                          <a:solidFill>
                            <a:srgbClr val="0054AA"/>
                          </a:solidFill>
                          <a:latin typeface="Consolas"/>
                          <a:cs typeface="Consolas"/>
                        </a:rPr>
                        <a:t>()</a:t>
                      </a:r>
                      <a:endParaRPr sz="950">
                        <a:latin typeface="Consolas"/>
                        <a:cs typeface="Consola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703070">
                        <a:lnSpc>
                          <a:spcPct val="100000"/>
                        </a:lnSpc>
                        <a:tabLst>
                          <a:tab pos="2616835" algn="l"/>
                        </a:tabLst>
                      </a:pPr>
                      <a:r>
                        <a:rPr sz="950" b="1" dirty="0">
                          <a:latin typeface="Segoe UI"/>
                          <a:cs typeface="Segoe UI"/>
                        </a:rPr>
                        <a:t>Order</a:t>
                      </a:r>
                      <a:r>
                        <a:rPr sz="950" b="1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b="1" spc="-20" dirty="0">
                          <a:latin typeface="Segoe UI"/>
                          <a:cs typeface="Segoe UI"/>
                        </a:rPr>
                        <a:t>Date</a:t>
                      </a:r>
                      <a:r>
                        <a:rPr sz="950" b="1" dirty="0">
                          <a:latin typeface="Segoe UI"/>
                          <a:cs typeface="Segoe UI"/>
                        </a:rPr>
                        <a:t>	Price</a:t>
                      </a:r>
                      <a:r>
                        <a:rPr sz="950" b="1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b="1" spc="-20" dirty="0">
                          <a:latin typeface="Segoe UI"/>
                          <a:cs typeface="Segoe UI"/>
                        </a:rPr>
                        <a:t>(INR)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285115">
                        <a:lnSpc>
                          <a:spcPts val="1105"/>
                        </a:lnSpc>
                      </a:pPr>
                      <a:r>
                        <a:rPr sz="950" b="1" spc="-10" dirty="0">
                          <a:latin typeface="Segoe UI"/>
                          <a:cs typeface="Segoe UI"/>
                        </a:rPr>
                        <a:t>Rating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ts val="1105"/>
                        </a:lnSpc>
                      </a:pPr>
                      <a:r>
                        <a:rPr sz="950" b="1" dirty="0">
                          <a:latin typeface="Segoe UI"/>
                          <a:cs typeface="Segoe UI"/>
                        </a:rPr>
                        <a:t>Rating</a:t>
                      </a:r>
                      <a:r>
                        <a:rPr sz="950" b="1" spc="-5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b="1" spc="-10" dirty="0">
                          <a:latin typeface="Segoe UI"/>
                          <a:cs typeface="Segoe UI"/>
                        </a:rPr>
                        <a:t>Count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2960877" y="8052053"/>
            <a:ext cx="266065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950" b="1" spc="-10" dirty="0">
                <a:latin typeface="Segoe UI"/>
                <a:cs typeface="Segoe UI"/>
              </a:rPr>
              <a:t>count</a:t>
            </a:r>
            <a:r>
              <a:rPr sz="950" b="1" dirty="0">
                <a:latin typeface="Segoe UI"/>
                <a:cs typeface="Segoe UI"/>
              </a:rPr>
              <a:t>	</a:t>
            </a:r>
            <a:r>
              <a:rPr sz="950" dirty="0">
                <a:latin typeface="Segoe UI"/>
                <a:cs typeface="Segoe UI"/>
              </a:rPr>
              <a:t>197430</a:t>
            </a:r>
            <a:r>
              <a:rPr sz="950" spc="210" dirty="0">
                <a:latin typeface="Segoe UI"/>
                <a:cs typeface="Segoe UI"/>
              </a:rPr>
              <a:t> </a:t>
            </a:r>
            <a:r>
              <a:rPr sz="950" dirty="0">
                <a:latin typeface="Segoe UI"/>
                <a:cs typeface="Segoe UI"/>
              </a:rPr>
              <a:t>197430.000000</a:t>
            </a:r>
            <a:r>
              <a:rPr sz="950" spc="130" dirty="0">
                <a:latin typeface="Segoe UI"/>
                <a:cs typeface="Segoe UI"/>
              </a:rPr>
              <a:t>  </a:t>
            </a:r>
            <a:r>
              <a:rPr sz="950" spc="-10" dirty="0">
                <a:latin typeface="Segoe UI"/>
                <a:cs typeface="Segoe UI"/>
              </a:rPr>
              <a:t>197430.000000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04459" y="8052053"/>
            <a:ext cx="83185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latin typeface="Segoe UI"/>
                <a:cs typeface="Segoe UI"/>
              </a:rPr>
              <a:t>197430.000000</a:t>
            </a:r>
            <a:endParaRPr sz="950">
              <a:latin typeface="Segoe UI"/>
              <a:cs typeface="Segoe UI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400555" y="8296402"/>
          <a:ext cx="5258435" cy="1455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755"/>
                <a:gridCol w="1947545"/>
                <a:gridCol w="1043304"/>
                <a:gridCol w="925829"/>
                <a:gridCol w="815339"/>
              </a:tblGrid>
              <a:tr h="394335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b="1" spc="-20" dirty="0">
                          <a:latin typeface="Segoe UI"/>
                          <a:cs typeface="Segoe UI"/>
                        </a:rPr>
                        <a:t>mean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2025-05-</a:t>
                      </a:r>
                      <a:r>
                        <a:rPr sz="950" dirty="0">
                          <a:latin typeface="Segoe UI"/>
                          <a:cs typeface="Segoe UI"/>
                        </a:rPr>
                        <a:t>01</a:t>
                      </a:r>
                      <a:r>
                        <a:rPr sz="950" spc="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latin typeface="Segoe UI"/>
                          <a:cs typeface="Segoe UI"/>
                        </a:rPr>
                        <a:t>19:41:20.996808960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268.512920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4.341582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28.321805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b="1" spc="-25" dirty="0">
                          <a:latin typeface="Segoe UI"/>
                          <a:cs typeface="Segoe UI"/>
                        </a:rPr>
                        <a:t>min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 marR="123825" algn="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2025-01-</a:t>
                      </a:r>
                      <a:r>
                        <a:rPr sz="950" dirty="0">
                          <a:latin typeface="Segoe UI"/>
                          <a:cs typeface="Segoe UI"/>
                        </a:rPr>
                        <a:t>01</a:t>
                      </a:r>
                      <a:r>
                        <a:rPr sz="950" spc="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latin typeface="Segoe UI"/>
                          <a:cs typeface="Segoe UI"/>
                        </a:rPr>
                        <a:t>00:00:00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 marL="32512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0.950000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1.500000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0.000000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/>
                </a:tc>
              </a:tr>
              <a:tr h="394335">
                <a:tc>
                  <a:txBody>
                    <a:bodyPr/>
                    <a:lstStyle/>
                    <a:p>
                      <a:pPr marL="78105"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b="1" spc="-25" dirty="0">
                          <a:latin typeface="Segoe UI"/>
                          <a:cs typeface="Segoe UI"/>
                        </a:rPr>
                        <a:t>25%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23825" algn="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2025-03-</a:t>
                      </a:r>
                      <a:r>
                        <a:rPr sz="950" dirty="0">
                          <a:latin typeface="Segoe UI"/>
                          <a:cs typeface="Segoe UI"/>
                        </a:rPr>
                        <a:t>01</a:t>
                      </a:r>
                      <a:r>
                        <a:rPr sz="950" spc="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latin typeface="Segoe UI"/>
                          <a:cs typeface="Segoe UI"/>
                        </a:rPr>
                        <a:t>00:00:00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139.000000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4.300000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0.000000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>
                    <a:solidFill>
                      <a:srgbClr val="F5F5F5"/>
                    </a:solidFill>
                  </a:tcPr>
                </a:tc>
              </a:tr>
              <a:tr h="270510">
                <a:tc>
                  <a:txBody>
                    <a:bodyPr/>
                    <a:lstStyle/>
                    <a:p>
                      <a:pPr marL="78105" algn="ctr">
                        <a:lnSpc>
                          <a:spcPts val="1090"/>
                        </a:lnSpc>
                        <a:spcBef>
                          <a:spcPts val="944"/>
                        </a:spcBef>
                      </a:pPr>
                      <a:r>
                        <a:rPr sz="950" b="1" spc="-25" dirty="0">
                          <a:latin typeface="Segoe UI"/>
                          <a:cs typeface="Segoe UI"/>
                        </a:rPr>
                        <a:t>50%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20014" marB="0"/>
                </a:tc>
                <a:tc>
                  <a:txBody>
                    <a:bodyPr/>
                    <a:lstStyle/>
                    <a:p>
                      <a:pPr marR="123825" algn="r">
                        <a:lnSpc>
                          <a:spcPts val="1090"/>
                        </a:lnSpc>
                        <a:spcBef>
                          <a:spcPts val="944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2025-05-</a:t>
                      </a:r>
                      <a:r>
                        <a:rPr sz="950" dirty="0">
                          <a:latin typeface="Segoe UI"/>
                          <a:cs typeface="Segoe UI"/>
                        </a:rPr>
                        <a:t>02</a:t>
                      </a:r>
                      <a:r>
                        <a:rPr sz="950" spc="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latin typeface="Segoe UI"/>
                          <a:cs typeface="Segoe UI"/>
                        </a:rPr>
                        <a:t>00:00:00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20014" marB="0"/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ts val="1090"/>
                        </a:lnSpc>
                        <a:spcBef>
                          <a:spcPts val="944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229.000000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20014" marB="0"/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ts val="1090"/>
                        </a:lnSpc>
                        <a:spcBef>
                          <a:spcPts val="944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4.400000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20014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ts val="1090"/>
                        </a:lnSpc>
                        <a:spcBef>
                          <a:spcPts val="944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2.000000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20014" marB="0"/>
                </a:tc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1409700" y="760475"/>
            <a:ext cx="13039725" cy="256540"/>
          </a:xfrm>
          <a:prstGeom prst="rect">
            <a:avLst/>
          </a:prstGeom>
          <a:solidFill>
            <a:srgbClr val="F5F5F5"/>
          </a:solidFill>
          <a:ln w="9143">
            <a:solidFill>
              <a:srgbClr val="DFDFDF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10"/>
              </a:spcBef>
            </a:pP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print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"No</a:t>
            </a:r>
            <a:r>
              <a:rPr sz="950" spc="-45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of</a:t>
            </a:r>
            <a:r>
              <a:rPr sz="950" spc="-4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fields:"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shape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0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09700" y="1438909"/>
            <a:ext cx="13039725" cy="254635"/>
          </a:xfrm>
          <a:prstGeom prst="rect">
            <a:avLst/>
          </a:prstGeom>
          <a:solidFill>
            <a:srgbClr val="F5F5F5"/>
          </a:solidFill>
          <a:ln w="9143">
            <a:solidFill>
              <a:srgbClr val="DFDFDF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595"/>
              </a:spcBef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info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00556" y="7943088"/>
            <a:ext cx="5181600" cy="10795"/>
          </a:xfrm>
          <a:custGeom>
            <a:avLst/>
            <a:gdLst/>
            <a:ahLst/>
            <a:cxnLst/>
            <a:rect l="l" t="t" r="r" b="b"/>
            <a:pathLst>
              <a:path w="5181600" h="10795">
                <a:moveTo>
                  <a:pt x="5181600" y="0"/>
                </a:moveTo>
                <a:lnTo>
                  <a:pt x="5181600" y="0"/>
                </a:lnTo>
                <a:lnTo>
                  <a:pt x="0" y="0"/>
                </a:lnTo>
                <a:lnTo>
                  <a:pt x="0" y="10668"/>
                </a:lnTo>
                <a:lnTo>
                  <a:pt x="5181600" y="10668"/>
                </a:lnTo>
                <a:lnTo>
                  <a:pt x="5181600" y="0"/>
                </a:lnTo>
                <a:close/>
              </a:path>
            </a:pathLst>
          </a:custGeom>
          <a:solidFill>
            <a:srgbClr val="BCBC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file:///C:/Users/L470/Desktop/swiggy-</a:t>
            </a:r>
            <a:r>
              <a:rPr dirty="0"/>
              <a:t>project.html</a:t>
            </a:r>
            <a:r>
              <a:rPr spc="190" dirty="0"/>
              <a:t>  </a:t>
            </a:r>
            <a:fld id="{81D60167-4931-47E6-BA6A-407CBD079E47}" type="slidenum">
              <a:rPr spc="-25" dirty="0"/>
              <a:t>2</a:t>
            </a:fld>
            <a:r>
              <a:rPr spc="-25" dirty="0"/>
              <a:t>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file:///C:/Users/L470/Desktop/swiggy-</a:t>
            </a:r>
            <a:r>
              <a:rPr dirty="0"/>
              <a:t>project.html</a:t>
            </a:r>
            <a:r>
              <a:rPr spc="190" dirty="0"/>
              <a:t>  </a:t>
            </a:r>
            <a:fld id="{81D60167-4931-47E6-BA6A-407CBD079E47}" type="slidenum">
              <a:rPr spc="-25" dirty="0"/>
              <a:t>3</a:t>
            </a:fld>
            <a:r>
              <a:rPr spc="-25" dirty="0"/>
              <a:t>/9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85876" y="189992"/>
            <a:ext cx="15887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6/11/26,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12:59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PM</a:t>
            </a:r>
            <a:r>
              <a:rPr sz="800" spc="4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swiggy-project</a:t>
            </a:r>
            <a:endParaRPr sz="8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00555" y="525779"/>
          <a:ext cx="5258435" cy="1184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685"/>
                <a:gridCol w="1602105"/>
                <a:gridCol w="1043305"/>
                <a:gridCol w="908685"/>
                <a:gridCol w="846455"/>
              </a:tblGrid>
              <a:tr h="394335"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950" b="1" spc="-25" dirty="0">
                          <a:latin typeface="Segoe UI"/>
                          <a:cs typeface="Segoe UI"/>
                        </a:rPr>
                        <a:t>75%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74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2025-07-</a:t>
                      </a:r>
                      <a:r>
                        <a:rPr sz="950" dirty="0">
                          <a:latin typeface="Segoe UI"/>
                          <a:cs typeface="Segoe UI"/>
                        </a:rPr>
                        <a:t>01</a:t>
                      </a:r>
                      <a:r>
                        <a:rPr sz="950" spc="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latin typeface="Segoe UI"/>
                          <a:cs typeface="Segoe UI"/>
                        </a:rPr>
                        <a:t>00:00:00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74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329.000000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74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74930" algn="ct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4.500000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74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15.000000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745" marB="0"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950" b="1" spc="-25" dirty="0">
                          <a:latin typeface="Segoe UI"/>
                          <a:cs typeface="Segoe UI"/>
                        </a:rPr>
                        <a:t>max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745" marB="0"/>
                </a:tc>
                <a:tc>
                  <a:txBody>
                    <a:bodyPr/>
                    <a:lstStyle/>
                    <a:p>
                      <a:pPr marR="107950" algn="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2025-08-</a:t>
                      </a:r>
                      <a:r>
                        <a:rPr sz="950" dirty="0">
                          <a:latin typeface="Segoe UI"/>
                          <a:cs typeface="Segoe UI"/>
                        </a:rPr>
                        <a:t>31</a:t>
                      </a:r>
                      <a:r>
                        <a:rPr sz="950" spc="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950" spc="-10" dirty="0">
                          <a:latin typeface="Segoe UI"/>
                          <a:cs typeface="Segoe UI"/>
                        </a:rPr>
                        <a:t>00:00:00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745" marB="0"/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8000.000000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745" marB="0"/>
                </a:tc>
                <a:tc>
                  <a:txBody>
                    <a:bodyPr/>
                    <a:lstStyle/>
                    <a:p>
                      <a:pPr marL="74930" algn="ct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5.000000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745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999.000000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745" marB="0"/>
                </a:tc>
              </a:tr>
              <a:tr h="394335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b="1" spc="-25" dirty="0">
                          <a:latin typeface="Segoe UI"/>
                          <a:cs typeface="Segoe UI"/>
                        </a:rPr>
                        <a:t>std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109220" algn="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spc="-25" dirty="0">
                          <a:latin typeface="Segoe UI"/>
                          <a:cs typeface="Segoe UI"/>
                        </a:rPr>
                        <a:t>NaN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219.338363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74930"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0.422585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87.542593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110" marB="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425955" y="1680717"/>
            <a:ext cx="986155" cy="54673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500" b="1" spc="-10" dirty="0">
                <a:latin typeface="Segoe UI"/>
                <a:cs typeface="Segoe UI"/>
              </a:rPr>
              <a:t>KPI'S</a:t>
            </a:r>
            <a:endParaRPr sz="15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500" b="1" dirty="0">
                <a:latin typeface="Segoe UI"/>
                <a:cs typeface="Segoe UI"/>
              </a:rPr>
              <a:t>Total</a:t>
            </a:r>
            <a:r>
              <a:rPr sz="1500" b="1" spc="-50" dirty="0">
                <a:latin typeface="Segoe UI"/>
                <a:cs typeface="Segoe UI"/>
              </a:rPr>
              <a:t> </a:t>
            </a:r>
            <a:r>
              <a:rPr sz="1500" b="1" spc="-10" dirty="0">
                <a:latin typeface="Segoe UI"/>
                <a:cs typeface="Segoe UI"/>
              </a:rPr>
              <a:t>Sales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6731" y="2438145"/>
            <a:ext cx="554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[33]: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2136" y="2880106"/>
            <a:ext cx="201295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latin typeface="Consolas"/>
                <a:cs typeface="Consolas"/>
              </a:rPr>
              <a:t>Total_Sales</a:t>
            </a:r>
            <a:r>
              <a:rPr sz="950" spc="-65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(INR):</a:t>
            </a:r>
            <a:r>
              <a:rPr sz="950" spc="-6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53012505.77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25955" y="3281298"/>
            <a:ext cx="14058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Segoe UI"/>
                <a:cs typeface="Segoe UI"/>
              </a:rPr>
              <a:t>Average</a:t>
            </a:r>
            <a:r>
              <a:rPr sz="1500" b="1" spc="-45" dirty="0">
                <a:latin typeface="Segoe UI"/>
                <a:cs typeface="Segoe UI"/>
              </a:rPr>
              <a:t> </a:t>
            </a:r>
            <a:r>
              <a:rPr sz="1500" b="1" spc="-10" dirty="0">
                <a:latin typeface="Segoe UI"/>
                <a:cs typeface="Segoe UI"/>
              </a:rPr>
              <a:t>Rating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6731" y="3746119"/>
            <a:ext cx="554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[34]: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1467" y="4188078"/>
            <a:ext cx="135064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latin typeface="Consolas"/>
                <a:cs typeface="Consolas"/>
              </a:rPr>
              <a:t>Average</a:t>
            </a:r>
            <a:r>
              <a:rPr sz="950" spc="-60" dirty="0">
                <a:latin typeface="Consolas"/>
                <a:cs typeface="Consolas"/>
              </a:rPr>
              <a:t> </a:t>
            </a:r>
            <a:r>
              <a:rPr sz="950" dirty="0">
                <a:latin typeface="Consolas"/>
                <a:cs typeface="Consolas"/>
              </a:rPr>
              <a:t>Rating:</a:t>
            </a:r>
            <a:r>
              <a:rPr sz="950" spc="-55" dirty="0">
                <a:latin typeface="Consolas"/>
                <a:cs typeface="Consolas"/>
              </a:rPr>
              <a:t> </a:t>
            </a:r>
            <a:r>
              <a:rPr sz="950" spc="-20" dirty="0">
                <a:latin typeface="Consolas"/>
                <a:cs typeface="Consolas"/>
              </a:rPr>
              <a:t>4.34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25955" y="4596510"/>
            <a:ext cx="19735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Segoe UI"/>
                <a:cs typeface="Segoe UI"/>
              </a:rPr>
              <a:t>Average</a:t>
            </a:r>
            <a:r>
              <a:rPr sz="1500" b="1" spc="-45" dirty="0">
                <a:latin typeface="Segoe UI"/>
                <a:cs typeface="Segoe UI"/>
              </a:rPr>
              <a:t> </a:t>
            </a:r>
            <a:r>
              <a:rPr sz="1500" b="1" dirty="0">
                <a:latin typeface="Segoe UI"/>
                <a:cs typeface="Segoe UI"/>
              </a:rPr>
              <a:t>Order</a:t>
            </a:r>
            <a:r>
              <a:rPr sz="1500" b="1" spc="-40" dirty="0">
                <a:latin typeface="Segoe UI"/>
                <a:cs typeface="Segoe UI"/>
              </a:rPr>
              <a:t> </a:t>
            </a:r>
            <a:r>
              <a:rPr sz="1500" b="1" spc="-10" dirty="0">
                <a:latin typeface="Segoe UI"/>
                <a:cs typeface="Segoe UI"/>
              </a:rPr>
              <a:t>Values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6731" y="5067426"/>
            <a:ext cx="554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[35]: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42136" y="5508116"/>
            <a:ext cx="214566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10" dirty="0">
                <a:latin typeface="Consolas"/>
                <a:cs typeface="Consolas"/>
              </a:rPr>
              <a:t>Average_order_value(INR):</a:t>
            </a:r>
            <a:r>
              <a:rPr sz="950" spc="5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268.51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25955" y="5910452"/>
            <a:ext cx="12909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Segoe UI"/>
                <a:cs typeface="Segoe UI"/>
              </a:rPr>
              <a:t>Ratings</a:t>
            </a:r>
            <a:r>
              <a:rPr sz="1500" b="1" spc="-60" dirty="0">
                <a:latin typeface="Segoe UI"/>
                <a:cs typeface="Segoe UI"/>
              </a:rPr>
              <a:t> </a:t>
            </a:r>
            <a:r>
              <a:rPr sz="1500" b="1" spc="-20" dirty="0">
                <a:latin typeface="Segoe UI"/>
                <a:cs typeface="Segoe UI"/>
              </a:rPr>
              <a:t>Count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6731" y="6375272"/>
            <a:ext cx="554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[36]: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31467" y="6817232"/>
            <a:ext cx="148336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latin typeface="Consolas"/>
                <a:cs typeface="Consolas"/>
              </a:rPr>
              <a:t>Ratings_Count:</a:t>
            </a:r>
            <a:r>
              <a:rPr sz="950" spc="-120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5591574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25955" y="7225664"/>
            <a:ext cx="11379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Segoe UI"/>
                <a:cs typeface="Segoe UI"/>
              </a:rPr>
              <a:t>Total</a:t>
            </a:r>
            <a:r>
              <a:rPr sz="1500" b="1" spc="-50" dirty="0">
                <a:latin typeface="Segoe UI"/>
                <a:cs typeface="Segoe UI"/>
              </a:rPr>
              <a:t> </a:t>
            </a:r>
            <a:r>
              <a:rPr sz="1500" b="1" spc="-10" dirty="0">
                <a:latin typeface="Segoe UI"/>
                <a:cs typeface="Segoe UI"/>
              </a:rPr>
              <a:t>Orders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6731" y="7692008"/>
            <a:ext cx="554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[37]: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31467" y="8132826"/>
            <a:ext cx="135064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latin typeface="Consolas"/>
                <a:cs typeface="Consolas"/>
              </a:rPr>
              <a:t>Total_Orders:</a:t>
            </a:r>
            <a:r>
              <a:rPr sz="950" spc="-105" dirty="0">
                <a:latin typeface="Consolas"/>
                <a:cs typeface="Consolas"/>
              </a:rPr>
              <a:t> </a:t>
            </a:r>
            <a:r>
              <a:rPr sz="950" spc="-10" dirty="0">
                <a:latin typeface="Consolas"/>
                <a:cs typeface="Consolas"/>
              </a:rPr>
              <a:t>197430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25955" y="8612885"/>
            <a:ext cx="2207895" cy="934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Segoe UI"/>
                <a:cs typeface="Segoe UI"/>
              </a:rPr>
              <a:t>CHARTS</a:t>
            </a:r>
            <a:r>
              <a:rPr sz="2200" b="1" spc="-90" dirty="0">
                <a:latin typeface="Segoe UI"/>
                <a:cs typeface="Segoe UI"/>
              </a:rPr>
              <a:t> </a:t>
            </a:r>
            <a:r>
              <a:rPr sz="2200" b="1" spc="-10" dirty="0">
                <a:latin typeface="Segoe UI"/>
                <a:cs typeface="Segoe UI"/>
              </a:rPr>
              <a:t>DESIGN</a:t>
            </a:r>
            <a:endParaRPr sz="2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715"/>
              </a:spcBef>
            </a:pPr>
            <a:r>
              <a:rPr sz="1500" b="1" dirty="0">
                <a:latin typeface="Segoe UI"/>
                <a:cs typeface="Segoe UI"/>
              </a:rPr>
              <a:t>Monthly</a:t>
            </a:r>
            <a:r>
              <a:rPr sz="1500" b="1" spc="-65" dirty="0">
                <a:latin typeface="Segoe UI"/>
                <a:cs typeface="Segoe UI"/>
              </a:rPr>
              <a:t> </a:t>
            </a:r>
            <a:r>
              <a:rPr sz="1500" b="1" dirty="0">
                <a:latin typeface="Segoe UI"/>
                <a:cs typeface="Segoe UI"/>
              </a:rPr>
              <a:t>Sales</a:t>
            </a:r>
            <a:r>
              <a:rPr sz="1500" b="1" spc="-55" dirty="0">
                <a:latin typeface="Segoe UI"/>
                <a:cs typeface="Segoe UI"/>
              </a:rPr>
              <a:t> </a:t>
            </a:r>
            <a:r>
              <a:rPr sz="1500" b="1" spc="-20" dirty="0">
                <a:latin typeface="Segoe UI"/>
                <a:cs typeface="Segoe UI"/>
              </a:rPr>
              <a:t>Trend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09700" y="2395981"/>
            <a:ext cx="13039725" cy="426720"/>
          </a:xfrm>
          <a:prstGeom prst="rect">
            <a:avLst/>
          </a:prstGeom>
          <a:solidFill>
            <a:srgbClr val="F5F5F5"/>
          </a:solidFill>
          <a:ln w="9143">
            <a:solidFill>
              <a:srgbClr val="DFDFDF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42545" marR="9806305">
              <a:lnSpc>
                <a:spcPct val="117900"/>
              </a:lnSpc>
              <a:spcBef>
                <a:spcPts val="415"/>
              </a:spcBef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Total_Sales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"Price</a:t>
            </a:r>
            <a:r>
              <a:rPr sz="950" spc="5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(INR)"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sum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print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"Total_Sales</a:t>
            </a:r>
            <a:r>
              <a:rPr sz="950" spc="-13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(INR):"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round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Total_Sales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2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09700" y="3719194"/>
            <a:ext cx="13039725" cy="426720"/>
          </a:xfrm>
          <a:prstGeom prst="rect">
            <a:avLst/>
          </a:prstGeom>
          <a:solidFill>
            <a:srgbClr val="F5F5F5"/>
          </a:solidFill>
          <a:ln w="9143">
            <a:solidFill>
              <a:srgbClr val="DFDFDF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42545" marR="9806305">
              <a:lnSpc>
                <a:spcPct val="118900"/>
              </a:lnSpc>
              <a:spcBef>
                <a:spcPts val="395"/>
              </a:spcBef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Average_Rating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"Rating"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mean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print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"Average</a:t>
            </a:r>
            <a:r>
              <a:rPr sz="950" spc="-114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Rating:"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round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Average_Rating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2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09700" y="5023738"/>
            <a:ext cx="13039725" cy="428625"/>
          </a:xfrm>
          <a:prstGeom prst="rect">
            <a:avLst/>
          </a:prstGeom>
          <a:solidFill>
            <a:srgbClr val="F5F5F5"/>
          </a:solidFill>
          <a:ln w="9143">
            <a:solidFill>
              <a:srgbClr val="DFDFDF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42545" marR="8742045">
              <a:lnSpc>
                <a:spcPct val="117900"/>
              </a:lnSpc>
              <a:spcBef>
                <a:spcPts val="415"/>
              </a:spcBef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Average_order_values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"Price</a:t>
            </a:r>
            <a:r>
              <a:rPr sz="950" spc="85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(INR)"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mean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print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"Average_order_value(INR):"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round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Average_order_values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2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09700" y="6243192"/>
            <a:ext cx="13039725" cy="256540"/>
          </a:xfrm>
          <a:prstGeom prst="rect">
            <a:avLst/>
          </a:prstGeom>
          <a:solidFill>
            <a:srgbClr val="F5F5F5"/>
          </a:solidFill>
          <a:ln w="9143">
            <a:solidFill>
              <a:srgbClr val="DFDFDF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610"/>
              </a:spcBef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Ratings_Count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"Rating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Count"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sum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print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"Ratings_Count:"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round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Ratings_Count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2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09700" y="7663560"/>
            <a:ext cx="13039725" cy="427355"/>
          </a:xfrm>
          <a:prstGeom prst="rect">
            <a:avLst/>
          </a:prstGeom>
          <a:solidFill>
            <a:srgbClr val="F5F5F5"/>
          </a:solidFill>
          <a:ln w="9143">
            <a:solidFill>
              <a:srgbClr val="DFDFDF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42545" marR="10071735">
              <a:lnSpc>
                <a:spcPct val="118900"/>
              </a:lnSpc>
              <a:spcBef>
                <a:spcPts val="395"/>
              </a:spcBef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Total_Orders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len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print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"Total_Orders:"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round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Total_Orders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2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))</a:t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6731" y="189992"/>
            <a:ext cx="159829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6/11/26,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12:59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PM</a:t>
            </a:r>
            <a:r>
              <a:rPr sz="800" spc="4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swiggy-project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[38]: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2616" y="7489316"/>
            <a:ext cx="15582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Segoe UI"/>
                <a:cs typeface="Segoe UI"/>
              </a:rPr>
              <a:t>Daily</a:t>
            </a:r>
            <a:r>
              <a:rPr sz="1500" b="1" spc="-40" dirty="0">
                <a:latin typeface="Segoe UI"/>
                <a:cs typeface="Segoe UI"/>
              </a:rPr>
              <a:t> </a:t>
            </a:r>
            <a:r>
              <a:rPr sz="1500" b="1" dirty="0">
                <a:latin typeface="Segoe UI"/>
                <a:cs typeface="Segoe UI"/>
              </a:rPr>
              <a:t>Sales</a:t>
            </a:r>
            <a:r>
              <a:rPr sz="1500" b="1" spc="-30" dirty="0">
                <a:latin typeface="Segoe UI"/>
                <a:cs typeface="Segoe UI"/>
              </a:rPr>
              <a:t> </a:t>
            </a:r>
            <a:r>
              <a:rPr sz="1500" b="1" spc="-20" dirty="0">
                <a:latin typeface="Segoe UI"/>
                <a:cs typeface="Segoe UI"/>
              </a:rPr>
              <a:t>Trend</a:t>
            </a:r>
            <a:endParaRPr sz="150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6255" y="2737103"/>
            <a:ext cx="5975604" cy="44805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09700" y="865631"/>
            <a:ext cx="13039725" cy="1867535"/>
          </a:xfrm>
          <a:prstGeom prst="rect">
            <a:avLst/>
          </a:prstGeom>
          <a:solidFill>
            <a:srgbClr val="F5F5F5"/>
          </a:solidFill>
          <a:ln w="9143">
            <a:solidFill>
              <a:srgbClr val="DFDFDF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610"/>
              </a:spcBef>
            </a:pP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"Order</a:t>
            </a:r>
            <a:r>
              <a:rPr sz="950" spc="-4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Date"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spc="-20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b="1" spc="-35" dirty="0">
                <a:solidFill>
                  <a:srgbClr val="AA21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pd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to_datetime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"Order</a:t>
            </a:r>
            <a:r>
              <a:rPr sz="950" spc="-35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Date"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])</a:t>
            </a:r>
            <a:r>
              <a:rPr sz="950" spc="-30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"YearMonth"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spc="-35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b="1" spc="-5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950">
              <a:latin typeface="Consolas"/>
              <a:cs typeface="Consolas"/>
            </a:endParaRPr>
          </a:p>
          <a:p>
            <a:pPr marL="42545">
              <a:lnSpc>
                <a:spcPct val="100000"/>
              </a:lnSpc>
            </a:pP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"Order</a:t>
            </a:r>
            <a:r>
              <a:rPr sz="950" spc="-4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Date"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dt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to_period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"M"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astype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str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r>
              <a:rPr sz="950" spc="-20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monthly_revenue </a:t>
            </a:r>
            <a:r>
              <a:rPr sz="950" b="1" spc="-5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950">
              <a:latin typeface="Consolas"/>
              <a:cs typeface="Consolas"/>
            </a:endParaRPr>
          </a:p>
          <a:p>
            <a:pPr marL="42545">
              <a:lnSpc>
                <a:spcPct val="100000"/>
              </a:lnSpc>
              <a:spcBef>
                <a:spcPts val="5"/>
              </a:spcBef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groupby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"YearMonth"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"Price</a:t>
            </a:r>
            <a:r>
              <a:rPr sz="950" spc="85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(INR)"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sum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reset_index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950">
              <a:latin typeface="Consolas"/>
              <a:cs typeface="Consolas"/>
            </a:endParaRPr>
          </a:p>
          <a:p>
            <a:pPr marL="42545" marR="8344534">
              <a:lnSpc>
                <a:spcPct val="112300"/>
              </a:lnSpc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plt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figure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plt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plot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monthly_revenue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"YearMonth"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],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monthly_revenue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"Price</a:t>
            </a:r>
            <a:r>
              <a:rPr sz="950" spc="17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(INR)"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])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plt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xticks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rotation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45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r>
              <a:rPr sz="950" spc="-65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plt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xlabel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"Month"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r>
              <a:rPr sz="950" spc="-60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plt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ylabel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"Total</a:t>
            </a:r>
            <a:r>
              <a:rPr sz="950" spc="-6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Sales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(INR)"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r>
              <a:rPr sz="950" spc="-75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plt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title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"Monthly</a:t>
            </a:r>
            <a:r>
              <a:rPr sz="950" spc="-8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Sales</a:t>
            </a:r>
            <a:r>
              <a:rPr sz="950" spc="-8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Trend"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r>
              <a:rPr sz="950" spc="-75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plt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tight_layout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r>
              <a:rPr sz="950" spc="-75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plt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show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file:///C:/Users/L470/Desktop/swiggy-</a:t>
            </a:r>
            <a:r>
              <a:rPr dirty="0"/>
              <a:t>project.html</a:t>
            </a:r>
            <a:r>
              <a:rPr spc="190" dirty="0"/>
              <a:t>  </a:t>
            </a:r>
            <a:fld id="{81D60167-4931-47E6-BA6A-407CBD079E47}" type="slidenum">
              <a:rPr spc="-25" dirty="0"/>
              <a:t>4</a:t>
            </a:fld>
            <a:r>
              <a:rPr spc="-25" dirty="0"/>
              <a:t>/9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09700" y="7831201"/>
            <a:ext cx="13039725" cy="1920875"/>
          </a:xfrm>
          <a:prstGeom prst="rect">
            <a:avLst/>
          </a:prstGeom>
          <a:solidFill>
            <a:srgbClr val="F5F5F5"/>
          </a:solidFill>
          <a:ln w="9143">
            <a:solidFill>
              <a:srgbClr val="DFDFDF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610"/>
              </a:spcBef>
            </a:pP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"DayName"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pd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to_datetime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"Order</a:t>
            </a:r>
            <a:r>
              <a:rPr sz="950" spc="-5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Date"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])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dt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day_name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950">
              <a:latin typeface="Consolas"/>
              <a:cs typeface="Consolas"/>
            </a:endParaRPr>
          </a:p>
          <a:p>
            <a:pPr marL="42545" marR="10601325">
              <a:lnSpc>
                <a:spcPct val="108400"/>
              </a:lnSpc>
            </a:pP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daily_revenue</a:t>
            </a:r>
            <a:r>
              <a:rPr sz="950" spc="-50" dirty="0">
                <a:solidFill>
                  <a:srgbClr val="202020"/>
                </a:solidFill>
                <a:latin typeface="Consolas"/>
                <a:cs typeface="Consolas"/>
              </a:rPr>
              <a:t> 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b="1" spc="-50" dirty="0">
                <a:solidFill>
                  <a:srgbClr val="AA21FF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0054AA"/>
                </a:solidFill>
                <a:latin typeface="Consolas"/>
                <a:cs typeface="Consolas"/>
              </a:rPr>
              <a:t>(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groupby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"DayName"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"Price</a:t>
            </a:r>
            <a:r>
              <a:rPr sz="950" spc="8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(INR)"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endParaRPr sz="950">
              <a:latin typeface="Consolas"/>
              <a:cs typeface="Consolas"/>
            </a:endParaRPr>
          </a:p>
          <a:p>
            <a:pPr marL="307975">
              <a:lnSpc>
                <a:spcPct val="100000"/>
              </a:lnSpc>
              <a:spcBef>
                <a:spcPts val="350"/>
              </a:spcBef>
            </a:pP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sum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  <a:p>
            <a:pPr marL="307975">
              <a:lnSpc>
                <a:spcPct val="100000"/>
              </a:lnSpc>
              <a:spcBef>
                <a:spcPts val="215"/>
              </a:spcBef>
            </a:pP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reindex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"Monday"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"Tuesday"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"Wednesday"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"Thursday"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"Friday"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"Saturday"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"Sunday"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])</a:t>
            </a:r>
            <a:endParaRPr sz="950">
              <a:latin typeface="Consolas"/>
              <a:cs typeface="Consolas"/>
            </a:endParaRPr>
          </a:p>
          <a:p>
            <a:pPr marL="42545">
              <a:lnSpc>
                <a:spcPct val="100000"/>
              </a:lnSpc>
              <a:spcBef>
                <a:spcPts val="204"/>
              </a:spcBef>
            </a:pPr>
            <a:r>
              <a:rPr sz="950" spc="-5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950">
              <a:latin typeface="Consolas"/>
              <a:cs typeface="Consolas"/>
            </a:endParaRPr>
          </a:p>
          <a:p>
            <a:pPr marL="42545" marR="9738360">
              <a:lnSpc>
                <a:spcPct val="108400"/>
              </a:lnSpc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plt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figure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figsize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10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5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))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plt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bar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daily_revenue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index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daily_revenue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values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plt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title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"Daily</a:t>
            </a:r>
            <a:r>
              <a:rPr sz="950" spc="-55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Revenue</a:t>
            </a:r>
            <a:r>
              <a:rPr sz="950" spc="-7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Trend</a:t>
            </a:r>
            <a:r>
              <a:rPr sz="950" spc="-65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(Mon-Sun)"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5876" y="189992"/>
            <a:ext cx="15887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6/11/26,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12:59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PM</a:t>
            </a:r>
            <a:r>
              <a:rPr sz="800" spc="4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swiggy-project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6731" y="503935"/>
            <a:ext cx="554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[39]: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2700" y="6596253"/>
            <a:ext cx="38398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Segoe UI"/>
                <a:cs typeface="Segoe UI"/>
              </a:rPr>
              <a:t>Total</a:t>
            </a:r>
            <a:r>
              <a:rPr sz="1500" b="1" spc="-35" dirty="0">
                <a:latin typeface="Segoe UI"/>
                <a:cs typeface="Segoe UI"/>
              </a:rPr>
              <a:t> </a:t>
            </a:r>
            <a:r>
              <a:rPr sz="1500" b="1" dirty="0">
                <a:latin typeface="Segoe UI"/>
                <a:cs typeface="Segoe UI"/>
              </a:rPr>
              <a:t>Sales</a:t>
            </a:r>
            <a:r>
              <a:rPr sz="1500" b="1" spc="-25" dirty="0">
                <a:latin typeface="Segoe UI"/>
                <a:cs typeface="Segoe UI"/>
              </a:rPr>
              <a:t> </a:t>
            </a:r>
            <a:r>
              <a:rPr sz="1500" b="1" dirty="0">
                <a:latin typeface="Segoe UI"/>
                <a:cs typeface="Segoe UI"/>
              </a:rPr>
              <a:t>by</a:t>
            </a:r>
            <a:r>
              <a:rPr sz="1500" b="1" spc="-30" dirty="0">
                <a:latin typeface="Segoe UI"/>
                <a:cs typeface="Segoe UI"/>
              </a:rPr>
              <a:t> </a:t>
            </a:r>
            <a:r>
              <a:rPr sz="1500" b="1" dirty="0">
                <a:latin typeface="Segoe UI"/>
                <a:cs typeface="Segoe UI"/>
              </a:rPr>
              <a:t>Food</a:t>
            </a:r>
            <a:r>
              <a:rPr sz="1500" b="1" spc="-25" dirty="0">
                <a:latin typeface="Segoe UI"/>
                <a:cs typeface="Segoe UI"/>
              </a:rPr>
              <a:t> </a:t>
            </a:r>
            <a:r>
              <a:rPr sz="1500" b="1" dirty="0">
                <a:latin typeface="Segoe UI"/>
                <a:cs typeface="Segoe UI"/>
              </a:rPr>
              <a:t>Type(Veg</a:t>
            </a:r>
            <a:r>
              <a:rPr sz="1500" b="1" spc="-35" dirty="0">
                <a:latin typeface="Segoe UI"/>
                <a:cs typeface="Segoe UI"/>
              </a:rPr>
              <a:t> </a:t>
            </a:r>
            <a:r>
              <a:rPr sz="1500" b="1" dirty="0">
                <a:latin typeface="Segoe UI"/>
                <a:cs typeface="Segoe UI"/>
              </a:rPr>
              <a:t>vs</a:t>
            </a:r>
            <a:r>
              <a:rPr sz="1500" b="1" spc="-20" dirty="0">
                <a:latin typeface="Segoe UI"/>
                <a:cs typeface="Segoe UI"/>
              </a:rPr>
              <a:t> </a:t>
            </a:r>
            <a:r>
              <a:rPr sz="1500" b="1" spc="-10" dirty="0">
                <a:latin typeface="Segoe UI"/>
                <a:cs typeface="Segoe UI"/>
              </a:rPr>
              <a:t>Non-</a:t>
            </a:r>
            <a:r>
              <a:rPr sz="1500" b="1" spc="-20" dirty="0">
                <a:latin typeface="Segoe UI"/>
                <a:cs typeface="Segoe UI"/>
              </a:rPr>
              <a:t>Veg)</a:t>
            </a:r>
            <a:endParaRPr sz="15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6255" y="1501139"/>
            <a:ext cx="7936992" cy="48234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09700" y="530351"/>
            <a:ext cx="13039725" cy="966469"/>
          </a:xfrm>
          <a:prstGeom prst="rect">
            <a:avLst/>
          </a:prstGeom>
          <a:solidFill>
            <a:srgbClr val="F5F5F5"/>
          </a:solidFill>
          <a:ln w="9143">
            <a:solidFill>
              <a:srgbClr val="DFDFDF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42545" marR="10003790">
              <a:lnSpc>
                <a:spcPct val="108400"/>
              </a:lnSpc>
              <a:spcBef>
                <a:spcPts val="500"/>
              </a:spcBef>
            </a:pP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plt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xlabel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"Day"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r>
              <a:rPr sz="950" spc="-40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plt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ylabel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"Revenue</a:t>
            </a:r>
            <a:r>
              <a:rPr sz="950" spc="-4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(INR)"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plt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xticks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rotation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30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950">
              <a:latin typeface="Consolas"/>
              <a:cs typeface="Consolas"/>
            </a:endParaRPr>
          </a:p>
          <a:p>
            <a:pPr marL="42545">
              <a:lnSpc>
                <a:spcPct val="100000"/>
              </a:lnSpc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plt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show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4272" y="6942708"/>
            <a:ext cx="13030200" cy="1797685"/>
          </a:xfrm>
          <a:prstGeom prst="rect">
            <a:avLst/>
          </a:prstGeom>
          <a:solidFill>
            <a:srgbClr val="F5F5F5"/>
          </a:solidFill>
        </p:spPr>
        <p:txBody>
          <a:bodyPr vert="horz" wrap="square" lIns="0" tIns="46990" rIns="0" bIns="0" rtlCol="0">
            <a:spAutoFit/>
          </a:bodyPr>
          <a:lstStyle/>
          <a:p>
            <a:pPr marL="302895" marR="10596880" indent="-265430">
              <a:lnSpc>
                <a:spcPct val="118900"/>
              </a:lnSpc>
              <a:spcBef>
                <a:spcPts val="370"/>
              </a:spcBef>
            </a:pP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non_veg_keywords</a:t>
            </a:r>
            <a:r>
              <a:rPr sz="950" spc="-110" dirty="0">
                <a:solidFill>
                  <a:srgbClr val="202020"/>
                </a:solidFill>
                <a:latin typeface="Consolas"/>
                <a:cs typeface="Consolas"/>
              </a:rPr>
              <a:t> </a:t>
            </a:r>
            <a:r>
              <a:rPr sz="950" b="1" spc="-25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25" dirty="0">
                <a:solidFill>
                  <a:srgbClr val="0054AA"/>
                </a:solidFill>
                <a:latin typeface="Consolas"/>
                <a:cs typeface="Consolas"/>
              </a:rPr>
              <a:t>[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"chicken"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"egg"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"fish"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"mutton"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endParaRPr sz="950">
              <a:latin typeface="Consolas"/>
              <a:cs typeface="Consolas"/>
            </a:endParaRPr>
          </a:p>
          <a:p>
            <a:pPr marL="302895" marR="10994390">
              <a:lnSpc>
                <a:spcPct val="118900"/>
              </a:lnSpc>
            </a:pP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"prawn"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"biryani"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"kebab"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"non-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veg"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"non</a:t>
            </a:r>
            <a:r>
              <a:rPr sz="950" spc="-5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B92020"/>
                </a:solidFill>
                <a:latin typeface="Consolas"/>
                <a:cs typeface="Consolas"/>
              </a:rPr>
              <a:t>veg"</a:t>
            </a:r>
            <a:endParaRPr sz="950">
              <a:latin typeface="Consolas"/>
              <a:cs typeface="Consolas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z="950" spc="-5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endParaRPr sz="950">
              <a:latin typeface="Consolas"/>
              <a:cs typeface="Consolas"/>
            </a:endParaRPr>
          </a:p>
          <a:p>
            <a:pPr marL="38100" marR="8340725">
              <a:lnSpc>
                <a:spcPct val="108400"/>
              </a:lnSpc>
              <a:spcBef>
                <a:spcPts val="110"/>
              </a:spcBef>
              <a:tabLst>
                <a:tab pos="2359025" algn="l"/>
              </a:tabLst>
            </a:pP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"Food</a:t>
            </a:r>
            <a:r>
              <a:rPr sz="950" spc="-7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Category"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b="1" spc="-60" dirty="0">
                <a:solidFill>
                  <a:srgbClr val="AA21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np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where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	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"Dish Name"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str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lower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str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contains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"|"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join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non_veg_keywords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),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na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nsolas"/>
                <a:cs typeface="Consolas"/>
              </a:rPr>
              <a:t>False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r>
              <a:rPr sz="950" spc="200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endParaRPr sz="950">
              <a:latin typeface="Consolas"/>
              <a:cs typeface="Consolas"/>
            </a:endParaRPr>
          </a:p>
          <a:p>
            <a:pPr marL="302895" marR="12056745">
              <a:lnSpc>
                <a:spcPct val="118900"/>
              </a:lnSpc>
              <a:spcBef>
                <a:spcPts val="135"/>
              </a:spcBef>
            </a:pP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"Non-Veg"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"Veg"</a:t>
            </a:r>
            <a:endParaRPr sz="950">
              <a:latin typeface="Consolas"/>
              <a:cs typeface="Consolas"/>
            </a:endParaRPr>
          </a:p>
          <a:p>
            <a:pPr marL="38100">
              <a:lnSpc>
                <a:spcPct val="100000"/>
              </a:lnSpc>
              <a:spcBef>
                <a:spcPts val="204"/>
              </a:spcBef>
            </a:pPr>
            <a:r>
              <a:rPr sz="950" spc="-5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05127" y="6933565"/>
            <a:ext cx="13048615" cy="2773045"/>
            <a:chOff x="1405127" y="6933565"/>
            <a:chExt cx="13048615" cy="2773045"/>
          </a:xfrm>
        </p:grpSpPr>
        <p:sp>
          <p:nvSpPr>
            <p:cNvPr id="9" name="object 9"/>
            <p:cNvSpPr/>
            <p:nvPr/>
          </p:nvSpPr>
          <p:spPr>
            <a:xfrm>
              <a:off x="1405128" y="6933577"/>
              <a:ext cx="13048615" cy="1815464"/>
            </a:xfrm>
            <a:custGeom>
              <a:avLst/>
              <a:gdLst/>
              <a:ahLst/>
              <a:cxnLst/>
              <a:rect l="l" t="t" r="r" b="b"/>
              <a:pathLst>
                <a:path w="13048615" h="1815465">
                  <a:moveTo>
                    <a:pt x="9144" y="93078"/>
                  </a:moveTo>
                  <a:lnTo>
                    <a:pt x="0" y="93078"/>
                  </a:lnTo>
                  <a:lnTo>
                    <a:pt x="0" y="1806308"/>
                  </a:lnTo>
                  <a:lnTo>
                    <a:pt x="9144" y="1806308"/>
                  </a:lnTo>
                  <a:lnTo>
                    <a:pt x="9144" y="93078"/>
                  </a:lnTo>
                  <a:close/>
                </a:path>
                <a:path w="13048615" h="1815465">
                  <a:moveTo>
                    <a:pt x="13048475" y="1806321"/>
                  </a:moveTo>
                  <a:lnTo>
                    <a:pt x="13039344" y="1806321"/>
                  </a:lnTo>
                  <a:lnTo>
                    <a:pt x="9144" y="1806321"/>
                  </a:lnTo>
                  <a:lnTo>
                    <a:pt x="0" y="1806321"/>
                  </a:lnTo>
                  <a:lnTo>
                    <a:pt x="0" y="1815452"/>
                  </a:lnTo>
                  <a:lnTo>
                    <a:pt x="9144" y="1815452"/>
                  </a:lnTo>
                  <a:lnTo>
                    <a:pt x="13039344" y="1815452"/>
                  </a:lnTo>
                  <a:lnTo>
                    <a:pt x="13048475" y="1815452"/>
                  </a:lnTo>
                  <a:lnTo>
                    <a:pt x="13048475" y="1806321"/>
                  </a:lnTo>
                  <a:close/>
                </a:path>
                <a:path w="13048615" h="1815465">
                  <a:moveTo>
                    <a:pt x="13048475" y="93078"/>
                  </a:moveTo>
                  <a:lnTo>
                    <a:pt x="13039344" y="93078"/>
                  </a:lnTo>
                  <a:lnTo>
                    <a:pt x="13039344" y="1806308"/>
                  </a:lnTo>
                  <a:lnTo>
                    <a:pt x="13048475" y="1806308"/>
                  </a:lnTo>
                  <a:lnTo>
                    <a:pt x="13048475" y="93078"/>
                  </a:lnTo>
                  <a:close/>
                </a:path>
                <a:path w="13048615" h="1815465">
                  <a:moveTo>
                    <a:pt x="13048475" y="0"/>
                  </a:moveTo>
                  <a:lnTo>
                    <a:pt x="13039344" y="0"/>
                  </a:lnTo>
                  <a:lnTo>
                    <a:pt x="9144" y="0"/>
                  </a:lnTo>
                  <a:lnTo>
                    <a:pt x="0" y="0"/>
                  </a:lnTo>
                  <a:lnTo>
                    <a:pt x="0" y="9131"/>
                  </a:lnTo>
                  <a:lnTo>
                    <a:pt x="0" y="92951"/>
                  </a:lnTo>
                  <a:lnTo>
                    <a:pt x="9144" y="92951"/>
                  </a:lnTo>
                  <a:lnTo>
                    <a:pt x="9144" y="9131"/>
                  </a:lnTo>
                  <a:lnTo>
                    <a:pt x="13039344" y="9131"/>
                  </a:lnTo>
                  <a:lnTo>
                    <a:pt x="13039344" y="92951"/>
                  </a:lnTo>
                  <a:lnTo>
                    <a:pt x="13048475" y="92951"/>
                  </a:lnTo>
                  <a:lnTo>
                    <a:pt x="13048475" y="9131"/>
                  </a:lnTo>
                  <a:lnTo>
                    <a:pt x="1304847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14272" y="8771890"/>
              <a:ext cx="13030200" cy="934719"/>
            </a:xfrm>
            <a:custGeom>
              <a:avLst/>
              <a:gdLst/>
              <a:ahLst/>
              <a:cxnLst/>
              <a:rect l="l" t="t" r="r" b="b"/>
              <a:pathLst>
                <a:path w="13030200" h="934720">
                  <a:moveTo>
                    <a:pt x="13030200" y="0"/>
                  </a:moveTo>
                  <a:lnTo>
                    <a:pt x="0" y="0"/>
                  </a:lnTo>
                  <a:lnTo>
                    <a:pt x="0" y="83769"/>
                  </a:lnTo>
                  <a:lnTo>
                    <a:pt x="0" y="934161"/>
                  </a:lnTo>
                  <a:lnTo>
                    <a:pt x="38354" y="934161"/>
                  </a:lnTo>
                  <a:lnTo>
                    <a:pt x="12961620" y="934161"/>
                  </a:lnTo>
                  <a:lnTo>
                    <a:pt x="13030200" y="934161"/>
                  </a:lnTo>
                  <a:lnTo>
                    <a:pt x="13030200" y="83820"/>
                  </a:lnTo>
                  <a:lnTo>
                    <a:pt x="1303020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52625" y="8821369"/>
            <a:ext cx="2399665" cy="868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7400"/>
              </a:lnSpc>
              <a:spcBef>
                <a:spcPts val="100"/>
              </a:spcBef>
              <a:tabLst>
                <a:tab pos="1325245" algn="l"/>
              </a:tabLst>
            </a:pP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food_revenue</a:t>
            </a:r>
            <a:r>
              <a:rPr sz="950" spc="-95" dirty="0">
                <a:solidFill>
                  <a:srgbClr val="202020"/>
                </a:solidFill>
                <a:latin typeface="Consolas"/>
                <a:cs typeface="Consolas"/>
              </a:rPr>
              <a:t> </a:t>
            </a:r>
            <a:r>
              <a:rPr sz="950" b="1" spc="-25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25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	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groupby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"Food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Category"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)[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"Price</a:t>
            </a:r>
            <a:r>
              <a:rPr sz="950" spc="-13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(INR)"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endParaRPr sz="950">
              <a:latin typeface="Consolas"/>
              <a:cs typeface="Consolas"/>
            </a:endParaRPr>
          </a:p>
          <a:p>
            <a:pPr marL="264795">
              <a:lnSpc>
                <a:spcPct val="100000"/>
              </a:lnSpc>
              <a:spcBef>
                <a:spcPts val="345"/>
              </a:spcBef>
            </a:pP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sum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  <a:p>
            <a:pPr marL="264795">
              <a:lnSpc>
                <a:spcPct val="100000"/>
              </a:lnSpc>
              <a:spcBef>
                <a:spcPts val="215"/>
              </a:spcBef>
            </a:pP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reset_index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r>
              <a:rPr sz="950" spc="-5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05128" y="8762745"/>
            <a:ext cx="13048615" cy="952500"/>
          </a:xfrm>
          <a:custGeom>
            <a:avLst/>
            <a:gdLst/>
            <a:ahLst/>
            <a:cxnLst/>
            <a:rect l="l" t="t" r="r" b="b"/>
            <a:pathLst>
              <a:path w="13048615" h="952500">
                <a:moveTo>
                  <a:pt x="13048475" y="0"/>
                </a:moveTo>
                <a:lnTo>
                  <a:pt x="13039344" y="0"/>
                </a:lnTo>
                <a:lnTo>
                  <a:pt x="13039344" y="9144"/>
                </a:lnTo>
                <a:lnTo>
                  <a:pt x="13039344" y="92913"/>
                </a:lnTo>
                <a:lnTo>
                  <a:pt x="13039344" y="943305"/>
                </a:lnTo>
                <a:lnTo>
                  <a:pt x="9144" y="943305"/>
                </a:lnTo>
                <a:lnTo>
                  <a:pt x="9144" y="92964"/>
                </a:lnTo>
                <a:lnTo>
                  <a:pt x="9144" y="9144"/>
                </a:lnTo>
                <a:lnTo>
                  <a:pt x="13039344" y="9144"/>
                </a:lnTo>
                <a:lnTo>
                  <a:pt x="13039344" y="12"/>
                </a:lnTo>
                <a:lnTo>
                  <a:pt x="9144" y="12"/>
                </a:lnTo>
                <a:lnTo>
                  <a:pt x="0" y="0"/>
                </a:lnTo>
                <a:lnTo>
                  <a:pt x="0" y="9144"/>
                </a:lnTo>
                <a:lnTo>
                  <a:pt x="0" y="92913"/>
                </a:lnTo>
                <a:lnTo>
                  <a:pt x="0" y="943305"/>
                </a:lnTo>
                <a:lnTo>
                  <a:pt x="0" y="952449"/>
                </a:lnTo>
                <a:lnTo>
                  <a:pt x="9144" y="952449"/>
                </a:lnTo>
                <a:lnTo>
                  <a:pt x="13039344" y="952449"/>
                </a:lnTo>
                <a:lnTo>
                  <a:pt x="13048475" y="952449"/>
                </a:lnTo>
                <a:lnTo>
                  <a:pt x="13048475" y="943305"/>
                </a:lnTo>
                <a:lnTo>
                  <a:pt x="13048475" y="92964"/>
                </a:lnTo>
                <a:lnTo>
                  <a:pt x="13048475" y="9144"/>
                </a:lnTo>
                <a:lnTo>
                  <a:pt x="13048475" y="12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file:///C:/Users/L470/Desktop/swiggy-</a:t>
            </a:r>
            <a:r>
              <a:rPr dirty="0"/>
              <a:t>project.html</a:t>
            </a:r>
            <a:r>
              <a:rPr spc="190" dirty="0"/>
              <a:t>  </a:t>
            </a:r>
            <a:fld id="{81D60167-4931-47E6-BA6A-407CBD079E47}" type="slidenum">
              <a:rPr spc="-25" dirty="0"/>
              <a:t>5</a:t>
            </a:fld>
            <a:r>
              <a:rPr spc="-25" dirty="0"/>
              <a:t>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6731" y="189992"/>
            <a:ext cx="159829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6/11/26,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12:59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PM</a:t>
            </a:r>
            <a:r>
              <a:rPr sz="800" spc="4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swiggy-project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[40]: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6731" y="2345181"/>
            <a:ext cx="554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[41]: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6731" y="3380358"/>
            <a:ext cx="554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[42]:</a:t>
            </a:r>
            <a:endParaRPr sz="950">
              <a:latin typeface="Consolas"/>
              <a:cs typeface="Consola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03603" y="3803014"/>
            <a:ext cx="13053060" cy="2061210"/>
            <a:chOff x="1403603" y="3803014"/>
            <a:chExt cx="13053060" cy="2061210"/>
          </a:xfrm>
        </p:grpSpPr>
        <p:sp>
          <p:nvSpPr>
            <p:cNvPr id="6" name="object 6"/>
            <p:cNvSpPr/>
            <p:nvPr/>
          </p:nvSpPr>
          <p:spPr>
            <a:xfrm>
              <a:off x="1412748" y="4638166"/>
              <a:ext cx="13035280" cy="1216660"/>
            </a:xfrm>
            <a:custGeom>
              <a:avLst/>
              <a:gdLst/>
              <a:ahLst/>
              <a:cxnLst/>
              <a:rect l="l" t="t" r="r" b="b"/>
              <a:pathLst>
                <a:path w="13035280" h="1216660">
                  <a:moveTo>
                    <a:pt x="13034772" y="0"/>
                  </a:moveTo>
                  <a:lnTo>
                    <a:pt x="0" y="0"/>
                  </a:lnTo>
                  <a:lnTo>
                    <a:pt x="0" y="31953"/>
                  </a:lnTo>
                  <a:lnTo>
                    <a:pt x="0" y="1216406"/>
                  </a:lnTo>
                  <a:lnTo>
                    <a:pt x="39878" y="1216406"/>
                  </a:lnTo>
                  <a:lnTo>
                    <a:pt x="12966192" y="1216406"/>
                  </a:lnTo>
                  <a:lnTo>
                    <a:pt x="13034772" y="1216406"/>
                  </a:lnTo>
                  <a:lnTo>
                    <a:pt x="13034772" y="32004"/>
                  </a:lnTo>
                  <a:lnTo>
                    <a:pt x="13034772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03603" y="4638166"/>
              <a:ext cx="9525" cy="32384"/>
            </a:xfrm>
            <a:custGeom>
              <a:avLst/>
              <a:gdLst/>
              <a:ahLst/>
              <a:cxnLst/>
              <a:rect l="l" t="t" r="r" b="b"/>
              <a:pathLst>
                <a:path w="9525" h="32385">
                  <a:moveTo>
                    <a:pt x="9143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9143" y="32003"/>
                  </a:lnTo>
                  <a:lnTo>
                    <a:pt x="9143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12747" y="4638166"/>
              <a:ext cx="13035280" cy="32384"/>
            </a:xfrm>
            <a:custGeom>
              <a:avLst/>
              <a:gdLst/>
              <a:ahLst/>
              <a:cxnLst/>
              <a:rect l="l" t="t" r="r" b="b"/>
              <a:pathLst>
                <a:path w="13035280" h="32385">
                  <a:moveTo>
                    <a:pt x="13034771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13034771" y="32003"/>
                  </a:lnTo>
                  <a:lnTo>
                    <a:pt x="13034771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03604" y="4638166"/>
              <a:ext cx="13053060" cy="1225550"/>
            </a:xfrm>
            <a:custGeom>
              <a:avLst/>
              <a:gdLst/>
              <a:ahLst/>
              <a:cxnLst/>
              <a:rect l="l" t="t" r="r" b="b"/>
              <a:pathLst>
                <a:path w="13053060" h="1225550">
                  <a:moveTo>
                    <a:pt x="9131" y="31953"/>
                  </a:moveTo>
                  <a:lnTo>
                    <a:pt x="0" y="31953"/>
                  </a:lnTo>
                  <a:lnTo>
                    <a:pt x="0" y="1216406"/>
                  </a:lnTo>
                  <a:lnTo>
                    <a:pt x="0" y="1225550"/>
                  </a:lnTo>
                  <a:lnTo>
                    <a:pt x="9131" y="1225550"/>
                  </a:lnTo>
                  <a:lnTo>
                    <a:pt x="9131" y="1216406"/>
                  </a:lnTo>
                  <a:lnTo>
                    <a:pt x="9131" y="31953"/>
                  </a:lnTo>
                  <a:close/>
                </a:path>
                <a:path w="13053060" h="1225550">
                  <a:moveTo>
                    <a:pt x="13053060" y="0"/>
                  </a:moveTo>
                  <a:lnTo>
                    <a:pt x="13043916" y="0"/>
                  </a:lnTo>
                  <a:lnTo>
                    <a:pt x="13043916" y="31953"/>
                  </a:lnTo>
                  <a:lnTo>
                    <a:pt x="13043916" y="1216406"/>
                  </a:lnTo>
                  <a:lnTo>
                    <a:pt x="9144" y="1216406"/>
                  </a:lnTo>
                  <a:lnTo>
                    <a:pt x="9144" y="1225550"/>
                  </a:lnTo>
                  <a:lnTo>
                    <a:pt x="13043916" y="1225550"/>
                  </a:lnTo>
                  <a:lnTo>
                    <a:pt x="13053060" y="1225550"/>
                  </a:lnTo>
                  <a:lnTo>
                    <a:pt x="13053060" y="1216406"/>
                  </a:lnTo>
                  <a:lnTo>
                    <a:pt x="13053060" y="32004"/>
                  </a:lnTo>
                  <a:lnTo>
                    <a:pt x="1305306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12748" y="3803014"/>
              <a:ext cx="13035280" cy="835660"/>
            </a:xfrm>
            <a:custGeom>
              <a:avLst/>
              <a:gdLst/>
              <a:ahLst/>
              <a:cxnLst/>
              <a:rect l="l" t="t" r="r" b="b"/>
              <a:pathLst>
                <a:path w="13035280" h="835660">
                  <a:moveTo>
                    <a:pt x="13034772" y="0"/>
                  </a:moveTo>
                  <a:lnTo>
                    <a:pt x="12966192" y="0"/>
                  </a:lnTo>
                  <a:lnTo>
                    <a:pt x="39928" y="0"/>
                  </a:lnTo>
                  <a:lnTo>
                    <a:pt x="0" y="0"/>
                  </a:lnTo>
                  <a:lnTo>
                    <a:pt x="0" y="835152"/>
                  </a:lnTo>
                  <a:lnTo>
                    <a:pt x="39928" y="835152"/>
                  </a:lnTo>
                  <a:lnTo>
                    <a:pt x="39928" y="312420"/>
                  </a:lnTo>
                  <a:lnTo>
                    <a:pt x="12966192" y="312420"/>
                  </a:lnTo>
                  <a:lnTo>
                    <a:pt x="12966192" y="835152"/>
                  </a:lnTo>
                  <a:lnTo>
                    <a:pt x="13034772" y="835152"/>
                  </a:lnTo>
                  <a:lnTo>
                    <a:pt x="13034772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241530" y="6452996"/>
            <a:ext cx="529590" cy="43434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900" spc="-25" dirty="0">
                <a:solidFill>
                  <a:srgbClr val="2A3E5F"/>
                </a:solidFill>
                <a:latin typeface="Verdana"/>
                <a:cs typeface="Verdana"/>
              </a:rPr>
              <a:t>Veg</a:t>
            </a:r>
            <a:endParaRPr sz="900">
              <a:latin typeface="Verdana"/>
              <a:cs typeface="Verdana"/>
            </a:endParaRPr>
          </a:p>
          <a:p>
            <a:pPr marL="20320">
              <a:lnSpc>
                <a:spcPct val="100000"/>
              </a:lnSpc>
              <a:spcBef>
                <a:spcPts val="530"/>
              </a:spcBef>
            </a:pP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Non-</a:t>
            </a:r>
            <a:r>
              <a:rPr sz="900" spc="-25" dirty="0">
                <a:solidFill>
                  <a:srgbClr val="2A3E5F"/>
                </a:solidFill>
                <a:latin typeface="Verdana"/>
                <a:cs typeface="Verdana"/>
              </a:rPr>
              <a:t>Veg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2625" y="3767149"/>
            <a:ext cx="2267585" cy="339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8400"/>
              </a:lnSpc>
              <a:spcBef>
                <a:spcPts val="100"/>
              </a:spcBef>
              <a:tabLst>
                <a:tab pos="795020" algn="l"/>
                <a:tab pos="1193165" algn="l"/>
              </a:tabLst>
            </a:pP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fig</a:t>
            </a:r>
            <a:r>
              <a:rPr sz="950" spc="-15" dirty="0">
                <a:solidFill>
                  <a:srgbClr val="202020"/>
                </a:solidFill>
                <a:latin typeface="Consolas"/>
                <a:cs typeface="Consolas"/>
              </a:rPr>
              <a:t> 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b="1" spc="-15" dirty="0">
                <a:solidFill>
                  <a:srgbClr val="AA21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px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pie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	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food_revenue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(INR)"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	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names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"Food</a:t>
            </a:r>
            <a:r>
              <a:rPr sz="950" spc="-9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Category"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9209" y="3767149"/>
            <a:ext cx="875665" cy="339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9390" marR="5080" indent="-200025">
              <a:lnSpc>
                <a:spcPct val="108400"/>
              </a:lnSpc>
              <a:spcBef>
                <a:spcPts val="100"/>
              </a:spcBef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values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"Price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hole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0.5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452626" y="4115434"/>
            <a:ext cx="12926695" cy="523240"/>
          </a:xfrm>
          <a:custGeom>
            <a:avLst/>
            <a:gdLst/>
            <a:ahLst/>
            <a:cxnLst/>
            <a:rect l="l" t="t" r="r" b="b"/>
            <a:pathLst>
              <a:path w="12926694" h="523239">
                <a:moveTo>
                  <a:pt x="12926314" y="359676"/>
                </a:moveTo>
                <a:lnTo>
                  <a:pt x="0" y="359676"/>
                </a:lnTo>
                <a:lnTo>
                  <a:pt x="0" y="522732"/>
                </a:lnTo>
                <a:lnTo>
                  <a:pt x="12926314" y="522732"/>
                </a:lnTo>
                <a:lnTo>
                  <a:pt x="12926314" y="359676"/>
                </a:lnTo>
                <a:close/>
              </a:path>
              <a:path w="12926694" h="523239">
                <a:moveTo>
                  <a:pt x="12926314" y="0"/>
                </a:moveTo>
                <a:lnTo>
                  <a:pt x="0" y="0"/>
                </a:lnTo>
                <a:lnTo>
                  <a:pt x="0" y="187452"/>
                </a:lnTo>
                <a:lnTo>
                  <a:pt x="0" y="359664"/>
                </a:lnTo>
                <a:lnTo>
                  <a:pt x="12926314" y="359664"/>
                </a:lnTo>
                <a:lnTo>
                  <a:pt x="12926314" y="187452"/>
                </a:lnTo>
                <a:lnTo>
                  <a:pt x="12926314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452625" y="4047565"/>
            <a:ext cx="3554729" cy="201930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title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"Revenue</a:t>
            </a:r>
            <a:r>
              <a:rPr sz="950" spc="-65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Contribution:</a:t>
            </a:r>
            <a:r>
              <a:rPr sz="950" spc="-6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Veg</a:t>
            </a:r>
            <a:r>
              <a:rPr sz="950" spc="-65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vs</a:t>
            </a:r>
            <a:r>
              <a:rPr sz="950" spc="-6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Non-</a:t>
            </a:r>
            <a:r>
              <a:rPr sz="950" spc="-20" dirty="0">
                <a:solidFill>
                  <a:srgbClr val="B92020"/>
                </a:solidFill>
                <a:latin typeface="Consolas"/>
                <a:cs typeface="Consolas"/>
              </a:rPr>
              <a:t>Veg"</a:t>
            </a:r>
            <a:r>
              <a:rPr sz="950" spc="-2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r>
              <a:rPr sz="950" spc="-5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fig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update_traces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endParaRPr sz="950">
              <a:latin typeface="Consolas"/>
              <a:cs typeface="Consolas"/>
            </a:endParaRPr>
          </a:p>
          <a:p>
            <a:pPr marR="1624330" indent="264795">
              <a:lnSpc>
                <a:spcPct val="107400"/>
              </a:lnSpc>
              <a:spcBef>
                <a:spcPts val="310"/>
              </a:spcBef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textinfo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"percent+label"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pull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0.05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0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r>
              <a:rPr sz="950" spc="-5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  <a:p>
            <a:pPr marR="1292225">
              <a:lnSpc>
                <a:spcPct val="108400"/>
              </a:lnSpc>
              <a:spcBef>
                <a:spcPts val="105"/>
              </a:spcBef>
              <a:tabLst>
                <a:tab pos="1525270" algn="l"/>
              </a:tabLst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fig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update_layout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	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height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500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margin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dict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t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60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b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40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l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40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r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40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r>
              <a:rPr sz="950" spc="-5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fig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show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  <a:p>
            <a:pPr marL="405130">
              <a:lnSpc>
                <a:spcPct val="100000"/>
              </a:lnSpc>
              <a:spcBef>
                <a:spcPts val="300"/>
              </a:spcBef>
            </a:pPr>
            <a:r>
              <a:rPr sz="1250" dirty="0">
                <a:solidFill>
                  <a:srgbClr val="2A3E5F"/>
                </a:solidFill>
                <a:latin typeface="Verdana"/>
                <a:cs typeface="Verdana"/>
              </a:rPr>
              <a:t>Revenue</a:t>
            </a:r>
            <a:r>
              <a:rPr sz="1250" spc="-30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2A3E5F"/>
                </a:solidFill>
                <a:latin typeface="Verdana"/>
                <a:cs typeface="Verdana"/>
              </a:rPr>
              <a:t>Contribution:</a:t>
            </a:r>
            <a:r>
              <a:rPr sz="1250" spc="-35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2A3E5F"/>
                </a:solidFill>
                <a:latin typeface="Verdana"/>
                <a:cs typeface="Verdana"/>
              </a:rPr>
              <a:t>Veg</a:t>
            </a:r>
            <a:r>
              <a:rPr sz="1250" spc="-25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2A3E5F"/>
                </a:solidFill>
                <a:latin typeface="Verdana"/>
                <a:cs typeface="Verdana"/>
              </a:rPr>
              <a:t>vs</a:t>
            </a:r>
            <a:r>
              <a:rPr sz="1250" spc="-35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2A3E5F"/>
                </a:solidFill>
                <a:latin typeface="Verdana"/>
                <a:cs typeface="Verdana"/>
              </a:rPr>
              <a:t>Non-</a:t>
            </a:r>
            <a:r>
              <a:rPr sz="1250" spc="-25" dirty="0">
                <a:solidFill>
                  <a:srgbClr val="2A3E5F"/>
                </a:solidFill>
                <a:latin typeface="Verdana"/>
                <a:cs typeface="Verdana"/>
              </a:rPr>
              <a:t>Veg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402080" y="3707002"/>
            <a:ext cx="13053060" cy="931544"/>
            <a:chOff x="1402080" y="3707002"/>
            <a:chExt cx="13053060" cy="931544"/>
          </a:xfrm>
        </p:grpSpPr>
        <p:sp>
          <p:nvSpPr>
            <p:cNvPr id="17" name="object 17"/>
            <p:cNvSpPr/>
            <p:nvPr/>
          </p:nvSpPr>
          <p:spPr>
            <a:xfrm>
              <a:off x="1402080" y="3707002"/>
              <a:ext cx="13044169" cy="96520"/>
            </a:xfrm>
            <a:custGeom>
              <a:avLst/>
              <a:gdLst/>
              <a:ahLst/>
              <a:cxnLst/>
              <a:rect l="l" t="t" r="r" b="b"/>
              <a:pathLst>
                <a:path w="13044169" h="96520">
                  <a:moveTo>
                    <a:pt x="13043916" y="0"/>
                  </a:moveTo>
                  <a:lnTo>
                    <a:pt x="9144" y="0"/>
                  </a:lnTo>
                  <a:lnTo>
                    <a:pt x="0" y="0"/>
                  </a:lnTo>
                  <a:lnTo>
                    <a:pt x="0" y="9144"/>
                  </a:lnTo>
                  <a:lnTo>
                    <a:pt x="0" y="96012"/>
                  </a:lnTo>
                  <a:lnTo>
                    <a:pt x="9144" y="96012"/>
                  </a:lnTo>
                  <a:lnTo>
                    <a:pt x="9144" y="9144"/>
                  </a:lnTo>
                  <a:lnTo>
                    <a:pt x="13043916" y="9144"/>
                  </a:lnTo>
                  <a:lnTo>
                    <a:pt x="13043916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11224" y="3716146"/>
              <a:ext cx="13035280" cy="86995"/>
            </a:xfrm>
            <a:custGeom>
              <a:avLst/>
              <a:gdLst/>
              <a:ahLst/>
              <a:cxnLst/>
              <a:rect l="l" t="t" r="r" b="b"/>
              <a:pathLst>
                <a:path w="13035280" h="86995">
                  <a:moveTo>
                    <a:pt x="13034772" y="0"/>
                  </a:moveTo>
                  <a:lnTo>
                    <a:pt x="0" y="0"/>
                  </a:lnTo>
                  <a:lnTo>
                    <a:pt x="0" y="86868"/>
                  </a:lnTo>
                  <a:lnTo>
                    <a:pt x="13034772" y="86868"/>
                  </a:lnTo>
                  <a:lnTo>
                    <a:pt x="13034772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02080" y="3707002"/>
              <a:ext cx="13053060" cy="931544"/>
            </a:xfrm>
            <a:custGeom>
              <a:avLst/>
              <a:gdLst/>
              <a:ahLst/>
              <a:cxnLst/>
              <a:rect l="l" t="t" r="r" b="b"/>
              <a:pathLst>
                <a:path w="13053060" h="931545">
                  <a:moveTo>
                    <a:pt x="9144" y="96012"/>
                  </a:moveTo>
                  <a:lnTo>
                    <a:pt x="0" y="96012"/>
                  </a:lnTo>
                  <a:lnTo>
                    <a:pt x="0" y="931164"/>
                  </a:lnTo>
                  <a:lnTo>
                    <a:pt x="9144" y="931164"/>
                  </a:lnTo>
                  <a:lnTo>
                    <a:pt x="9144" y="96012"/>
                  </a:lnTo>
                  <a:close/>
                </a:path>
                <a:path w="13053060" h="931545">
                  <a:moveTo>
                    <a:pt x="13053047" y="0"/>
                  </a:moveTo>
                  <a:lnTo>
                    <a:pt x="13043916" y="0"/>
                  </a:lnTo>
                  <a:lnTo>
                    <a:pt x="13043916" y="9144"/>
                  </a:lnTo>
                  <a:lnTo>
                    <a:pt x="13043916" y="96012"/>
                  </a:lnTo>
                  <a:lnTo>
                    <a:pt x="13043916" y="931164"/>
                  </a:lnTo>
                  <a:lnTo>
                    <a:pt x="13053047" y="931164"/>
                  </a:lnTo>
                  <a:lnTo>
                    <a:pt x="13053047" y="96012"/>
                  </a:lnTo>
                  <a:lnTo>
                    <a:pt x="13053047" y="9144"/>
                  </a:lnTo>
                  <a:lnTo>
                    <a:pt x="13053047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5352288" y="6362699"/>
            <a:ext cx="3133090" cy="3628390"/>
          </a:xfrm>
          <a:custGeom>
            <a:avLst/>
            <a:gdLst/>
            <a:ahLst/>
            <a:cxnLst/>
            <a:rect l="l" t="t" r="r" b="b"/>
            <a:pathLst>
              <a:path w="3133090" h="3628390">
                <a:moveTo>
                  <a:pt x="1319403" y="0"/>
                </a:moveTo>
                <a:lnTo>
                  <a:pt x="1319403" y="907034"/>
                </a:lnTo>
                <a:lnTo>
                  <a:pt x="1333404" y="907151"/>
                </a:lnTo>
                <a:lnTo>
                  <a:pt x="1361408" y="908051"/>
                </a:lnTo>
                <a:lnTo>
                  <a:pt x="1417361" y="912401"/>
                </a:lnTo>
                <a:lnTo>
                  <a:pt x="1472848" y="920180"/>
                </a:lnTo>
                <a:lnTo>
                  <a:pt x="1527756" y="931388"/>
                </a:lnTo>
                <a:lnTo>
                  <a:pt x="1581868" y="945917"/>
                </a:lnTo>
                <a:lnTo>
                  <a:pt x="1634984" y="963802"/>
                </a:lnTo>
                <a:lnTo>
                  <a:pt x="1686905" y="984918"/>
                </a:lnTo>
                <a:lnTo>
                  <a:pt x="1724914" y="1002807"/>
                </a:lnTo>
                <a:lnTo>
                  <a:pt x="1774253" y="1029462"/>
                </a:lnTo>
                <a:lnTo>
                  <a:pt x="1821862" y="1059052"/>
                </a:lnTo>
                <a:lnTo>
                  <a:pt x="1867519" y="1091549"/>
                </a:lnTo>
                <a:lnTo>
                  <a:pt x="1911127" y="1126839"/>
                </a:lnTo>
                <a:lnTo>
                  <a:pt x="1952450" y="1164685"/>
                </a:lnTo>
                <a:lnTo>
                  <a:pt x="1991312" y="1205007"/>
                </a:lnTo>
                <a:lnTo>
                  <a:pt x="2027682" y="1247679"/>
                </a:lnTo>
                <a:lnTo>
                  <a:pt x="2061289" y="1292558"/>
                </a:lnTo>
                <a:lnTo>
                  <a:pt x="2092134" y="1339405"/>
                </a:lnTo>
                <a:lnTo>
                  <a:pt x="2119947" y="1388046"/>
                </a:lnTo>
                <a:lnTo>
                  <a:pt x="2144712" y="1438338"/>
                </a:lnTo>
                <a:lnTo>
                  <a:pt x="2166366" y="1490075"/>
                </a:lnTo>
                <a:lnTo>
                  <a:pt x="2184765" y="1543034"/>
                </a:lnTo>
                <a:lnTo>
                  <a:pt x="2199814" y="1597009"/>
                </a:lnTo>
                <a:lnTo>
                  <a:pt x="2211562" y="1651857"/>
                </a:lnTo>
                <a:lnTo>
                  <a:pt x="2219880" y="1707292"/>
                </a:lnTo>
                <a:lnTo>
                  <a:pt x="2224770" y="1763156"/>
                </a:lnTo>
                <a:lnTo>
                  <a:pt x="2226214" y="1819211"/>
                </a:lnTo>
                <a:lnTo>
                  <a:pt x="2225547" y="1847215"/>
                </a:lnTo>
                <a:lnTo>
                  <a:pt x="2221865" y="1903222"/>
                </a:lnTo>
                <a:lnTo>
                  <a:pt x="2214626" y="1958721"/>
                </a:lnTo>
                <a:lnTo>
                  <a:pt x="2203958" y="2013839"/>
                </a:lnTo>
                <a:lnTo>
                  <a:pt x="2189988" y="2068068"/>
                </a:lnTo>
                <a:lnTo>
                  <a:pt x="2172589" y="2121408"/>
                </a:lnTo>
                <a:lnTo>
                  <a:pt x="2152015" y="2173605"/>
                </a:lnTo>
                <a:lnTo>
                  <a:pt x="2128266" y="2224278"/>
                </a:lnTo>
                <a:lnTo>
                  <a:pt x="2101341" y="2273554"/>
                </a:lnTo>
                <a:lnTo>
                  <a:pt x="2071496" y="2320925"/>
                </a:lnTo>
                <a:lnTo>
                  <a:pt x="2038731" y="2366518"/>
                </a:lnTo>
                <a:lnTo>
                  <a:pt x="2003297" y="2409825"/>
                </a:lnTo>
                <a:lnTo>
                  <a:pt x="1965197" y="2450973"/>
                </a:lnTo>
                <a:lnTo>
                  <a:pt x="1924558" y="2489708"/>
                </a:lnTo>
                <a:lnTo>
                  <a:pt x="1881759" y="2525776"/>
                </a:lnTo>
                <a:lnTo>
                  <a:pt x="1836673" y="2559177"/>
                </a:lnTo>
                <a:lnTo>
                  <a:pt x="1789684" y="2589657"/>
                </a:lnTo>
                <a:lnTo>
                  <a:pt x="1740915" y="2617343"/>
                </a:lnTo>
                <a:lnTo>
                  <a:pt x="1690496" y="2641854"/>
                </a:lnTo>
                <a:lnTo>
                  <a:pt x="1651777" y="2658141"/>
                </a:lnTo>
                <a:lnTo>
                  <a:pt x="1598979" y="2677031"/>
                </a:lnTo>
                <a:lnTo>
                  <a:pt x="1558750" y="2689082"/>
                </a:lnTo>
                <a:lnTo>
                  <a:pt x="1504283" y="2702179"/>
                </a:lnTo>
                <a:lnTo>
                  <a:pt x="1449054" y="2711894"/>
                </a:lnTo>
                <a:lnTo>
                  <a:pt x="1393364" y="2718276"/>
                </a:lnTo>
                <a:lnTo>
                  <a:pt x="1337373" y="2721038"/>
                </a:lnTo>
                <a:lnTo>
                  <a:pt x="1309369" y="2721229"/>
                </a:lnTo>
                <a:lnTo>
                  <a:pt x="1295368" y="2720941"/>
                </a:lnTo>
                <a:lnTo>
                  <a:pt x="1239383" y="2717724"/>
                </a:lnTo>
                <a:lnTo>
                  <a:pt x="1183727" y="2711027"/>
                </a:lnTo>
                <a:lnTo>
                  <a:pt x="1142364" y="2703830"/>
                </a:lnTo>
                <a:lnTo>
                  <a:pt x="1101306" y="2694632"/>
                </a:lnTo>
                <a:lnTo>
                  <a:pt x="1047392" y="2679485"/>
                </a:lnTo>
                <a:lnTo>
                  <a:pt x="994457" y="2660965"/>
                </a:lnTo>
                <a:lnTo>
                  <a:pt x="955548" y="2645013"/>
                </a:lnTo>
                <a:lnTo>
                  <a:pt x="904938" y="2620946"/>
                </a:lnTo>
                <a:lnTo>
                  <a:pt x="855932" y="2593784"/>
                </a:lnTo>
                <a:lnTo>
                  <a:pt x="808640" y="2563685"/>
                </a:lnTo>
                <a:lnTo>
                  <a:pt x="763349" y="2530665"/>
                </a:lnTo>
                <a:lnTo>
                  <a:pt x="720121" y="2494930"/>
                </a:lnTo>
                <a:lnTo>
                  <a:pt x="679291" y="2456592"/>
                </a:lnTo>
                <a:lnTo>
                  <a:pt x="659764" y="2436495"/>
                </a:lnTo>
                <a:lnTo>
                  <a:pt x="0" y="3058795"/>
                </a:lnTo>
                <a:lnTo>
                  <a:pt x="39068" y="3099022"/>
                </a:lnTo>
                <a:lnTo>
                  <a:pt x="79375" y="3137992"/>
                </a:lnTo>
                <a:lnTo>
                  <a:pt x="120888" y="3175692"/>
                </a:lnTo>
                <a:lnTo>
                  <a:pt x="163449" y="3212096"/>
                </a:lnTo>
                <a:lnTo>
                  <a:pt x="207248" y="3247156"/>
                </a:lnTo>
                <a:lnTo>
                  <a:pt x="252095" y="3280854"/>
                </a:lnTo>
                <a:lnTo>
                  <a:pt x="297910" y="3313153"/>
                </a:lnTo>
                <a:lnTo>
                  <a:pt x="344677" y="3344024"/>
                </a:lnTo>
                <a:lnTo>
                  <a:pt x="392398" y="3373424"/>
                </a:lnTo>
                <a:lnTo>
                  <a:pt x="441071" y="3401339"/>
                </a:lnTo>
                <a:lnTo>
                  <a:pt x="490489" y="3427733"/>
                </a:lnTo>
                <a:lnTo>
                  <a:pt x="540765" y="3452583"/>
                </a:lnTo>
                <a:lnTo>
                  <a:pt x="591693" y="3475882"/>
                </a:lnTo>
                <a:lnTo>
                  <a:pt x="643382" y="3497580"/>
                </a:lnTo>
                <a:lnTo>
                  <a:pt x="695690" y="3517679"/>
                </a:lnTo>
                <a:lnTo>
                  <a:pt x="748664" y="3536149"/>
                </a:lnTo>
                <a:lnTo>
                  <a:pt x="802100" y="3552967"/>
                </a:lnTo>
                <a:lnTo>
                  <a:pt x="856107" y="3568128"/>
                </a:lnTo>
                <a:lnTo>
                  <a:pt x="910478" y="3581614"/>
                </a:lnTo>
                <a:lnTo>
                  <a:pt x="965326" y="3593414"/>
                </a:lnTo>
                <a:lnTo>
                  <a:pt x="1020381" y="3603512"/>
                </a:lnTo>
                <a:lnTo>
                  <a:pt x="1075816" y="3611905"/>
                </a:lnTo>
                <a:lnTo>
                  <a:pt x="1131474" y="3618572"/>
                </a:lnTo>
                <a:lnTo>
                  <a:pt x="1187322" y="3623525"/>
                </a:lnTo>
                <a:lnTo>
                  <a:pt x="1243282" y="3626742"/>
                </a:lnTo>
                <a:lnTo>
                  <a:pt x="1299337" y="3628224"/>
                </a:lnTo>
                <a:lnTo>
                  <a:pt x="1327340" y="3628322"/>
                </a:lnTo>
                <a:lnTo>
                  <a:pt x="1355343" y="3627985"/>
                </a:lnTo>
                <a:lnTo>
                  <a:pt x="1411351" y="3626002"/>
                </a:lnTo>
                <a:lnTo>
                  <a:pt x="1467278" y="3622297"/>
                </a:lnTo>
                <a:lnTo>
                  <a:pt x="1523111" y="3616858"/>
                </a:lnTo>
                <a:lnTo>
                  <a:pt x="1578689" y="3609706"/>
                </a:lnTo>
                <a:lnTo>
                  <a:pt x="1633982" y="3600831"/>
                </a:lnTo>
                <a:lnTo>
                  <a:pt x="1689052" y="3590248"/>
                </a:lnTo>
                <a:lnTo>
                  <a:pt x="1743837" y="3577971"/>
                </a:lnTo>
                <a:lnTo>
                  <a:pt x="1798065" y="3564013"/>
                </a:lnTo>
                <a:lnTo>
                  <a:pt x="1851914" y="3548380"/>
                </a:lnTo>
                <a:lnTo>
                  <a:pt x="1905222" y="3531093"/>
                </a:lnTo>
                <a:lnTo>
                  <a:pt x="1957959" y="3512159"/>
                </a:lnTo>
                <a:lnTo>
                  <a:pt x="2010156" y="3491615"/>
                </a:lnTo>
                <a:lnTo>
                  <a:pt x="2061590" y="3469462"/>
                </a:lnTo>
                <a:lnTo>
                  <a:pt x="2112391" y="3445725"/>
                </a:lnTo>
                <a:lnTo>
                  <a:pt x="2162429" y="3420427"/>
                </a:lnTo>
                <a:lnTo>
                  <a:pt x="2211673" y="3393606"/>
                </a:lnTo>
                <a:lnTo>
                  <a:pt x="2259965" y="3365271"/>
                </a:lnTo>
                <a:lnTo>
                  <a:pt x="2307478" y="3335445"/>
                </a:lnTo>
                <a:lnTo>
                  <a:pt x="2353944" y="3304171"/>
                </a:lnTo>
                <a:lnTo>
                  <a:pt x="2399553" y="3271483"/>
                </a:lnTo>
                <a:lnTo>
                  <a:pt x="2444115" y="3237395"/>
                </a:lnTo>
                <a:lnTo>
                  <a:pt x="2487453" y="3201944"/>
                </a:lnTo>
                <a:lnTo>
                  <a:pt x="2529840" y="3165170"/>
                </a:lnTo>
                <a:lnTo>
                  <a:pt x="2570972" y="3127108"/>
                </a:lnTo>
                <a:lnTo>
                  <a:pt x="2610866" y="3087789"/>
                </a:lnTo>
                <a:lnTo>
                  <a:pt x="2649632" y="3047271"/>
                </a:lnTo>
                <a:lnTo>
                  <a:pt x="2687066" y="3005582"/>
                </a:lnTo>
                <a:lnTo>
                  <a:pt x="2723276" y="2962719"/>
                </a:lnTo>
                <a:lnTo>
                  <a:pt x="2758059" y="2918714"/>
                </a:lnTo>
                <a:lnTo>
                  <a:pt x="2791491" y="2873771"/>
                </a:lnTo>
                <a:lnTo>
                  <a:pt x="2823591" y="2827782"/>
                </a:lnTo>
                <a:lnTo>
                  <a:pt x="2854150" y="2780712"/>
                </a:lnTo>
                <a:lnTo>
                  <a:pt x="2883281" y="2732786"/>
                </a:lnTo>
                <a:lnTo>
                  <a:pt x="2910903" y="2684065"/>
                </a:lnTo>
                <a:lnTo>
                  <a:pt x="2937002" y="2634488"/>
                </a:lnTo>
                <a:lnTo>
                  <a:pt x="2961576" y="2584069"/>
                </a:lnTo>
                <a:lnTo>
                  <a:pt x="2984627" y="2532888"/>
                </a:lnTo>
                <a:lnTo>
                  <a:pt x="3005963" y="2481087"/>
                </a:lnTo>
                <a:lnTo>
                  <a:pt x="3025775" y="2428621"/>
                </a:lnTo>
                <a:lnTo>
                  <a:pt x="3043967" y="2375582"/>
                </a:lnTo>
                <a:lnTo>
                  <a:pt x="3060445" y="2322068"/>
                </a:lnTo>
                <a:lnTo>
                  <a:pt x="3075336" y="2267966"/>
                </a:lnTo>
                <a:lnTo>
                  <a:pt x="3088513" y="2213483"/>
                </a:lnTo>
                <a:lnTo>
                  <a:pt x="3100038" y="2158571"/>
                </a:lnTo>
                <a:lnTo>
                  <a:pt x="3109848" y="2103374"/>
                </a:lnTo>
                <a:lnTo>
                  <a:pt x="3117834" y="2047843"/>
                </a:lnTo>
                <a:lnTo>
                  <a:pt x="3124200" y="1992122"/>
                </a:lnTo>
                <a:lnTo>
                  <a:pt x="3128867" y="1936273"/>
                </a:lnTo>
                <a:lnTo>
                  <a:pt x="3131819" y="1880235"/>
                </a:lnTo>
                <a:lnTo>
                  <a:pt x="3132947" y="1824227"/>
                </a:lnTo>
                <a:lnTo>
                  <a:pt x="3132909" y="1796224"/>
                </a:lnTo>
                <a:lnTo>
                  <a:pt x="3131498" y="1740146"/>
                </a:lnTo>
                <a:lnTo>
                  <a:pt x="3128347" y="1684139"/>
                </a:lnTo>
                <a:lnTo>
                  <a:pt x="3123434" y="1628302"/>
                </a:lnTo>
                <a:lnTo>
                  <a:pt x="3116853" y="1572589"/>
                </a:lnTo>
                <a:lnTo>
                  <a:pt x="3108511" y="1517155"/>
                </a:lnTo>
                <a:lnTo>
                  <a:pt x="3098502" y="1462049"/>
                </a:lnTo>
                <a:lnTo>
                  <a:pt x="3086733" y="1407207"/>
                </a:lnTo>
                <a:lnTo>
                  <a:pt x="3073346" y="1352724"/>
                </a:lnTo>
                <a:lnTo>
                  <a:pt x="3058241" y="1298719"/>
                </a:lnTo>
                <a:lnTo>
                  <a:pt x="3041513" y="1245240"/>
                </a:lnTo>
                <a:lnTo>
                  <a:pt x="3023076" y="1192283"/>
                </a:lnTo>
                <a:lnTo>
                  <a:pt x="3003073" y="1139896"/>
                </a:lnTo>
                <a:lnTo>
                  <a:pt x="2981451" y="1088177"/>
                </a:lnTo>
                <a:lnTo>
                  <a:pt x="2958211" y="1037175"/>
                </a:lnTo>
                <a:lnTo>
                  <a:pt x="2933426" y="986885"/>
                </a:lnTo>
                <a:lnTo>
                  <a:pt x="2907049" y="937355"/>
                </a:lnTo>
                <a:lnTo>
                  <a:pt x="2879216" y="888684"/>
                </a:lnTo>
                <a:lnTo>
                  <a:pt x="2849880" y="840920"/>
                </a:lnTo>
                <a:lnTo>
                  <a:pt x="2819096" y="794061"/>
                </a:lnTo>
                <a:lnTo>
                  <a:pt x="2786866" y="748202"/>
                </a:lnTo>
                <a:lnTo>
                  <a:pt x="2753227" y="703341"/>
                </a:lnTo>
                <a:lnTo>
                  <a:pt x="2718226" y="659526"/>
                </a:lnTo>
                <a:lnTo>
                  <a:pt x="2681916" y="616854"/>
                </a:lnTo>
                <a:lnTo>
                  <a:pt x="2644249" y="575325"/>
                </a:lnTo>
                <a:lnTo>
                  <a:pt x="2605367" y="534941"/>
                </a:lnTo>
                <a:lnTo>
                  <a:pt x="2565223" y="495750"/>
                </a:lnTo>
                <a:lnTo>
                  <a:pt x="2523886" y="457842"/>
                </a:lnTo>
                <a:lnTo>
                  <a:pt x="2481405" y="421266"/>
                </a:lnTo>
                <a:lnTo>
                  <a:pt x="2437802" y="386026"/>
                </a:lnTo>
                <a:lnTo>
                  <a:pt x="2393174" y="352169"/>
                </a:lnTo>
                <a:lnTo>
                  <a:pt x="2347475" y="319688"/>
                </a:lnTo>
                <a:lnTo>
                  <a:pt x="2300803" y="288585"/>
                </a:lnTo>
                <a:lnTo>
                  <a:pt x="2253200" y="258962"/>
                </a:lnTo>
                <a:lnTo>
                  <a:pt x="2204761" y="230820"/>
                </a:lnTo>
                <a:lnTo>
                  <a:pt x="2155442" y="204227"/>
                </a:lnTo>
                <a:lnTo>
                  <a:pt x="2105288" y="179185"/>
                </a:lnTo>
                <a:lnTo>
                  <a:pt x="2054353" y="155660"/>
                </a:lnTo>
                <a:lnTo>
                  <a:pt x="2002780" y="133701"/>
                </a:lnTo>
                <a:lnTo>
                  <a:pt x="1950565" y="113393"/>
                </a:lnTo>
                <a:lnTo>
                  <a:pt x="1897709" y="94688"/>
                </a:lnTo>
                <a:lnTo>
                  <a:pt x="1844349" y="77638"/>
                </a:lnTo>
                <a:lnTo>
                  <a:pt x="1790438" y="62243"/>
                </a:lnTo>
                <a:lnTo>
                  <a:pt x="1736072" y="48474"/>
                </a:lnTo>
                <a:lnTo>
                  <a:pt x="1681347" y="36472"/>
                </a:lnTo>
                <a:lnTo>
                  <a:pt x="1626221" y="26165"/>
                </a:lnTo>
                <a:lnTo>
                  <a:pt x="1570837" y="17506"/>
                </a:lnTo>
                <a:lnTo>
                  <a:pt x="1515213" y="10608"/>
                </a:lnTo>
                <a:lnTo>
                  <a:pt x="1459396" y="5377"/>
                </a:lnTo>
                <a:lnTo>
                  <a:pt x="1403467" y="1928"/>
                </a:lnTo>
                <a:lnTo>
                  <a:pt x="1347424" y="214"/>
                </a:lnTo>
                <a:lnTo>
                  <a:pt x="1319403" y="0"/>
                </a:lnTo>
                <a:close/>
              </a:path>
            </a:pathLst>
          </a:custGeom>
          <a:solidFill>
            <a:srgbClr val="626D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774305" y="8573261"/>
            <a:ext cx="295275" cy="324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575">
              <a:lnSpc>
                <a:spcPct val="108900"/>
              </a:lnSpc>
              <a:spcBef>
                <a:spcPts val="100"/>
              </a:spcBef>
            </a:pPr>
            <a:r>
              <a:rPr sz="900" spc="-25" dirty="0">
                <a:solidFill>
                  <a:srgbClr val="FFFFFF"/>
                </a:solidFill>
                <a:latin typeface="Verdana"/>
                <a:cs typeface="Verdana"/>
              </a:rPr>
              <a:t>Veg 63%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775279" y="6327647"/>
            <a:ext cx="1813560" cy="3058795"/>
          </a:xfrm>
          <a:custGeom>
            <a:avLst/>
            <a:gdLst/>
            <a:ahLst/>
            <a:cxnLst/>
            <a:rect l="l" t="t" r="r" b="b"/>
            <a:pathLst>
              <a:path w="1813559" h="3058795">
                <a:moveTo>
                  <a:pt x="1812972" y="0"/>
                </a:moveTo>
                <a:lnTo>
                  <a:pt x="1747075" y="1222"/>
                </a:lnTo>
                <a:lnTo>
                  <a:pt x="1681273" y="4825"/>
                </a:lnTo>
                <a:lnTo>
                  <a:pt x="1615646" y="10810"/>
                </a:lnTo>
                <a:lnTo>
                  <a:pt x="1550209" y="19176"/>
                </a:lnTo>
                <a:lnTo>
                  <a:pt x="1485185" y="29924"/>
                </a:lnTo>
                <a:lnTo>
                  <a:pt x="1420542" y="43052"/>
                </a:lnTo>
                <a:lnTo>
                  <a:pt x="1356502" y="58435"/>
                </a:lnTo>
                <a:lnTo>
                  <a:pt x="1293034" y="76200"/>
                </a:lnTo>
                <a:lnTo>
                  <a:pt x="1230233" y="96265"/>
                </a:lnTo>
                <a:lnTo>
                  <a:pt x="1168193" y="118618"/>
                </a:lnTo>
                <a:lnTo>
                  <a:pt x="1107059" y="143176"/>
                </a:lnTo>
                <a:lnTo>
                  <a:pt x="1046781" y="169925"/>
                </a:lnTo>
                <a:lnTo>
                  <a:pt x="987583" y="198866"/>
                </a:lnTo>
                <a:lnTo>
                  <a:pt x="929433" y="229997"/>
                </a:lnTo>
                <a:lnTo>
                  <a:pt x="872489" y="263159"/>
                </a:lnTo>
                <a:lnTo>
                  <a:pt x="816784" y="298323"/>
                </a:lnTo>
                <a:lnTo>
                  <a:pt x="762396" y="335597"/>
                </a:lnTo>
                <a:lnTo>
                  <a:pt x="709342" y="374776"/>
                </a:lnTo>
                <a:lnTo>
                  <a:pt x="657780" y="415909"/>
                </a:lnTo>
                <a:lnTo>
                  <a:pt x="607742" y="458850"/>
                </a:lnTo>
                <a:lnTo>
                  <a:pt x="559355" y="503539"/>
                </a:lnTo>
                <a:lnTo>
                  <a:pt x="512492" y="550037"/>
                </a:lnTo>
                <a:lnTo>
                  <a:pt x="467455" y="598138"/>
                </a:lnTo>
                <a:lnTo>
                  <a:pt x="424227" y="647953"/>
                </a:lnTo>
                <a:lnTo>
                  <a:pt x="382762" y="699198"/>
                </a:lnTo>
                <a:lnTo>
                  <a:pt x="343201" y="751966"/>
                </a:lnTo>
                <a:lnTo>
                  <a:pt x="305561" y="806053"/>
                </a:lnTo>
                <a:lnTo>
                  <a:pt x="269922" y="861568"/>
                </a:lnTo>
                <a:lnTo>
                  <a:pt x="236362" y="918337"/>
                </a:lnTo>
                <a:lnTo>
                  <a:pt x="204898" y="976249"/>
                </a:lnTo>
                <a:lnTo>
                  <a:pt x="175482" y="1035288"/>
                </a:lnTo>
                <a:lnTo>
                  <a:pt x="148256" y="1095375"/>
                </a:lnTo>
                <a:lnTo>
                  <a:pt x="123285" y="1156414"/>
                </a:lnTo>
                <a:lnTo>
                  <a:pt x="100504" y="1218311"/>
                </a:lnTo>
                <a:lnTo>
                  <a:pt x="79994" y="1280969"/>
                </a:lnTo>
                <a:lnTo>
                  <a:pt x="61769" y="1344295"/>
                </a:lnTo>
                <a:lnTo>
                  <a:pt x="45846" y="1408318"/>
                </a:lnTo>
                <a:lnTo>
                  <a:pt x="32305" y="1472819"/>
                </a:lnTo>
                <a:lnTo>
                  <a:pt x="21081" y="1537890"/>
                </a:lnTo>
                <a:lnTo>
                  <a:pt x="12239" y="1603248"/>
                </a:lnTo>
                <a:lnTo>
                  <a:pt x="5778" y="1668875"/>
                </a:lnTo>
                <a:lnTo>
                  <a:pt x="1698" y="1734693"/>
                </a:lnTo>
                <a:lnTo>
                  <a:pt x="0" y="1800606"/>
                </a:lnTo>
                <a:lnTo>
                  <a:pt x="37" y="1833562"/>
                </a:lnTo>
                <a:lnTo>
                  <a:pt x="1942" y="1899471"/>
                </a:lnTo>
                <a:lnTo>
                  <a:pt x="6272" y="1965281"/>
                </a:lnTo>
                <a:lnTo>
                  <a:pt x="12942" y="2030904"/>
                </a:lnTo>
                <a:lnTo>
                  <a:pt x="21998" y="2096246"/>
                </a:lnTo>
                <a:lnTo>
                  <a:pt x="33482" y="2161204"/>
                </a:lnTo>
                <a:lnTo>
                  <a:pt x="47249" y="2225732"/>
                </a:lnTo>
                <a:lnTo>
                  <a:pt x="63347" y="2289663"/>
                </a:lnTo>
                <a:lnTo>
                  <a:pt x="81774" y="2352996"/>
                </a:lnTo>
                <a:lnTo>
                  <a:pt x="102516" y="2415591"/>
                </a:lnTo>
                <a:lnTo>
                  <a:pt x="125479" y="2477400"/>
                </a:lnTo>
                <a:lnTo>
                  <a:pt x="150699" y="2538354"/>
                </a:lnTo>
                <a:lnTo>
                  <a:pt x="178079" y="2598310"/>
                </a:lnTo>
                <a:lnTo>
                  <a:pt x="207678" y="2657248"/>
                </a:lnTo>
                <a:lnTo>
                  <a:pt x="239353" y="2715073"/>
                </a:lnTo>
                <a:lnTo>
                  <a:pt x="273145" y="2771725"/>
                </a:lnTo>
                <a:lnTo>
                  <a:pt x="308959" y="2827109"/>
                </a:lnTo>
                <a:lnTo>
                  <a:pt x="346753" y="2881131"/>
                </a:lnTo>
                <a:lnTo>
                  <a:pt x="386480" y="2933745"/>
                </a:lnTo>
                <a:lnTo>
                  <a:pt x="428085" y="2984890"/>
                </a:lnTo>
                <a:lnTo>
                  <a:pt x="471519" y="3034472"/>
                </a:lnTo>
                <a:lnTo>
                  <a:pt x="493950" y="3058668"/>
                </a:lnTo>
                <a:lnTo>
                  <a:pt x="1153461" y="2436368"/>
                </a:lnTo>
                <a:lnTo>
                  <a:pt x="1142245" y="2424271"/>
                </a:lnTo>
                <a:lnTo>
                  <a:pt x="1131268" y="2411984"/>
                </a:lnTo>
                <a:lnTo>
                  <a:pt x="1099744" y="2373905"/>
                </a:lnTo>
                <a:lnTo>
                  <a:pt x="1070276" y="2334133"/>
                </a:lnTo>
                <a:lnTo>
                  <a:pt x="1043058" y="2292859"/>
                </a:lnTo>
                <a:lnTo>
                  <a:pt x="1018079" y="2250201"/>
                </a:lnTo>
                <a:lnTo>
                  <a:pt x="995552" y="2206162"/>
                </a:lnTo>
                <a:lnTo>
                  <a:pt x="975407" y="2161032"/>
                </a:lnTo>
                <a:lnTo>
                  <a:pt x="957726" y="2114829"/>
                </a:lnTo>
                <a:lnTo>
                  <a:pt x="942593" y="2067750"/>
                </a:lnTo>
                <a:lnTo>
                  <a:pt x="930074" y="2019909"/>
                </a:lnTo>
                <a:lnTo>
                  <a:pt x="920162" y="1971421"/>
                </a:lnTo>
                <a:lnTo>
                  <a:pt x="912929" y="1922504"/>
                </a:lnTo>
                <a:lnTo>
                  <a:pt x="908367" y="1873250"/>
                </a:lnTo>
                <a:lnTo>
                  <a:pt x="906496" y="1823858"/>
                </a:lnTo>
                <a:lnTo>
                  <a:pt x="906462" y="1807337"/>
                </a:lnTo>
                <a:lnTo>
                  <a:pt x="906738" y="1790815"/>
                </a:lnTo>
                <a:lnTo>
                  <a:pt x="909320" y="1741439"/>
                </a:lnTo>
                <a:lnTo>
                  <a:pt x="914663" y="1692298"/>
                </a:lnTo>
                <a:lnTo>
                  <a:pt x="922575" y="1643507"/>
                </a:lnTo>
                <a:lnTo>
                  <a:pt x="933237" y="1595197"/>
                </a:lnTo>
                <a:lnTo>
                  <a:pt x="946451" y="1547495"/>
                </a:lnTo>
                <a:lnTo>
                  <a:pt x="962308" y="1500645"/>
                </a:lnTo>
                <a:lnTo>
                  <a:pt x="980614" y="1454658"/>
                </a:lnTo>
                <a:lnTo>
                  <a:pt x="1001456" y="1409866"/>
                </a:lnTo>
                <a:lnTo>
                  <a:pt x="1024667" y="1366186"/>
                </a:lnTo>
                <a:lnTo>
                  <a:pt x="1050234" y="1323887"/>
                </a:lnTo>
                <a:lnTo>
                  <a:pt x="1078023" y="1282954"/>
                </a:lnTo>
                <a:lnTo>
                  <a:pt x="1108080" y="1243699"/>
                </a:lnTo>
                <a:lnTo>
                  <a:pt x="1140253" y="1206118"/>
                </a:lnTo>
                <a:lnTo>
                  <a:pt x="1174353" y="1170293"/>
                </a:lnTo>
                <a:lnTo>
                  <a:pt x="1210357" y="1136396"/>
                </a:lnTo>
                <a:lnTo>
                  <a:pt x="1248183" y="1104606"/>
                </a:lnTo>
                <a:lnTo>
                  <a:pt x="1287637" y="1074848"/>
                </a:lnTo>
                <a:lnTo>
                  <a:pt x="1328743" y="1047329"/>
                </a:lnTo>
                <a:lnTo>
                  <a:pt x="1371266" y="1021969"/>
                </a:lnTo>
                <a:lnTo>
                  <a:pt x="1415057" y="999091"/>
                </a:lnTo>
                <a:lnTo>
                  <a:pt x="1460055" y="978598"/>
                </a:lnTo>
                <a:lnTo>
                  <a:pt x="1506051" y="960600"/>
                </a:lnTo>
                <a:lnTo>
                  <a:pt x="1553003" y="945134"/>
                </a:lnTo>
                <a:lnTo>
                  <a:pt x="1600706" y="932239"/>
                </a:lnTo>
                <a:lnTo>
                  <a:pt x="1649063" y="922004"/>
                </a:lnTo>
                <a:lnTo>
                  <a:pt x="1697964" y="914322"/>
                </a:lnTo>
                <a:lnTo>
                  <a:pt x="1763537" y="908373"/>
                </a:lnTo>
                <a:lnTo>
                  <a:pt x="1812972" y="907034"/>
                </a:lnTo>
                <a:lnTo>
                  <a:pt x="1812972" y="0"/>
                </a:lnTo>
                <a:close/>
              </a:path>
            </a:pathLst>
          </a:custGeom>
          <a:solidFill>
            <a:srgbClr val="EE54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082666" y="7459173"/>
            <a:ext cx="514984" cy="32385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sz="900" spc="-20" dirty="0">
                <a:solidFill>
                  <a:srgbClr val="444444"/>
                </a:solidFill>
                <a:latin typeface="Verdana"/>
                <a:cs typeface="Verdana"/>
              </a:rPr>
              <a:t>Non-</a:t>
            </a:r>
            <a:r>
              <a:rPr sz="900" spc="-25" dirty="0">
                <a:solidFill>
                  <a:srgbClr val="444444"/>
                </a:solidFill>
                <a:latin typeface="Verdana"/>
                <a:cs typeface="Verdana"/>
              </a:rPr>
              <a:t>Veg</a:t>
            </a:r>
            <a:endParaRPr sz="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444444"/>
                </a:solidFill>
                <a:latin typeface="Verdana"/>
                <a:cs typeface="Verdana"/>
              </a:rPr>
              <a:t>37%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010643" y="651662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0"/>
                </a:moveTo>
                <a:lnTo>
                  <a:pt x="0" y="0"/>
                </a:lnTo>
                <a:lnTo>
                  <a:pt x="0" y="114299"/>
                </a:lnTo>
                <a:lnTo>
                  <a:pt x="114300" y="114299"/>
                </a:lnTo>
                <a:lnTo>
                  <a:pt x="114300" y="0"/>
                </a:lnTo>
                <a:close/>
              </a:path>
            </a:pathLst>
          </a:custGeom>
          <a:solidFill>
            <a:srgbClr val="626D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010643" y="669797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0"/>
                </a:moveTo>
                <a:lnTo>
                  <a:pt x="0" y="0"/>
                </a:lnTo>
                <a:lnTo>
                  <a:pt x="0" y="114300"/>
                </a:lnTo>
                <a:lnTo>
                  <a:pt x="114300" y="114300"/>
                </a:lnTo>
                <a:lnTo>
                  <a:pt x="114300" y="0"/>
                </a:lnTo>
                <a:close/>
              </a:path>
            </a:pathLst>
          </a:custGeom>
          <a:solidFill>
            <a:srgbClr val="EE54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file:///C:/Users/L470/Desktop/swiggy-</a:t>
            </a:r>
            <a:r>
              <a:rPr dirty="0"/>
              <a:t>project.html</a:t>
            </a:r>
            <a:r>
              <a:rPr spc="190" dirty="0"/>
              <a:t>  </a:t>
            </a:r>
            <a:fld id="{81D60167-4931-47E6-BA6A-407CBD079E47}" type="slidenum">
              <a:rPr spc="-25" dirty="0"/>
              <a:t>6</a:t>
            </a:fld>
            <a:r>
              <a:rPr spc="-25" dirty="0"/>
              <a:t>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5876" y="189992"/>
            <a:ext cx="15887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6/11/26,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12:59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PM</a:t>
            </a:r>
            <a:r>
              <a:rPr sz="800" spc="4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swiggy-project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6731" y="994918"/>
            <a:ext cx="554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[43]: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8731" y="7248525"/>
            <a:ext cx="767080" cy="424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315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2A3E5F"/>
                </a:solidFill>
                <a:latin typeface="Verdana"/>
                <a:cs typeface="Verdana"/>
              </a:rPr>
              <a:t>3M</a:t>
            </a:r>
            <a:endParaRPr sz="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050" dirty="0">
                <a:solidFill>
                  <a:srgbClr val="2A3E5F"/>
                </a:solidFill>
                <a:latin typeface="Verdana"/>
                <a:cs typeface="Verdana"/>
              </a:rPr>
              <a:t>Price</a:t>
            </a:r>
            <a:r>
              <a:rPr sz="1050" spc="-30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2A3E5F"/>
                </a:solidFill>
                <a:latin typeface="Verdana"/>
                <a:cs typeface="Verdana"/>
              </a:rPr>
              <a:t>(INR)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5955" y="8361426"/>
            <a:ext cx="29781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Segoe UI"/>
                <a:cs typeface="Segoe UI"/>
              </a:rPr>
              <a:t>Quarterly</a:t>
            </a:r>
            <a:r>
              <a:rPr sz="1500" b="1" spc="-105" dirty="0">
                <a:latin typeface="Segoe UI"/>
                <a:cs typeface="Segoe UI"/>
              </a:rPr>
              <a:t> </a:t>
            </a:r>
            <a:r>
              <a:rPr sz="1500" b="1" dirty="0">
                <a:latin typeface="Segoe UI"/>
                <a:cs typeface="Segoe UI"/>
              </a:rPr>
              <a:t>Performance</a:t>
            </a:r>
            <a:r>
              <a:rPr sz="1500" b="1" spc="-95" dirty="0">
                <a:latin typeface="Segoe UI"/>
                <a:cs typeface="Segoe UI"/>
              </a:rPr>
              <a:t> </a:t>
            </a:r>
            <a:r>
              <a:rPr sz="1500" b="1" spc="-10" dirty="0">
                <a:latin typeface="Segoe UI"/>
                <a:cs typeface="Segoe UI"/>
              </a:rPr>
              <a:t>Summary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6731" y="8826245"/>
            <a:ext cx="554990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35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[44]:</a:t>
            </a:r>
            <a:endParaRPr sz="950">
              <a:latin typeface="Consolas"/>
              <a:cs typeface="Consolas"/>
            </a:endParaRPr>
          </a:p>
          <a:p>
            <a:pPr marL="12700">
              <a:lnSpc>
                <a:spcPts val="1135"/>
              </a:lnSpc>
            </a:pP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Out[44]:</a:t>
            </a:r>
            <a:endParaRPr sz="950">
              <a:latin typeface="Consolas"/>
              <a:cs typeface="Consolas"/>
            </a:endParaRPr>
          </a:p>
          <a:p>
            <a:pPr marL="18415">
              <a:lnSpc>
                <a:spcPct val="100000"/>
              </a:lnSpc>
              <a:spcBef>
                <a:spcPts val="135"/>
              </a:spcBef>
            </a:pPr>
            <a:r>
              <a:rPr sz="950" b="1" spc="-10" dirty="0">
                <a:latin typeface="Segoe UI"/>
                <a:cs typeface="Segoe UI"/>
              </a:rPr>
              <a:t>Quarter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2827" y="10068559"/>
            <a:ext cx="23253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10" dirty="0">
                <a:latin typeface="Segoe UI"/>
                <a:cs typeface="Segoe UI"/>
              </a:rPr>
              <a:t>Total_Sales</a:t>
            </a:r>
            <a:r>
              <a:rPr sz="950" b="1" spc="30" dirty="0">
                <a:latin typeface="Segoe UI"/>
                <a:cs typeface="Segoe UI"/>
              </a:rPr>
              <a:t> </a:t>
            </a:r>
            <a:r>
              <a:rPr sz="950" b="1" spc="-10" dirty="0">
                <a:latin typeface="Segoe UI"/>
                <a:cs typeface="Segoe UI"/>
              </a:rPr>
              <a:t>Average_Rating</a:t>
            </a:r>
            <a:r>
              <a:rPr sz="950" b="1" spc="20" dirty="0">
                <a:latin typeface="Segoe UI"/>
                <a:cs typeface="Segoe UI"/>
              </a:rPr>
              <a:t> </a:t>
            </a:r>
            <a:r>
              <a:rPr sz="950" b="1" spc="-10" dirty="0">
                <a:latin typeface="Segoe UI"/>
                <a:cs typeface="Segoe UI"/>
              </a:rPr>
              <a:t>Total_Orders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14272" y="870203"/>
            <a:ext cx="13030200" cy="1582420"/>
          </a:xfrm>
          <a:custGeom>
            <a:avLst/>
            <a:gdLst/>
            <a:ahLst/>
            <a:cxnLst/>
            <a:rect l="l" t="t" r="r" b="b"/>
            <a:pathLst>
              <a:path w="13030200" h="1582420">
                <a:moveTo>
                  <a:pt x="13030200" y="0"/>
                </a:moveTo>
                <a:lnTo>
                  <a:pt x="0" y="0"/>
                </a:lnTo>
                <a:lnTo>
                  <a:pt x="0" y="83820"/>
                </a:lnTo>
                <a:lnTo>
                  <a:pt x="0" y="1582166"/>
                </a:lnTo>
                <a:lnTo>
                  <a:pt x="38404" y="1582166"/>
                </a:lnTo>
                <a:lnTo>
                  <a:pt x="38404" y="1085342"/>
                </a:lnTo>
                <a:lnTo>
                  <a:pt x="12961620" y="1085342"/>
                </a:lnTo>
                <a:lnTo>
                  <a:pt x="12961620" y="1582166"/>
                </a:lnTo>
                <a:lnTo>
                  <a:pt x="13030200" y="1582166"/>
                </a:lnTo>
                <a:lnTo>
                  <a:pt x="13030200" y="83820"/>
                </a:lnTo>
                <a:lnTo>
                  <a:pt x="1303020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25955" y="525271"/>
            <a:ext cx="4018279" cy="1389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Segoe UI"/>
                <a:cs typeface="Segoe UI"/>
              </a:rPr>
              <a:t>Total</a:t>
            </a:r>
            <a:r>
              <a:rPr sz="1500" b="1" spc="-45" dirty="0">
                <a:latin typeface="Segoe UI"/>
                <a:cs typeface="Segoe UI"/>
              </a:rPr>
              <a:t> </a:t>
            </a:r>
            <a:r>
              <a:rPr sz="1500" b="1" dirty="0">
                <a:latin typeface="Segoe UI"/>
                <a:cs typeface="Segoe UI"/>
              </a:rPr>
              <a:t>Sales</a:t>
            </a:r>
            <a:r>
              <a:rPr sz="1500" b="1" spc="-35" dirty="0">
                <a:latin typeface="Segoe UI"/>
                <a:cs typeface="Segoe UI"/>
              </a:rPr>
              <a:t> </a:t>
            </a:r>
            <a:r>
              <a:rPr sz="1500" b="1" dirty="0">
                <a:latin typeface="Segoe UI"/>
                <a:cs typeface="Segoe UI"/>
              </a:rPr>
              <a:t>by</a:t>
            </a:r>
            <a:r>
              <a:rPr sz="1500" b="1" spc="-40" dirty="0">
                <a:latin typeface="Segoe UI"/>
                <a:cs typeface="Segoe UI"/>
              </a:rPr>
              <a:t> </a:t>
            </a:r>
            <a:r>
              <a:rPr sz="1500" b="1" spc="-10" dirty="0">
                <a:latin typeface="Segoe UI"/>
                <a:cs typeface="Segoe UI"/>
              </a:rPr>
              <a:t>State</a:t>
            </a:r>
            <a:endParaRPr sz="1500">
              <a:latin typeface="Segoe UI"/>
              <a:cs typeface="Segoe UI"/>
            </a:endParaRPr>
          </a:p>
          <a:p>
            <a:pPr marL="26034" marR="5080">
              <a:lnSpc>
                <a:spcPct val="108400"/>
              </a:lnSpc>
              <a:spcBef>
                <a:spcPts val="1295"/>
              </a:spcBef>
              <a:tabLst>
                <a:tab pos="1219835" algn="l"/>
              </a:tabLst>
            </a:pP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fig</a:t>
            </a:r>
            <a:r>
              <a:rPr sz="950" spc="-15" dirty="0">
                <a:solidFill>
                  <a:srgbClr val="202020"/>
                </a:solidFill>
                <a:latin typeface="Consolas"/>
                <a:cs typeface="Consolas"/>
              </a:rPr>
              <a:t> 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b="1" spc="-15" dirty="0">
                <a:solidFill>
                  <a:srgbClr val="AA21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px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bar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	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groupby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"State"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55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as_index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nsolas"/>
                <a:cs typeface="Consolas"/>
              </a:rPr>
              <a:t>False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"Price (INR)"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sum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  <a:p>
            <a:pPr marL="26034" marR="667385" indent="264795">
              <a:lnSpc>
                <a:spcPct val="107400"/>
              </a:lnSpc>
              <a:spcBef>
                <a:spcPts val="250"/>
              </a:spcBef>
              <a:tabLst>
                <a:tab pos="1419225" algn="l"/>
              </a:tabLst>
            </a:pP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sort_values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"Price</a:t>
            </a:r>
            <a:r>
              <a:rPr sz="950" spc="-35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(INR)"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30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ascending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b="1" dirty="0">
                <a:solidFill>
                  <a:srgbClr val="008000"/>
                </a:solidFill>
                <a:latin typeface="Consolas"/>
                <a:cs typeface="Consolas"/>
              </a:rPr>
              <a:t>False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r>
              <a:rPr sz="950" spc="-35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spc="-60" dirty="0">
                <a:solidFill>
                  <a:srgbClr val="0054AA"/>
                </a:solidFill>
                <a:latin typeface="Consolas"/>
                <a:cs typeface="Consolas"/>
              </a:rPr>
              <a:t>,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x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"Price</a:t>
            </a:r>
            <a:r>
              <a:rPr sz="950" spc="-75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(INR)"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	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y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"State"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endParaRPr sz="950">
              <a:latin typeface="Consolas"/>
              <a:cs typeface="Consolas"/>
            </a:endParaRPr>
          </a:p>
          <a:p>
            <a:pPr marL="26034" marR="1066800">
              <a:lnSpc>
                <a:spcPct val="108400"/>
              </a:lnSpc>
              <a:tabLst>
                <a:tab pos="1419225" algn="l"/>
              </a:tabLst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orientation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"h"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	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title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"Revenue</a:t>
            </a:r>
            <a:r>
              <a:rPr sz="950" spc="-65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by</a:t>
            </a:r>
            <a:r>
              <a:rPr sz="950" spc="-6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B92020"/>
                </a:solidFill>
                <a:latin typeface="Consolas"/>
                <a:cs typeface="Consolas"/>
              </a:rPr>
              <a:t>State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(INR)"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452626" y="1955558"/>
            <a:ext cx="12923520" cy="497205"/>
          </a:xfrm>
          <a:custGeom>
            <a:avLst/>
            <a:gdLst/>
            <a:ahLst/>
            <a:cxnLst/>
            <a:rect l="l" t="t" r="r" b="b"/>
            <a:pathLst>
              <a:path w="12923519" h="497205">
                <a:moveTo>
                  <a:pt x="12923266" y="0"/>
                </a:moveTo>
                <a:lnTo>
                  <a:pt x="0" y="0"/>
                </a:lnTo>
                <a:lnTo>
                  <a:pt x="0" y="333743"/>
                </a:lnTo>
                <a:lnTo>
                  <a:pt x="0" y="496811"/>
                </a:lnTo>
                <a:lnTo>
                  <a:pt x="12923266" y="496811"/>
                </a:lnTo>
                <a:lnTo>
                  <a:pt x="12923266" y="333743"/>
                </a:lnTo>
                <a:lnTo>
                  <a:pt x="12923266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52625" y="1932177"/>
            <a:ext cx="4909185" cy="732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950" spc="-5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fig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update_layout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height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600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95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yaxis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dict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autorange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"reversed"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))</a:t>
            </a:r>
            <a:r>
              <a:rPr sz="950" spc="95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fig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show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  <a:p>
            <a:pPr marL="405130">
              <a:lnSpc>
                <a:spcPct val="100000"/>
              </a:lnSpc>
              <a:spcBef>
                <a:spcPts val="300"/>
              </a:spcBef>
            </a:pPr>
            <a:r>
              <a:rPr sz="1250" dirty="0">
                <a:solidFill>
                  <a:srgbClr val="2A3E5F"/>
                </a:solidFill>
                <a:latin typeface="Verdana"/>
                <a:cs typeface="Verdana"/>
              </a:rPr>
              <a:t>Revenue</a:t>
            </a:r>
            <a:r>
              <a:rPr sz="1250" spc="-25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2A3E5F"/>
                </a:solidFill>
                <a:latin typeface="Verdana"/>
                <a:cs typeface="Verdana"/>
              </a:rPr>
              <a:t>by</a:t>
            </a:r>
            <a:r>
              <a:rPr sz="1250" spc="-15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2A3E5F"/>
                </a:solidFill>
                <a:latin typeface="Verdana"/>
                <a:cs typeface="Verdana"/>
              </a:rPr>
              <a:t>State</a:t>
            </a:r>
            <a:r>
              <a:rPr sz="1250" spc="-25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2A3E5F"/>
                </a:solidFill>
                <a:latin typeface="Verdana"/>
                <a:cs typeface="Verdana"/>
              </a:rPr>
              <a:t>(INR)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05128" y="861059"/>
            <a:ext cx="13048615" cy="1600835"/>
          </a:xfrm>
          <a:custGeom>
            <a:avLst/>
            <a:gdLst/>
            <a:ahLst/>
            <a:cxnLst/>
            <a:rect l="l" t="t" r="r" b="b"/>
            <a:pathLst>
              <a:path w="13048615" h="1600835">
                <a:moveTo>
                  <a:pt x="13048475" y="0"/>
                </a:moveTo>
                <a:lnTo>
                  <a:pt x="13039344" y="0"/>
                </a:lnTo>
                <a:lnTo>
                  <a:pt x="13039344" y="9144"/>
                </a:lnTo>
                <a:lnTo>
                  <a:pt x="13039344" y="92964"/>
                </a:lnTo>
                <a:lnTo>
                  <a:pt x="13039344" y="1591310"/>
                </a:lnTo>
                <a:lnTo>
                  <a:pt x="9144" y="1591310"/>
                </a:lnTo>
                <a:lnTo>
                  <a:pt x="9144" y="92964"/>
                </a:lnTo>
                <a:lnTo>
                  <a:pt x="9144" y="9144"/>
                </a:lnTo>
                <a:lnTo>
                  <a:pt x="13039344" y="9144"/>
                </a:lnTo>
                <a:lnTo>
                  <a:pt x="13039344" y="0"/>
                </a:lnTo>
                <a:lnTo>
                  <a:pt x="9144" y="0"/>
                </a:lnTo>
                <a:lnTo>
                  <a:pt x="0" y="0"/>
                </a:lnTo>
                <a:lnTo>
                  <a:pt x="0" y="9144"/>
                </a:lnTo>
                <a:lnTo>
                  <a:pt x="0" y="92964"/>
                </a:lnTo>
                <a:lnTo>
                  <a:pt x="0" y="1591310"/>
                </a:lnTo>
                <a:lnTo>
                  <a:pt x="0" y="1600454"/>
                </a:lnTo>
                <a:lnTo>
                  <a:pt x="9144" y="1600454"/>
                </a:lnTo>
                <a:lnTo>
                  <a:pt x="13039344" y="1600454"/>
                </a:lnTo>
                <a:lnTo>
                  <a:pt x="13048475" y="1600454"/>
                </a:lnTo>
                <a:lnTo>
                  <a:pt x="13048475" y="1591310"/>
                </a:lnTo>
                <a:lnTo>
                  <a:pt x="13048475" y="92964"/>
                </a:lnTo>
                <a:lnTo>
                  <a:pt x="13048475" y="9144"/>
                </a:lnTo>
                <a:lnTo>
                  <a:pt x="13048475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409700" y="8627109"/>
            <a:ext cx="13039725" cy="1440180"/>
          </a:xfrm>
          <a:prstGeom prst="rect">
            <a:avLst/>
          </a:prstGeom>
          <a:solidFill>
            <a:srgbClr val="F5F5F5"/>
          </a:solidFill>
          <a:ln w="9143">
            <a:solidFill>
              <a:srgbClr val="DFDFDF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42545" marR="8877300">
              <a:lnSpc>
                <a:spcPct val="107900"/>
              </a:lnSpc>
              <a:spcBef>
                <a:spcPts val="520"/>
              </a:spcBef>
              <a:tabLst>
                <a:tab pos="1633855" algn="l"/>
              </a:tabLst>
            </a:pP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"Order_Date"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b="1" spc="-20" dirty="0">
                <a:solidFill>
                  <a:srgbClr val="AA21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pd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to_datetime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"Order</a:t>
            </a:r>
            <a:r>
              <a:rPr sz="950" spc="-25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Date"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])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"Quarter"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spc="-50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b="1" spc="-50" dirty="0">
                <a:solidFill>
                  <a:srgbClr val="AA21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"Order_Date"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dt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to_period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"Q"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astype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str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quarterly_summary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	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groupby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"Quarter"</a:t>
            </a:r>
            <a:r>
              <a:rPr sz="950" spc="3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25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as_index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b="1" spc="-10" dirty="0">
                <a:solidFill>
                  <a:srgbClr val="008000"/>
                </a:solidFill>
                <a:latin typeface="Consolas"/>
                <a:cs typeface="Consolas"/>
              </a:rPr>
              <a:t>False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  <a:p>
            <a:pPr marL="42545">
              <a:lnSpc>
                <a:spcPct val="100000"/>
              </a:lnSpc>
              <a:spcBef>
                <a:spcPts val="95"/>
              </a:spcBef>
            </a:pP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agg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endParaRPr sz="950">
              <a:latin typeface="Consolas"/>
              <a:cs typeface="Consolas"/>
            </a:endParaRPr>
          </a:p>
          <a:p>
            <a:pPr marL="572770" marR="10136505">
              <a:lnSpc>
                <a:spcPct val="118900"/>
              </a:lnSpc>
              <a:spcBef>
                <a:spcPts val="130"/>
              </a:spcBef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Total_Sales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"Price</a:t>
            </a:r>
            <a:r>
              <a:rPr sz="950" spc="-2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(INR)"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"sum"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r>
              <a:rPr sz="950" spc="-15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0054AA"/>
                </a:solidFill>
                <a:latin typeface="Consolas"/>
                <a:cs typeface="Consolas"/>
              </a:rPr>
              <a:t>,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Average_Rating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"Rating"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"mean"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r>
              <a:rPr sz="950" spc="90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0054AA"/>
                </a:solidFill>
                <a:latin typeface="Consolas"/>
                <a:cs typeface="Consolas"/>
              </a:rPr>
              <a:t>,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Total_Orders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"Order_Date"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"count"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  <a:p>
            <a:pPr marL="307975">
              <a:lnSpc>
                <a:spcPct val="100000"/>
              </a:lnSpc>
              <a:spcBef>
                <a:spcPts val="219"/>
              </a:spcBef>
            </a:pPr>
            <a:r>
              <a:rPr sz="950" spc="-5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382649" y="7018908"/>
            <a:ext cx="101600" cy="342265"/>
          </a:xfrm>
          <a:custGeom>
            <a:avLst/>
            <a:gdLst/>
            <a:ahLst/>
            <a:cxnLst/>
            <a:rect l="l" t="t" r="r" b="b"/>
            <a:pathLst>
              <a:path w="101600" h="342265">
                <a:moveTo>
                  <a:pt x="94868" y="280288"/>
                </a:moveTo>
                <a:lnTo>
                  <a:pt x="78457" y="280288"/>
                </a:lnTo>
                <a:lnTo>
                  <a:pt x="82295" y="282448"/>
                </a:lnTo>
                <a:lnTo>
                  <a:pt x="86656" y="289051"/>
                </a:lnTo>
                <a:lnTo>
                  <a:pt x="88296" y="291591"/>
                </a:lnTo>
                <a:lnTo>
                  <a:pt x="89446" y="296290"/>
                </a:lnTo>
                <a:lnTo>
                  <a:pt x="89788" y="297814"/>
                </a:lnTo>
                <a:lnTo>
                  <a:pt x="89741" y="311658"/>
                </a:lnTo>
                <a:lnTo>
                  <a:pt x="76962" y="340995"/>
                </a:lnTo>
                <a:lnTo>
                  <a:pt x="76962" y="341884"/>
                </a:lnTo>
                <a:lnTo>
                  <a:pt x="93217" y="341884"/>
                </a:lnTo>
                <a:lnTo>
                  <a:pt x="95757" y="336041"/>
                </a:lnTo>
                <a:lnTo>
                  <a:pt x="97662" y="330453"/>
                </a:lnTo>
                <a:lnTo>
                  <a:pt x="99059" y="324738"/>
                </a:lnTo>
                <a:lnTo>
                  <a:pt x="100308" y="319246"/>
                </a:lnTo>
                <a:lnTo>
                  <a:pt x="100888" y="313563"/>
                </a:lnTo>
                <a:lnTo>
                  <a:pt x="100761" y="297814"/>
                </a:lnTo>
                <a:lnTo>
                  <a:pt x="100203" y="293624"/>
                </a:lnTo>
                <a:lnTo>
                  <a:pt x="98678" y="289051"/>
                </a:lnTo>
                <a:lnTo>
                  <a:pt x="97028" y="284352"/>
                </a:lnTo>
                <a:lnTo>
                  <a:pt x="94868" y="280288"/>
                </a:lnTo>
                <a:close/>
              </a:path>
              <a:path w="101600" h="342265">
                <a:moveTo>
                  <a:pt x="22097" y="270637"/>
                </a:moveTo>
                <a:lnTo>
                  <a:pt x="6731" y="270637"/>
                </a:lnTo>
                <a:lnTo>
                  <a:pt x="4825" y="275082"/>
                </a:lnTo>
                <a:lnTo>
                  <a:pt x="3146" y="280288"/>
                </a:lnTo>
                <a:lnTo>
                  <a:pt x="634" y="291591"/>
                </a:lnTo>
                <a:lnTo>
                  <a:pt x="0" y="297814"/>
                </a:lnTo>
                <a:lnTo>
                  <a:pt x="0" y="304673"/>
                </a:lnTo>
                <a:lnTo>
                  <a:pt x="381" y="310769"/>
                </a:lnTo>
                <a:lnTo>
                  <a:pt x="478" y="312316"/>
                </a:lnTo>
                <a:lnTo>
                  <a:pt x="1848" y="318897"/>
                </a:lnTo>
                <a:lnTo>
                  <a:pt x="1920" y="319246"/>
                </a:lnTo>
                <a:lnTo>
                  <a:pt x="4339" y="325461"/>
                </a:lnTo>
                <a:lnTo>
                  <a:pt x="7746" y="330962"/>
                </a:lnTo>
                <a:lnTo>
                  <a:pt x="12953" y="337820"/>
                </a:lnTo>
                <a:lnTo>
                  <a:pt x="19684" y="341375"/>
                </a:lnTo>
                <a:lnTo>
                  <a:pt x="34925" y="341375"/>
                </a:lnTo>
                <a:lnTo>
                  <a:pt x="40766" y="339216"/>
                </a:lnTo>
                <a:lnTo>
                  <a:pt x="49522" y="330962"/>
                </a:lnTo>
                <a:lnTo>
                  <a:pt x="49839" y="330453"/>
                </a:lnTo>
                <a:lnTo>
                  <a:pt x="51120" y="327787"/>
                </a:lnTo>
                <a:lnTo>
                  <a:pt x="22097" y="327787"/>
                </a:lnTo>
                <a:lnTo>
                  <a:pt x="18414" y="325754"/>
                </a:lnTo>
                <a:lnTo>
                  <a:pt x="15493" y="321563"/>
                </a:lnTo>
                <a:lnTo>
                  <a:pt x="12572" y="317246"/>
                </a:lnTo>
                <a:lnTo>
                  <a:pt x="11175" y="311658"/>
                </a:lnTo>
                <a:lnTo>
                  <a:pt x="11279" y="297814"/>
                </a:lnTo>
                <a:lnTo>
                  <a:pt x="22097" y="271525"/>
                </a:lnTo>
                <a:lnTo>
                  <a:pt x="22097" y="270637"/>
                </a:lnTo>
                <a:close/>
              </a:path>
              <a:path w="101600" h="342265">
                <a:moveTo>
                  <a:pt x="75184" y="266700"/>
                </a:moveTo>
                <a:lnTo>
                  <a:pt x="64388" y="266700"/>
                </a:lnTo>
                <a:lnTo>
                  <a:pt x="58928" y="268604"/>
                </a:lnTo>
                <a:lnTo>
                  <a:pt x="55117" y="272288"/>
                </a:lnTo>
                <a:lnTo>
                  <a:pt x="51181" y="275844"/>
                </a:lnTo>
                <a:lnTo>
                  <a:pt x="42798" y="306832"/>
                </a:lnTo>
                <a:lnTo>
                  <a:pt x="41898" y="311530"/>
                </a:lnTo>
                <a:lnTo>
                  <a:pt x="30606" y="327787"/>
                </a:lnTo>
                <a:lnTo>
                  <a:pt x="51120" y="327787"/>
                </a:lnTo>
                <a:lnTo>
                  <a:pt x="52583" y="324738"/>
                </a:lnTo>
                <a:lnTo>
                  <a:pt x="52704" y="324485"/>
                </a:lnTo>
                <a:lnTo>
                  <a:pt x="54609" y="315849"/>
                </a:lnTo>
                <a:lnTo>
                  <a:pt x="55472" y="311658"/>
                </a:lnTo>
                <a:lnTo>
                  <a:pt x="56134" y="307466"/>
                </a:lnTo>
                <a:lnTo>
                  <a:pt x="56768" y="303657"/>
                </a:lnTo>
                <a:lnTo>
                  <a:pt x="57276" y="299847"/>
                </a:lnTo>
                <a:lnTo>
                  <a:pt x="57984" y="296545"/>
                </a:lnTo>
                <a:lnTo>
                  <a:pt x="58038" y="296290"/>
                </a:lnTo>
                <a:lnTo>
                  <a:pt x="58928" y="293115"/>
                </a:lnTo>
                <a:lnTo>
                  <a:pt x="60003" y="289051"/>
                </a:lnTo>
                <a:lnTo>
                  <a:pt x="68594" y="280288"/>
                </a:lnTo>
                <a:lnTo>
                  <a:pt x="94868" y="280288"/>
                </a:lnTo>
                <a:lnTo>
                  <a:pt x="92075" y="276860"/>
                </a:lnTo>
                <a:lnTo>
                  <a:pt x="89534" y="273685"/>
                </a:lnTo>
                <a:lnTo>
                  <a:pt x="86359" y="271145"/>
                </a:lnTo>
                <a:lnTo>
                  <a:pt x="78993" y="267588"/>
                </a:lnTo>
                <a:lnTo>
                  <a:pt x="75184" y="266700"/>
                </a:lnTo>
                <a:close/>
              </a:path>
              <a:path w="101600" h="342265">
                <a:moveTo>
                  <a:pt x="36448" y="246887"/>
                </a:moveTo>
                <a:lnTo>
                  <a:pt x="26034" y="246887"/>
                </a:lnTo>
                <a:lnTo>
                  <a:pt x="26034" y="255142"/>
                </a:lnTo>
                <a:lnTo>
                  <a:pt x="36448" y="255142"/>
                </a:lnTo>
                <a:lnTo>
                  <a:pt x="36448" y="246887"/>
                </a:lnTo>
                <a:close/>
              </a:path>
              <a:path w="101600" h="342265">
                <a:moveTo>
                  <a:pt x="98551" y="209169"/>
                </a:moveTo>
                <a:lnTo>
                  <a:pt x="87503" y="209169"/>
                </a:lnTo>
                <a:lnTo>
                  <a:pt x="87503" y="209803"/>
                </a:lnTo>
                <a:lnTo>
                  <a:pt x="87884" y="210820"/>
                </a:lnTo>
                <a:lnTo>
                  <a:pt x="88391" y="212344"/>
                </a:lnTo>
                <a:lnTo>
                  <a:pt x="89026" y="214502"/>
                </a:lnTo>
                <a:lnTo>
                  <a:pt x="89534" y="216662"/>
                </a:lnTo>
                <a:lnTo>
                  <a:pt x="89915" y="218821"/>
                </a:lnTo>
                <a:lnTo>
                  <a:pt x="89915" y="224282"/>
                </a:lnTo>
                <a:lnTo>
                  <a:pt x="89407" y="226822"/>
                </a:lnTo>
                <a:lnTo>
                  <a:pt x="87884" y="230124"/>
                </a:lnTo>
                <a:lnTo>
                  <a:pt x="86613" y="231521"/>
                </a:lnTo>
                <a:lnTo>
                  <a:pt x="84835" y="232410"/>
                </a:lnTo>
                <a:lnTo>
                  <a:pt x="82931" y="233552"/>
                </a:lnTo>
                <a:lnTo>
                  <a:pt x="80898" y="234061"/>
                </a:lnTo>
                <a:lnTo>
                  <a:pt x="77660" y="234441"/>
                </a:lnTo>
                <a:lnTo>
                  <a:pt x="76581" y="234441"/>
                </a:lnTo>
                <a:lnTo>
                  <a:pt x="73659" y="234569"/>
                </a:lnTo>
                <a:lnTo>
                  <a:pt x="5079" y="234569"/>
                </a:lnTo>
                <a:lnTo>
                  <a:pt x="5079" y="246887"/>
                </a:lnTo>
                <a:lnTo>
                  <a:pt x="84200" y="246887"/>
                </a:lnTo>
                <a:lnTo>
                  <a:pt x="90678" y="244983"/>
                </a:lnTo>
                <a:lnTo>
                  <a:pt x="94614" y="241046"/>
                </a:lnTo>
                <a:lnTo>
                  <a:pt x="98678" y="237109"/>
                </a:lnTo>
                <a:lnTo>
                  <a:pt x="100710" y="231521"/>
                </a:lnTo>
                <a:lnTo>
                  <a:pt x="100710" y="221869"/>
                </a:lnTo>
                <a:lnTo>
                  <a:pt x="100456" y="219455"/>
                </a:lnTo>
                <a:lnTo>
                  <a:pt x="99765" y="214502"/>
                </a:lnTo>
                <a:lnTo>
                  <a:pt x="99694" y="213995"/>
                </a:lnTo>
                <a:lnTo>
                  <a:pt x="99187" y="211454"/>
                </a:lnTo>
                <a:lnTo>
                  <a:pt x="98551" y="209169"/>
                </a:lnTo>
                <a:close/>
              </a:path>
              <a:path w="101600" h="342265">
                <a:moveTo>
                  <a:pt x="36448" y="209169"/>
                </a:moveTo>
                <a:lnTo>
                  <a:pt x="26034" y="209169"/>
                </a:lnTo>
                <a:lnTo>
                  <a:pt x="26034" y="234569"/>
                </a:lnTo>
                <a:lnTo>
                  <a:pt x="36448" y="234569"/>
                </a:lnTo>
                <a:lnTo>
                  <a:pt x="36448" y="209169"/>
                </a:lnTo>
                <a:close/>
              </a:path>
              <a:path w="101600" h="342265">
                <a:moveTo>
                  <a:pt x="60832" y="149225"/>
                </a:moveTo>
                <a:lnTo>
                  <a:pt x="50926" y="149225"/>
                </a:lnTo>
                <a:lnTo>
                  <a:pt x="50954" y="149733"/>
                </a:lnTo>
                <a:lnTo>
                  <a:pt x="51056" y="151637"/>
                </a:lnTo>
                <a:lnTo>
                  <a:pt x="51165" y="153670"/>
                </a:lnTo>
                <a:lnTo>
                  <a:pt x="51267" y="155575"/>
                </a:lnTo>
                <a:lnTo>
                  <a:pt x="56514" y="185292"/>
                </a:lnTo>
                <a:lnTo>
                  <a:pt x="58419" y="189737"/>
                </a:lnTo>
                <a:lnTo>
                  <a:pt x="61087" y="193166"/>
                </a:lnTo>
                <a:lnTo>
                  <a:pt x="64515" y="195579"/>
                </a:lnTo>
                <a:lnTo>
                  <a:pt x="67944" y="197865"/>
                </a:lnTo>
                <a:lnTo>
                  <a:pt x="72516" y="199136"/>
                </a:lnTo>
                <a:lnTo>
                  <a:pt x="84835" y="199136"/>
                </a:lnTo>
                <a:lnTo>
                  <a:pt x="99501" y="186436"/>
                </a:lnTo>
                <a:lnTo>
                  <a:pt x="73406" y="186436"/>
                </a:lnTo>
                <a:lnTo>
                  <a:pt x="70484" y="185292"/>
                </a:lnTo>
                <a:lnTo>
                  <a:pt x="68453" y="183134"/>
                </a:lnTo>
                <a:lnTo>
                  <a:pt x="66293" y="180975"/>
                </a:lnTo>
                <a:lnTo>
                  <a:pt x="64769" y="178053"/>
                </a:lnTo>
                <a:lnTo>
                  <a:pt x="63753" y="174498"/>
                </a:lnTo>
                <a:lnTo>
                  <a:pt x="63019" y="172085"/>
                </a:lnTo>
                <a:lnTo>
                  <a:pt x="62942" y="171830"/>
                </a:lnTo>
                <a:lnTo>
                  <a:pt x="62864" y="171576"/>
                </a:lnTo>
                <a:lnTo>
                  <a:pt x="62229" y="167512"/>
                </a:lnTo>
                <a:lnTo>
                  <a:pt x="61934" y="163575"/>
                </a:lnTo>
                <a:lnTo>
                  <a:pt x="61848" y="162433"/>
                </a:lnTo>
                <a:lnTo>
                  <a:pt x="61340" y="157352"/>
                </a:lnTo>
                <a:lnTo>
                  <a:pt x="61239" y="155575"/>
                </a:lnTo>
                <a:lnTo>
                  <a:pt x="61130" y="153670"/>
                </a:lnTo>
                <a:lnTo>
                  <a:pt x="61043" y="152273"/>
                </a:lnTo>
                <a:lnTo>
                  <a:pt x="60929" y="150622"/>
                </a:lnTo>
                <a:lnTo>
                  <a:pt x="60832" y="149225"/>
                </a:lnTo>
                <a:close/>
              </a:path>
              <a:path w="101600" h="342265">
                <a:moveTo>
                  <a:pt x="99187" y="136905"/>
                </a:moveTo>
                <a:lnTo>
                  <a:pt x="44831" y="136905"/>
                </a:lnTo>
                <a:lnTo>
                  <a:pt x="40893" y="137667"/>
                </a:lnTo>
                <a:lnTo>
                  <a:pt x="24841" y="158750"/>
                </a:lnTo>
                <a:lnTo>
                  <a:pt x="24764" y="159130"/>
                </a:lnTo>
                <a:lnTo>
                  <a:pt x="24387" y="162433"/>
                </a:lnTo>
                <a:lnTo>
                  <a:pt x="24358" y="162687"/>
                </a:lnTo>
                <a:lnTo>
                  <a:pt x="24256" y="173227"/>
                </a:lnTo>
                <a:lnTo>
                  <a:pt x="27485" y="191897"/>
                </a:lnTo>
                <a:lnTo>
                  <a:pt x="27585" y="192277"/>
                </a:lnTo>
                <a:lnTo>
                  <a:pt x="27685" y="192659"/>
                </a:lnTo>
                <a:lnTo>
                  <a:pt x="40131" y="192659"/>
                </a:lnTo>
                <a:lnTo>
                  <a:pt x="40131" y="191897"/>
                </a:lnTo>
                <a:lnTo>
                  <a:pt x="38481" y="187705"/>
                </a:lnTo>
                <a:lnTo>
                  <a:pt x="37337" y="183641"/>
                </a:lnTo>
                <a:lnTo>
                  <a:pt x="35671" y="176149"/>
                </a:lnTo>
                <a:lnTo>
                  <a:pt x="35559" y="175640"/>
                </a:lnTo>
                <a:lnTo>
                  <a:pt x="35301" y="173227"/>
                </a:lnTo>
                <a:lnTo>
                  <a:pt x="35178" y="166115"/>
                </a:lnTo>
                <a:lnTo>
                  <a:pt x="35306" y="163575"/>
                </a:lnTo>
                <a:lnTo>
                  <a:pt x="36007" y="159130"/>
                </a:lnTo>
                <a:lnTo>
                  <a:pt x="36067" y="158750"/>
                </a:lnTo>
                <a:lnTo>
                  <a:pt x="36703" y="156590"/>
                </a:lnTo>
                <a:lnTo>
                  <a:pt x="37718" y="154939"/>
                </a:lnTo>
                <a:lnTo>
                  <a:pt x="38734" y="153035"/>
                </a:lnTo>
                <a:lnTo>
                  <a:pt x="40259" y="151637"/>
                </a:lnTo>
                <a:lnTo>
                  <a:pt x="42037" y="150622"/>
                </a:lnTo>
                <a:lnTo>
                  <a:pt x="43941" y="149733"/>
                </a:lnTo>
                <a:lnTo>
                  <a:pt x="46228" y="149225"/>
                </a:lnTo>
                <a:lnTo>
                  <a:pt x="99187" y="149225"/>
                </a:lnTo>
                <a:lnTo>
                  <a:pt x="99187" y="136905"/>
                </a:lnTo>
                <a:close/>
              </a:path>
              <a:path w="101600" h="342265">
                <a:moveTo>
                  <a:pt x="91439" y="149225"/>
                </a:moveTo>
                <a:lnTo>
                  <a:pt x="81279" y="149225"/>
                </a:lnTo>
                <a:lnTo>
                  <a:pt x="83565" y="152273"/>
                </a:lnTo>
                <a:lnTo>
                  <a:pt x="85597" y="155575"/>
                </a:lnTo>
                <a:lnTo>
                  <a:pt x="88782" y="162433"/>
                </a:lnTo>
                <a:lnTo>
                  <a:pt x="88900" y="162687"/>
                </a:lnTo>
                <a:lnTo>
                  <a:pt x="89674" y="166115"/>
                </a:lnTo>
                <a:lnTo>
                  <a:pt x="89788" y="176149"/>
                </a:lnTo>
                <a:lnTo>
                  <a:pt x="88871" y="179704"/>
                </a:lnTo>
                <a:lnTo>
                  <a:pt x="88772" y="180086"/>
                </a:lnTo>
                <a:lnTo>
                  <a:pt x="84347" y="185292"/>
                </a:lnTo>
                <a:lnTo>
                  <a:pt x="84150" y="185292"/>
                </a:lnTo>
                <a:lnTo>
                  <a:pt x="81406" y="186436"/>
                </a:lnTo>
                <a:lnTo>
                  <a:pt x="99501" y="186436"/>
                </a:lnTo>
                <a:lnTo>
                  <a:pt x="101218" y="181990"/>
                </a:lnTo>
                <a:lnTo>
                  <a:pt x="101197" y="171576"/>
                </a:lnTo>
                <a:lnTo>
                  <a:pt x="101007" y="169290"/>
                </a:lnTo>
                <a:lnTo>
                  <a:pt x="100964" y="168783"/>
                </a:lnTo>
                <a:lnTo>
                  <a:pt x="100203" y="166115"/>
                </a:lnTo>
                <a:lnTo>
                  <a:pt x="99598" y="163575"/>
                </a:lnTo>
                <a:lnTo>
                  <a:pt x="98678" y="161036"/>
                </a:lnTo>
                <a:lnTo>
                  <a:pt x="97726" y="159130"/>
                </a:lnTo>
                <a:lnTo>
                  <a:pt x="96955" y="157352"/>
                </a:lnTo>
                <a:lnTo>
                  <a:pt x="95957" y="155575"/>
                </a:lnTo>
                <a:lnTo>
                  <a:pt x="95485" y="154939"/>
                </a:lnTo>
                <a:lnTo>
                  <a:pt x="94487" y="153670"/>
                </a:lnTo>
                <a:lnTo>
                  <a:pt x="92201" y="150240"/>
                </a:lnTo>
                <a:lnTo>
                  <a:pt x="91439" y="149225"/>
                </a:lnTo>
                <a:close/>
              </a:path>
              <a:path w="101600" h="342265">
                <a:moveTo>
                  <a:pt x="36448" y="114300"/>
                </a:moveTo>
                <a:lnTo>
                  <a:pt x="26034" y="114300"/>
                </a:lnTo>
                <a:lnTo>
                  <a:pt x="26034" y="122554"/>
                </a:lnTo>
                <a:lnTo>
                  <a:pt x="36448" y="122554"/>
                </a:lnTo>
                <a:lnTo>
                  <a:pt x="36448" y="114300"/>
                </a:lnTo>
                <a:close/>
              </a:path>
              <a:path w="101600" h="342265">
                <a:moveTo>
                  <a:pt x="99787" y="101473"/>
                </a:moveTo>
                <a:lnTo>
                  <a:pt x="83057" y="101473"/>
                </a:lnTo>
                <a:lnTo>
                  <a:pt x="74422" y="101980"/>
                </a:lnTo>
                <a:lnTo>
                  <a:pt x="5079" y="101980"/>
                </a:lnTo>
                <a:lnTo>
                  <a:pt x="5079" y="114300"/>
                </a:lnTo>
                <a:lnTo>
                  <a:pt x="84200" y="114300"/>
                </a:lnTo>
                <a:lnTo>
                  <a:pt x="90678" y="112395"/>
                </a:lnTo>
                <a:lnTo>
                  <a:pt x="94614" y="108458"/>
                </a:lnTo>
                <a:lnTo>
                  <a:pt x="98678" y="104521"/>
                </a:lnTo>
                <a:lnTo>
                  <a:pt x="99787" y="101473"/>
                </a:lnTo>
                <a:close/>
              </a:path>
              <a:path w="101600" h="342265">
                <a:moveTo>
                  <a:pt x="36448" y="76580"/>
                </a:moveTo>
                <a:lnTo>
                  <a:pt x="26034" y="76580"/>
                </a:lnTo>
                <a:lnTo>
                  <a:pt x="26034" y="101980"/>
                </a:lnTo>
                <a:lnTo>
                  <a:pt x="36448" y="101980"/>
                </a:lnTo>
                <a:lnTo>
                  <a:pt x="36448" y="76580"/>
                </a:lnTo>
                <a:close/>
              </a:path>
              <a:path w="101600" h="342265">
                <a:moveTo>
                  <a:pt x="98551" y="76580"/>
                </a:moveTo>
                <a:lnTo>
                  <a:pt x="87503" y="76580"/>
                </a:lnTo>
                <a:lnTo>
                  <a:pt x="87503" y="77215"/>
                </a:lnTo>
                <a:lnTo>
                  <a:pt x="87884" y="78232"/>
                </a:lnTo>
                <a:lnTo>
                  <a:pt x="88391" y="79755"/>
                </a:lnTo>
                <a:lnTo>
                  <a:pt x="89026" y="81914"/>
                </a:lnTo>
                <a:lnTo>
                  <a:pt x="89534" y="84074"/>
                </a:lnTo>
                <a:lnTo>
                  <a:pt x="89915" y="86233"/>
                </a:lnTo>
                <a:lnTo>
                  <a:pt x="89915" y="91694"/>
                </a:lnTo>
                <a:lnTo>
                  <a:pt x="89407" y="94234"/>
                </a:lnTo>
                <a:lnTo>
                  <a:pt x="87884" y="97536"/>
                </a:lnTo>
                <a:lnTo>
                  <a:pt x="86613" y="98933"/>
                </a:lnTo>
                <a:lnTo>
                  <a:pt x="84835" y="99822"/>
                </a:lnTo>
                <a:lnTo>
                  <a:pt x="82931" y="100964"/>
                </a:lnTo>
                <a:lnTo>
                  <a:pt x="80898" y="101473"/>
                </a:lnTo>
                <a:lnTo>
                  <a:pt x="76580" y="101980"/>
                </a:lnTo>
                <a:lnTo>
                  <a:pt x="74422" y="101980"/>
                </a:lnTo>
                <a:lnTo>
                  <a:pt x="83057" y="101473"/>
                </a:lnTo>
                <a:lnTo>
                  <a:pt x="99787" y="101473"/>
                </a:lnTo>
                <a:lnTo>
                  <a:pt x="100710" y="98933"/>
                </a:lnTo>
                <a:lnTo>
                  <a:pt x="100710" y="89280"/>
                </a:lnTo>
                <a:lnTo>
                  <a:pt x="100456" y="86867"/>
                </a:lnTo>
                <a:lnTo>
                  <a:pt x="99765" y="81914"/>
                </a:lnTo>
                <a:lnTo>
                  <a:pt x="99694" y="81407"/>
                </a:lnTo>
                <a:lnTo>
                  <a:pt x="99187" y="78866"/>
                </a:lnTo>
                <a:lnTo>
                  <a:pt x="98551" y="76580"/>
                </a:lnTo>
                <a:close/>
              </a:path>
              <a:path w="101600" h="342265">
                <a:moveTo>
                  <a:pt x="63881" y="0"/>
                </a:moveTo>
                <a:lnTo>
                  <a:pt x="57276" y="0"/>
                </a:lnTo>
                <a:lnTo>
                  <a:pt x="49748" y="500"/>
                </a:lnTo>
                <a:lnTo>
                  <a:pt x="24003" y="20954"/>
                </a:lnTo>
                <a:lnTo>
                  <a:pt x="24069" y="31623"/>
                </a:lnTo>
                <a:lnTo>
                  <a:pt x="46974" y="63960"/>
                </a:lnTo>
                <a:lnTo>
                  <a:pt x="63118" y="66421"/>
                </a:lnTo>
                <a:lnTo>
                  <a:pt x="71303" y="65803"/>
                </a:lnTo>
                <a:lnTo>
                  <a:pt x="71545" y="65803"/>
                </a:lnTo>
                <a:lnTo>
                  <a:pt x="78705" y="63960"/>
                </a:lnTo>
                <a:lnTo>
                  <a:pt x="78913" y="63960"/>
                </a:lnTo>
                <a:lnTo>
                  <a:pt x="85603" y="60634"/>
                </a:lnTo>
                <a:lnTo>
                  <a:pt x="91059" y="56134"/>
                </a:lnTo>
                <a:lnTo>
                  <a:pt x="92837" y="53848"/>
                </a:lnTo>
                <a:lnTo>
                  <a:pt x="54482" y="53848"/>
                </a:lnTo>
                <a:lnTo>
                  <a:pt x="48767" y="53339"/>
                </a:lnTo>
                <a:lnTo>
                  <a:pt x="43941" y="51180"/>
                </a:lnTo>
                <a:lnTo>
                  <a:pt x="40004" y="47244"/>
                </a:lnTo>
                <a:lnTo>
                  <a:pt x="36194" y="43307"/>
                </a:lnTo>
                <a:lnTo>
                  <a:pt x="34303" y="38461"/>
                </a:lnTo>
                <a:lnTo>
                  <a:pt x="34212" y="38226"/>
                </a:lnTo>
                <a:lnTo>
                  <a:pt x="34162" y="24891"/>
                </a:lnTo>
                <a:lnTo>
                  <a:pt x="35940" y="20065"/>
                </a:lnTo>
                <a:lnTo>
                  <a:pt x="39496" y="16890"/>
                </a:lnTo>
                <a:lnTo>
                  <a:pt x="43053" y="13588"/>
                </a:lnTo>
                <a:lnTo>
                  <a:pt x="48006" y="11937"/>
                </a:lnTo>
                <a:lnTo>
                  <a:pt x="63881" y="11937"/>
                </a:lnTo>
                <a:lnTo>
                  <a:pt x="63881" y="0"/>
                </a:lnTo>
                <a:close/>
              </a:path>
              <a:path w="101600" h="342265">
                <a:moveTo>
                  <a:pt x="63881" y="11937"/>
                </a:moveTo>
                <a:lnTo>
                  <a:pt x="54482" y="11937"/>
                </a:lnTo>
                <a:lnTo>
                  <a:pt x="54482" y="53848"/>
                </a:lnTo>
                <a:lnTo>
                  <a:pt x="63881" y="53848"/>
                </a:lnTo>
                <a:lnTo>
                  <a:pt x="63881" y="11937"/>
                </a:lnTo>
                <a:close/>
              </a:path>
              <a:path w="101600" h="342265">
                <a:moveTo>
                  <a:pt x="94741" y="1397"/>
                </a:moveTo>
                <a:lnTo>
                  <a:pt x="81406" y="1397"/>
                </a:lnTo>
                <a:lnTo>
                  <a:pt x="81406" y="2032"/>
                </a:lnTo>
                <a:lnTo>
                  <a:pt x="83312" y="4190"/>
                </a:lnTo>
                <a:lnTo>
                  <a:pt x="85216" y="7747"/>
                </a:lnTo>
                <a:lnTo>
                  <a:pt x="87439" y="13335"/>
                </a:lnTo>
                <a:lnTo>
                  <a:pt x="89153" y="17907"/>
                </a:lnTo>
                <a:lnTo>
                  <a:pt x="89779" y="20954"/>
                </a:lnTo>
                <a:lnTo>
                  <a:pt x="90169" y="22987"/>
                </a:lnTo>
                <a:lnTo>
                  <a:pt x="90169" y="31623"/>
                </a:lnTo>
                <a:lnTo>
                  <a:pt x="75691" y="51815"/>
                </a:lnTo>
                <a:lnTo>
                  <a:pt x="72089" y="53339"/>
                </a:lnTo>
                <a:lnTo>
                  <a:pt x="71602" y="53339"/>
                </a:lnTo>
                <a:lnTo>
                  <a:pt x="68453" y="53848"/>
                </a:lnTo>
                <a:lnTo>
                  <a:pt x="92837" y="53848"/>
                </a:lnTo>
                <a:lnTo>
                  <a:pt x="95392" y="50563"/>
                </a:lnTo>
                <a:lnTo>
                  <a:pt x="98488" y="43957"/>
                </a:lnTo>
                <a:lnTo>
                  <a:pt x="100345" y="36327"/>
                </a:lnTo>
                <a:lnTo>
                  <a:pt x="100964" y="27686"/>
                </a:lnTo>
                <a:lnTo>
                  <a:pt x="100964" y="22987"/>
                </a:lnTo>
                <a:lnTo>
                  <a:pt x="100329" y="18414"/>
                </a:lnTo>
                <a:lnTo>
                  <a:pt x="98043" y="9778"/>
                </a:lnTo>
                <a:lnTo>
                  <a:pt x="96519" y="5587"/>
                </a:lnTo>
                <a:lnTo>
                  <a:pt x="94741" y="1397"/>
                </a:lnTo>
                <a:close/>
              </a:path>
            </a:pathLst>
          </a:custGeom>
          <a:solidFill>
            <a:srgbClr val="293D5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2685288" y="3223259"/>
            <a:ext cx="9333230" cy="4001770"/>
            <a:chOff x="2685288" y="3223259"/>
            <a:chExt cx="9333230" cy="4001770"/>
          </a:xfrm>
        </p:grpSpPr>
        <p:sp>
          <p:nvSpPr>
            <p:cNvPr id="16" name="object 16"/>
            <p:cNvSpPr/>
            <p:nvPr/>
          </p:nvSpPr>
          <p:spPr>
            <a:xfrm>
              <a:off x="2694432" y="3223259"/>
              <a:ext cx="9324340" cy="4000500"/>
            </a:xfrm>
            <a:custGeom>
              <a:avLst/>
              <a:gdLst/>
              <a:ahLst/>
              <a:cxnLst/>
              <a:rect l="l" t="t" r="r" b="b"/>
              <a:pathLst>
                <a:path w="9324340" h="4000500">
                  <a:moveTo>
                    <a:pt x="9323832" y="0"/>
                  </a:moveTo>
                  <a:lnTo>
                    <a:pt x="0" y="0"/>
                  </a:lnTo>
                  <a:lnTo>
                    <a:pt x="0" y="4000500"/>
                  </a:lnTo>
                  <a:lnTo>
                    <a:pt x="9323832" y="4000500"/>
                  </a:lnTo>
                  <a:lnTo>
                    <a:pt x="9323832" y="0"/>
                  </a:lnTo>
                  <a:close/>
                </a:path>
              </a:pathLst>
            </a:custGeom>
            <a:solidFill>
              <a:srgbClr val="E4E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18254" y="3224021"/>
              <a:ext cx="1623060" cy="4000500"/>
            </a:xfrm>
            <a:custGeom>
              <a:avLst/>
              <a:gdLst/>
              <a:ahLst/>
              <a:cxnLst/>
              <a:rect l="l" t="t" r="r" b="b"/>
              <a:pathLst>
                <a:path w="1623060" h="4000500">
                  <a:moveTo>
                    <a:pt x="0" y="3556253"/>
                  </a:moveTo>
                  <a:lnTo>
                    <a:pt x="0" y="4000499"/>
                  </a:lnTo>
                </a:path>
                <a:path w="1623060" h="4000500">
                  <a:moveTo>
                    <a:pt x="0" y="3412997"/>
                  </a:moveTo>
                  <a:lnTo>
                    <a:pt x="0" y="3441953"/>
                  </a:lnTo>
                </a:path>
                <a:path w="1623060" h="4000500">
                  <a:moveTo>
                    <a:pt x="0" y="3271265"/>
                  </a:moveTo>
                  <a:lnTo>
                    <a:pt x="0" y="3298697"/>
                  </a:lnTo>
                </a:path>
                <a:path w="1623060" h="4000500">
                  <a:moveTo>
                    <a:pt x="0" y="3128009"/>
                  </a:moveTo>
                  <a:lnTo>
                    <a:pt x="0" y="3156965"/>
                  </a:lnTo>
                </a:path>
                <a:path w="1623060" h="4000500">
                  <a:moveTo>
                    <a:pt x="0" y="2984753"/>
                  </a:moveTo>
                  <a:lnTo>
                    <a:pt x="0" y="3013709"/>
                  </a:lnTo>
                </a:path>
                <a:path w="1623060" h="4000500">
                  <a:moveTo>
                    <a:pt x="0" y="2841497"/>
                  </a:moveTo>
                  <a:lnTo>
                    <a:pt x="0" y="2870453"/>
                  </a:lnTo>
                </a:path>
                <a:path w="1623060" h="4000500">
                  <a:moveTo>
                    <a:pt x="0" y="2699765"/>
                  </a:moveTo>
                  <a:lnTo>
                    <a:pt x="0" y="2727197"/>
                  </a:lnTo>
                </a:path>
                <a:path w="1623060" h="4000500">
                  <a:moveTo>
                    <a:pt x="0" y="2556509"/>
                  </a:moveTo>
                  <a:lnTo>
                    <a:pt x="0" y="2585465"/>
                  </a:lnTo>
                </a:path>
                <a:path w="1623060" h="4000500">
                  <a:moveTo>
                    <a:pt x="0" y="2413253"/>
                  </a:moveTo>
                  <a:lnTo>
                    <a:pt x="0" y="2442209"/>
                  </a:lnTo>
                </a:path>
                <a:path w="1623060" h="4000500">
                  <a:moveTo>
                    <a:pt x="0" y="2269997"/>
                  </a:moveTo>
                  <a:lnTo>
                    <a:pt x="0" y="2298953"/>
                  </a:lnTo>
                </a:path>
                <a:path w="1623060" h="4000500">
                  <a:moveTo>
                    <a:pt x="0" y="2128265"/>
                  </a:moveTo>
                  <a:lnTo>
                    <a:pt x="0" y="2155697"/>
                  </a:lnTo>
                </a:path>
                <a:path w="1623060" h="4000500">
                  <a:moveTo>
                    <a:pt x="0" y="1985009"/>
                  </a:moveTo>
                  <a:lnTo>
                    <a:pt x="0" y="2013965"/>
                  </a:lnTo>
                </a:path>
                <a:path w="1623060" h="4000500">
                  <a:moveTo>
                    <a:pt x="0" y="1841753"/>
                  </a:moveTo>
                  <a:lnTo>
                    <a:pt x="0" y="1870709"/>
                  </a:lnTo>
                </a:path>
                <a:path w="1623060" h="4000500">
                  <a:moveTo>
                    <a:pt x="0" y="1700021"/>
                  </a:moveTo>
                  <a:lnTo>
                    <a:pt x="0" y="1727453"/>
                  </a:lnTo>
                </a:path>
                <a:path w="1623060" h="4000500">
                  <a:moveTo>
                    <a:pt x="0" y="1556765"/>
                  </a:moveTo>
                  <a:lnTo>
                    <a:pt x="0" y="1585721"/>
                  </a:lnTo>
                </a:path>
                <a:path w="1623060" h="4000500">
                  <a:moveTo>
                    <a:pt x="0" y="1413509"/>
                  </a:moveTo>
                  <a:lnTo>
                    <a:pt x="0" y="1442465"/>
                  </a:lnTo>
                </a:path>
                <a:path w="1623060" h="4000500">
                  <a:moveTo>
                    <a:pt x="0" y="1270253"/>
                  </a:moveTo>
                  <a:lnTo>
                    <a:pt x="0" y="1299209"/>
                  </a:lnTo>
                </a:path>
                <a:path w="1623060" h="4000500">
                  <a:moveTo>
                    <a:pt x="0" y="1128521"/>
                  </a:moveTo>
                  <a:lnTo>
                    <a:pt x="0" y="1155953"/>
                  </a:lnTo>
                </a:path>
                <a:path w="1623060" h="4000500">
                  <a:moveTo>
                    <a:pt x="0" y="985265"/>
                  </a:moveTo>
                  <a:lnTo>
                    <a:pt x="0" y="1014221"/>
                  </a:lnTo>
                </a:path>
                <a:path w="1623060" h="4000500">
                  <a:moveTo>
                    <a:pt x="0" y="842009"/>
                  </a:moveTo>
                  <a:lnTo>
                    <a:pt x="0" y="870965"/>
                  </a:lnTo>
                </a:path>
                <a:path w="1623060" h="4000500">
                  <a:moveTo>
                    <a:pt x="0" y="698753"/>
                  </a:moveTo>
                  <a:lnTo>
                    <a:pt x="0" y="727709"/>
                  </a:lnTo>
                </a:path>
                <a:path w="1623060" h="4000500">
                  <a:moveTo>
                    <a:pt x="0" y="557021"/>
                  </a:moveTo>
                  <a:lnTo>
                    <a:pt x="0" y="584453"/>
                  </a:lnTo>
                </a:path>
                <a:path w="1623060" h="4000500">
                  <a:moveTo>
                    <a:pt x="0" y="413765"/>
                  </a:moveTo>
                  <a:lnTo>
                    <a:pt x="0" y="442721"/>
                  </a:lnTo>
                </a:path>
                <a:path w="1623060" h="4000500">
                  <a:moveTo>
                    <a:pt x="0" y="270509"/>
                  </a:moveTo>
                  <a:lnTo>
                    <a:pt x="0" y="299465"/>
                  </a:lnTo>
                </a:path>
                <a:path w="1623060" h="4000500">
                  <a:moveTo>
                    <a:pt x="0" y="127253"/>
                  </a:moveTo>
                  <a:lnTo>
                    <a:pt x="0" y="156209"/>
                  </a:lnTo>
                </a:path>
                <a:path w="1623060" h="4000500">
                  <a:moveTo>
                    <a:pt x="0" y="0"/>
                  </a:moveTo>
                  <a:lnTo>
                    <a:pt x="0" y="12953"/>
                  </a:lnTo>
                </a:path>
                <a:path w="1623060" h="4000500">
                  <a:moveTo>
                    <a:pt x="1623060" y="1413509"/>
                  </a:moveTo>
                  <a:lnTo>
                    <a:pt x="1623060" y="4000499"/>
                  </a:lnTo>
                </a:path>
                <a:path w="1623060" h="4000500">
                  <a:moveTo>
                    <a:pt x="1623060" y="1270253"/>
                  </a:moveTo>
                  <a:lnTo>
                    <a:pt x="1623060" y="1299209"/>
                  </a:lnTo>
                </a:path>
                <a:path w="1623060" h="4000500">
                  <a:moveTo>
                    <a:pt x="1623060" y="1128521"/>
                  </a:moveTo>
                  <a:lnTo>
                    <a:pt x="1623060" y="1155953"/>
                  </a:lnTo>
                </a:path>
                <a:path w="1623060" h="4000500">
                  <a:moveTo>
                    <a:pt x="1623060" y="985265"/>
                  </a:moveTo>
                  <a:lnTo>
                    <a:pt x="1623060" y="1014221"/>
                  </a:lnTo>
                </a:path>
                <a:path w="1623060" h="4000500">
                  <a:moveTo>
                    <a:pt x="1623060" y="842009"/>
                  </a:moveTo>
                  <a:lnTo>
                    <a:pt x="1623060" y="870965"/>
                  </a:lnTo>
                </a:path>
                <a:path w="1623060" h="4000500">
                  <a:moveTo>
                    <a:pt x="1623060" y="698753"/>
                  </a:moveTo>
                  <a:lnTo>
                    <a:pt x="1623060" y="727709"/>
                  </a:lnTo>
                </a:path>
                <a:path w="1623060" h="4000500">
                  <a:moveTo>
                    <a:pt x="1623060" y="557021"/>
                  </a:moveTo>
                  <a:lnTo>
                    <a:pt x="1623060" y="584453"/>
                  </a:lnTo>
                </a:path>
                <a:path w="1623060" h="4000500">
                  <a:moveTo>
                    <a:pt x="1623060" y="413765"/>
                  </a:moveTo>
                  <a:lnTo>
                    <a:pt x="1623060" y="442721"/>
                  </a:lnTo>
                </a:path>
                <a:path w="1623060" h="4000500">
                  <a:moveTo>
                    <a:pt x="1623060" y="270509"/>
                  </a:moveTo>
                  <a:lnTo>
                    <a:pt x="1623060" y="299465"/>
                  </a:lnTo>
                </a:path>
                <a:path w="1623060" h="4000500">
                  <a:moveTo>
                    <a:pt x="1623060" y="127253"/>
                  </a:moveTo>
                  <a:lnTo>
                    <a:pt x="1623060" y="156209"/>
                  </a:lnTo>
                </a:path>
                <a:path w="1623060" h="4000500">
                  <a:moveTo>
                    <a:pt x="1623060" y="0"/>
                  </a:moveTo>
                  <a:lnTo>
                    <a:pt x="1623060" y="12953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64373" y="3224021"/>
              <a:ext cx="3248025" cy="4000500"/>
            </a:xfrm>
            <a:custGeom>
              <a:avLst/>
              <a:gdLst/>
              <a:ahLst/>
              <a:cxnLst/>
              <a:rect l="l" t="t" r="r" b="b"/>
              <a:pathLst>
                <a:path w="3248025" h="4000500">
                  <a:moveTo>
                    <a:pt x="0" y="557021"/>
                  </a:moveTo>
                  <a:lnTo>
                    <a:pt x="0" y="4000499"/>
                  </a:lnTo>
                </a:path>
                <a:path w="3248025" h="4000500">
                  <a:moveTo>
                    <a:pt x="0" y="413765"/>
                  </a:moveTo>
                  <a:lnTo>
                    <a:pt x="0" y="442721"/>
                  </a:lnTo>
                </a:path>
                <a:path w="3248025" h="4000500">
                  <a:moveTo>
                    <a:pt x="0" y="270509"/>
                  </a:moveTo>
                  <a:lnTo>
                    <a:pt x="0" y="299465"/>
                  </a:lnTo>
                </a:path>
                <a:path w="3248025" h="4000500">
                  <a:moveTo>
                    <a:pt x="0" y="127253"/>
                  </a:moveTo>
                  <a:lnTo>
                    <a:pt x="0" y="156209"/>
                  </a:lnTo>
                </a:path>
                <a:path w="3248025" h="4000500">
                  <a:moveTo>
                    <a:pt x="0" y="0"/>
                  </a:moveTo>
                  <a:lnTo>
                    <a:pt x="0" y="12953"/>
                  </a:lnTo>
                </a:path>
                <a:path w="3248025" h="4000500">
                  <a:moveTo>
                    <a:pt x="1623059" y="127253"/>
                  </a:moveTo>
                  <a:lnTo>
                    <a:pt x="1623059" y="4000499"/>
                  </a:lnTo>
                </a:path>
                <a:path w="3248025" h="4000500">
                  <a:moveTo>
                    <a:pt x="1623059" y="0"/>
                  </a:moveTo>
                  <a:lnTo>
                    <a:pt x="1623059" y="12953"/>
                  </a:lnTo>
                </a:path>
                <a:path w="3248025" h="4000500">
                  <a:moveTo>
                    <a:pt x="3247644" y="127253"/>
                  </a:moveTo>
                  <a:lnTo>
                    <a:pt x="3247644" y="4000499"/>
                  </a:lnTo>
                </a:path>
                <a:path w="3248025" h="4000500">
                  <a:moveTo>
                    <a:pt x="3247644" y="0"/>
                  </a:moveTo>
                  <a:lnTo>
                    <a:pt x="3247644" y="12953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95194" y="3224021"/>
              <a:ext cx="0" cy="4000500"/>
            </a:xfrm>
            <a:custGeom>
              <a:avLst/>
              <a:gdLst/>
              <a:ahLst/>
              <a:cxnLst/>
              <a:rect l="l" t="t" r="r" b="b"/>
              <a:pathLst>
                <a:path h="4000500">
                  <a:moveTo>
                    <a:pt x="0" y="0"/>
                  </a:moveTo>
                  <a:lnTo>
                    <a:pt x="0" y="4000499"/>
                  </a:lnTo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94432" y="3236975"/>
              <a:ext cx="8857615" cy="114300"/>
            </a:xfrm>
            <a:custGeom>
              <a:avLst/>
              <a:gdLst/>
              <a:ahLst/>
              <a:cxnLst/>
              <a:rect l="l" t="t" r="r" b="b"/>
              <a:pathLst>
                <a:path w="8857615" h="114300">
                  <a:moveTo>
                    <a:pt x="8857488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8857488" y="114300"/>
                  </a:lnTo>
                  <a:lnTo>
                    <a:pt x="8857488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95194" y="3237737"/>
              <a:ext cx="8857615" cy="114300"/>
            </a:xfrm>
            <a:custGeom>
              <a:avLst/>
              <a:gdLst/>
              <a:ahLst/>
              <a:cxnLst/>
              <a:rect l="l" t="t" r="r" b="b"/>
              <a:pathLst>
                <a:path w="8857615" h="114300">
                  <a:moveTo>
                    <a:pt x="0" y="114300"/>
                  </a:moveTo>
                  <a:lnTo>
                    <a:pt x="8857488" y="114300"/>
                  </a:lnTo>
                  <a:lnTo>
                    <a:pt x="8857488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694432" y="3380231"/>
              <a:ext cx="5059680" cy="114300"/>
            </a:xfrm>
            <a:custGeom>
              <a:avLst/>
              <a:gdLst/>
              <a:ahLst/>
              <a:cxnLst/>
              <a:rect l="l" t="t" r="r" b="b"/>
              <a:pathLst>
                <a:path w="5059680" h="114300">
                  <a:moveTo>
                    <a:pt x="5059680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5059680" y="114300"/>
                  </a:lnTo>
                  <a:lnTo>
                    <a:pt x="5059680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95194" y="3380993"/>
              <a:ext cx="5059680" cy="114300"/>
            </a:xfrm>
            <a:custGeom>
              <a:avLst/>
              <a:gdLst/>
              <a:ahLst/>
              <a:cxnLst/>
              <a:rect l="l" t="t" r="r" b="b"/>
              <a:pathLst>
                <a:path w="5059680" h="114300">
                  <a:moveTo>
                    <a:pt x="0" y="114300"/>
                  </a:moveTo>
                  <a:lnTo>
                    <a:pt x="5059680" y="114300"/>
                  </a:lnTo>
                  <a:lnTo>
                    <a:pt x="5059680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694432" y="3523487"/>
              <a:ext cx="4904740" cy="114300"/>
            </a:xfrm>
            <a:custGeom>
              <a:avLst/>
              <a:gdLst/>
              <a:ahLst/>
              <a:cxnLst/>
              <a:rect l="l" t="t" r="r" b="b"/>
              <a:pathLst>
                <a:path w="4904740" h="114300">
                  <a:moveTo>
                    <a:pt x="4904232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4904232" y="114300"/>
                  </a:lnTo>
                  <a:lnTo>
                    <a:pt x="4904232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95194" y="3524249"/>
              <a:ext cx="4904740" cy="114300"/>
            </a:xfrm>
            <a:custGeom>
              <a:avLst/>
              <a:gdLst/>
              <a:ahLst/>
              <a:cxnLst/>
              <a:rect l="l" t="t" r="r" b="b"/>
              <a:pathLst>
                <a:path w="4904740" h="114300">
                  <a:moveTo>
                    <a:pt x="0" y="114300"/>
                  </a:moveTo>
                  <a:lnTo>
                    <a:pt x="4904232" y="114300"/>
                  </a:lnTo>
                  <a:lnTo>
                    <a:pt x="4904232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94432" y="3666743"/>
              <a:ext cx="4895215" cy="114300"/>
            </a:xfrm>
            <a:custGeom>
              <a:avLst/>
              <a:gdLst/>
              <a:ahLst/>
              <a:cxnLst/>
              <a:rect l="l" t="t" r="r" b="b"/>
              <a:pathLst>
                <a:path w="4895215" h="114300">
                  <a:moveTo>
                    <a:pt x="4895088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4895088" y="114300"/>
                  </a:lnTo>
                  <a:lnTo>
                    <a:pt x="4895088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95194" y="3667505"/>
              <a:ext cx="4895215" cy="114300"/>
            </a:xfrm>
            <a:custGeom>
              <a:avLst/>
              <a:gdLst/>
              <a:ahLst/>
              <a:cxnLst/>
              <a:rect l="l" t="t" r="r" b="b"/>
              <a:pathLst>
                <a:path w="4895215" h="114300">
                  <a:moveTo>
                    <a:pt x="0" y="114300"/>
                  </a:moveTo>
                  <a:lnTo>
                    <a:pt x="4895087" y="114300"/>
                  </a:lnTo>
                  <a:lnTo>
                    <a:pt x="4895087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94432" y="3808475"/>
              <a:ext cx="4592320" cy="114300"/>
            </a:xfrm>
            <a:custGeom>
              <a:avLst/>
              <a:gdLst/>
              <a:ahLst/>
              <a:cxnLst/>
              <a:rect l="l" t="t" r="r" b="b"/>
              <a:pathLst>
                <a:path w="4592320" h="114300">
                  <a:moveTo>
                    <a:pt x="4591812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4591812" y="114300"/>
                  </a:lnTo>
                  <a:lnTo>
                    <a:pt x="4591812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95194" y="3809237"/>
              <a:ext cx="4592320" cy="114300"/>
            </a:xfrm>
            <a:custGeom>
              <a:avLst/>
              <a:gdLst/>
              <a:ahLst/>
              <a:cxnLst/>
              <a:rect l="l" t="t" r="r" b="b"/>
              <a:pathLst>
                <a:path w="4592320" h="114300">
                  <a:moveTo>
                    <a:pt x="0" y="114300"/>
                  </a:moveTo>
                  <a:lnTo>
                    <a:pt x="4591811" y="114300"/>
                  </a:lnTo>
                  <a:lnTo>
                    <a:pt x="4591811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694432" y="3951731"/>
              <a:ext cx="4573905" cy="114300"/>
            </a:xfrm>
            <a:custGeom>
              <a:avLst/>
              <a:gdLst/>
              <a:ahLst/>
              <a:cxnLst/>
              <a:rect l="l" t="t" r="r" b="b"/>
              <a:pathLst>
                <a:path w="4573905" h="114300">
                  <a:moveTo>
                    <a:pt x="4573524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4573524" y="114300"/>
                  </a:lnTo>
                  <a:lnTo>
                    <a:pt x="4573524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695194" y="3952493"/>
              <a:ext cx="4573905" cy="114300"/>
            </a:xfrm>
            <a:custGeom>
              <a:avLst/>
              <a:gdLst/>
              <a:ahLst/>
              <a:cxnLst/>
              <a:rect l="l" t="t" r="r" b="b"/>
              <a:pathLst>
                <a:path w="4573905" h="114300">
                  <a:moveTo>
                    <a:pt x="0" y="114300"/>
                  </a:moveTo>
                  <a:lnTo>
                    <a:pt x="4573524" y="114300"/>
                  </a:lnTo>
                  <a:lnTo>
                    <a:pt x="4573524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694432" y="4094987"/>
              <a:ext cx="4559935" cy="114300"/>
            </a:xfrm>
            <a:custGeom>
              <a:avLst/>
              <a:gdLst/>
              <a:ahLst/>
              <a:cxnLst/>
              <a:rect l="l" t="t" r="r" b="b"/>
              <a:pathLst>
                <a:path w="4559934" h="114300">
                  <a:moveTo>
                    <a:pt x="4559808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4559808" y="114300"/>
                  </a:lnTo>
                  <a:lnTo>
                    <a:pt x="4559808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95194" y="4095749"/>
              <a:ext cx="4559935" cy="114300"/>
            </a:xfrm>
            <a:custGeom>
              <a:avLst/>
              <a:gdLst/>
              <a:ahLst/>
              <a:cxnLst/>
              <a:rect l="l" t="t" r="r" b="b"/>
              <a:pathLst>
                <a:path w="4559934" h="114300">
                  <a:moveTo>
                    <a:pt x="0" y="114300"/>
                  </a:moveTo>
                  <a:lnTo>
                    <a:pt x="4559808" y="114300"/>
                  </a:lnTo>
                  <a:lnTo>
                    <a:pt x="4559808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694432" y="4238243"/>
              <a:ext cx="4322445" cy="114300"/>
            </a:xfrm>
            <a:custGeom>
              <a:avLst/>
              <a:gdLst/>
              <a:ahLst/>
              <a:cxnLst/>
              <a:rect l="l" t="t" r="r" b="b"/>
              <a:pathLst>
                <a:path w="4322445" h="114300">
                  <a:moveTo>
                    <a:pt x="4322064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4322064" y="114300"/>
                  </a:lnTo>
                  <a:lnTo>
                    <a:pt x="4322064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695194" y="4239005"/>
              <a:ext cx="4322445" cy="114300"/>
            </a:xfrm>
            <a:custGeom>
              <a:avLst/>
              <a:gdLst/>
              <a:ahLst/>
              <a:cxnLst/>
              <a:rect l="l" t="t" r="r" b="b"/>
              <a:pathLst>
                <a:path w="4322445" h="114300">
                  <a:moveTo>
                    <a:pt x="0" y="114300"/>
                  </a:moveTo>
                  <a:lnTo>
                    <a:pt x="4322063" y="114300"/>
                  </a:lnTo>
                  <a:lnTo>
                    <a:pt x="4322063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694432" y="4379975"/>
              <a:ext cx="4288790" cy="114300"/>
            </a:xfrm>
            <a:custGeom>
              <a:avLst/>
              <a:gdLst/>
              <a:ahLst/>
              <a:cxnLst/>
              <a:rect l="l" t="t" r="r" b="b"/>
              <a:pathLst>
                <a:path w="4288790" h="114300">
                  <a:moveTo>
                    <a:pt x="4288536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4288536" y="114300"/>
                  </a:lnTo>
                  <a:lnTo>
                    <a:pt x="4288536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695194" y="4380737"/>
              <a:ext cx="4288790" cy="114300"/>
            </a:xfrm>
            <a:custGeom>
              <a:avLst/>
              <a:gdLst/>
              <a:ahLst/>
              <a:cxnLst/>
              <a:rect l="l" t="t" r="r" b="b"/>
              <a:pathLst>
                <a:path w="4288790" h="114300">
                  <a:moveTo>
                    <a:pt x="0" y="114300"/>
                  </a:moveTo>
                  <a:lnTo>
                    <a:pt x="4288535" y="114300"/>
                  </a:lnTo>
                  <a:lnTo>
                    <a:pt x="428853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694432" y="4523231"/>
              <a:ext cx="4063365" cy="114300"/>
            </a:xfrm>
            <a:custGeom>
              <a:avLst/>
              <a:gdLst/>
              <a:ahLst/>
              <a:cxnLst/>
              <a:rect l="l" t="t" r="r" b="b"/>
              <a:pathLst>
                <a:path w="4063365" h="114300">
                  <a:moveTo>
                    <a:pt x="4062984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4062984" y="114300"/>
                  </a:lnTo>
                  <a:lnTo>
                    <a:pt x="4062984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695194" y="4523993"/>
              <a:ext cx="4063365" cy="114300"/>
            </a:xfrm>
            <a:custGeom>
              <a:avLst/>
              <a:gdLst/>
              <a:ahLst/>
              <a:cxnLst/>
              <a:rect l="l" t="t" r="r" b="b"/>
              <a:pathLst>
                <a:path w="4063365" h="114300">
                  <a:moveTo>
                    <a:pt x="0" y="114300"/>
                  </a:moveTo>
                  <a:lnTo>
                    <a:pt x="4062983" y="114300"/>
                  </a:lnTo>
                  <a:lnTo>
                    <a:pt x="4062983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694432" y="4666487"/>
              <a:ext cx="3197860" cy="114300"/>
            </a:xfrm>
            <a:custGeom>
              <a:avLst/>
              <a:gdLst/>
              <a:ahLst/>
              <a:cxnLst/>
              <a:rect l="l" t="t" r="r" b="b"/>
              <a:pathLst>
                <a:path w="3197860" h="114300">
                  <a:moveTo>
                    <a:pt x="3197352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3197352" y="114300"/>
                  </a:lnTo>
                  <a:lnTo>
                    <a:pt x="3197352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695194" y="4667249"/>
              <a:ext cx="3197860" cy="114300"/>
            </a:xfrm>
            <a:custGeom>
              <a:avLst/>
              <a:gdLst/>
              <a:ahLst/>
              <a:cxnLst/>
              <a:rect l="l" t="t" r="r" b="b"/>
              <a:pathLst>
                <a:path w="3197860" h="114300">
                  <a:moveTo>
                    <a:pt x="0" y="114300"/>
                  </a:moveTo>
                  <a:lnTo>
                    <a:pt x="3197352" y="114300"/>
                  </a:lnTo>
                  <a:lnTo>
                    <a:pt x="3197352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694432" y="4809743"/>
              <a:ext cx="2498090" cy="114300"/>
            </a:xfrm>
            <a:custGeom>
              <a:avLst/>
              <a:gdLst/>
              <a:ahLst/>
              <a:cxnLst/>
              <a:rect l="l" t="t" r="r" b="b"/>
              <a:pathLst>
                <a:path w="2498090" h="114300">
                  <a:moveTo>
                    <a:pt x="249783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497835" y="114300"/>
                  </a:lnTo>
                  <a:lnTo>
                    <a:pt x="2497835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695194" y="4810505"/>
              <a:ext cx="2498090" cy="114300"/>
            </a:xfrm>
            <a:custGeom>
              <a:avLst/>
              <a:gdLst/>
              <a:ahLst/>
              <a:cxnLst/>
              <a:rect l="l" t="t" r="r" b="b"/>
              <a:pathLst>
                <a:path w="2498090" h="114300">
                  <a:moveTo>
                    <a:pt x="0" y="114300"/>
                  </a:moveTo>
                  <a:lnTo>
                    <a:pt x="2497835" y="114300"/>
                  </a:lnTo>
                  <a:lnTo>
                    <a:pt x="249783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694432" y="4951475"/>
              <a:ext cx="2334895" cy="114300"/>
            </a:xfrm>
            <a:custGeom>
              <a:avLst/>
              <a:gdLst/>
              <a:ahLst/>
              <a:cxnLst/>
              <a:rect l="l" t="t" r="r" b="b"/>
              <a:pathLst>
                <a:path w="2334895" h="114300">
                  <a:moveTo>
                    <a:pt x="2334768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334768" y="114300"/>
                  </a:lnTo>
                  <a:lnTo>
                    <a:pt x="2334768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695194" y="4952237"/>
              <a:ext cx="2334895" cy="114300"/>
            </a:xfrm>
            <a:custGeom>
              <a:avLst/>
              <a:gdLst/>
              <a:ahLst/>
              <a:cxnLst/>
              <a:rect l="l" t="t" r="r" b="b"/>
              <a:pathLst>
                <a:path w="2334895" h="114300">
                  <a:moveTo>
                    <a:pt x="0" y="114300"/>
                  </a:moveTo>
                  <a:lnTo>
                    <a:pt x="2334768" y="114300"/>
                  </a:lnTo>
                  <a:lnTo>
                    <a:pt x="2334768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694432" y="5094731"/>
              <a:ext cx="2316480" cy="114300"/>
            </a:xfrm>
            <a:custGeom>
              <a:avLst/>
              <a:gdLst/>
              <a:ahLst/>
              <a:cxnLst/>
              <a:rect l="l" t="t" r="r" b="b"/>
              <a:pathLst>
                <a:path w="2316479" h="114300">
                  <a:moveTo>
                    <a:pt x="2316480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316480" y="114300"/>
                  </a:lnTo>
                  <a:lnTo>
                    <a:pt x="2316480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695194" y="5095493"/>
              <a:ext cx="2316480" cy="114300"/>
            </a:xfrm>
            <a:custGeom>
              <a:avLst/>
              <a:gdLst/>
              <a:ahLst/>
              <a:cxnLst/>
              <a:rect l="l" t="t" r="r" b="b"/>
              <a:pathLst>
                <a:path w="2316479" h="114300">
                  <a:moveTo>
                    <a:pt x="0" y="114300"/>
                  </a:moveTo>
                  <a:lnTo>
                    <a:pt x="2316480" y="114300"/>
                  </a:lnTo>
                  <a:lnTo>
                    <a:pt x="2316480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694432" y="5237987"/>
              <a:ext cx="2243455" cy="114300"/>
            </a:xfrm>
            <a:custGeom>
              <a:avLst/>
              <a:gdLst/>
              <a:ahLst/>
              <a:cxnLst/>
              <a:rect l="l" t="t" r="r" b="b"/>
              <a:pathLst>
                <a:path w="2243454" h="114300">
                  <a:moveTo>
                    <a:pt x="2243328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243328" y="114300"/>
                  </a:lnTo>
                  <a:lnTo>
                    <a:pt x="2243328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695194" y="5238749"/>
              <a:ext cx="2243455" cy="114300"/>
            </a:xfrm>
            <a:custGeom>
              <a:avLst/>
              <a:gdLst/>
              <a:ahLst/>
              <a:cxnLst/>
              <a:rect l="l" t="t" r="r" b="b"/>
              <a:pathLst>
                <a:path w="2243454" h="114300">
                  <a:moveTo>
                    <a:pt x="0" y="114300"/>
                  </a:moveTo>
                  <a:lnTo>
                    <a:pt x="2243328" y="114300"/>
                  </a:lnTo>
                  <a:lnTo>
                    <a:pt x="2243328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694432" y="5379719"/>
              <a:ext cx="2146300" cy="114300"/>
            </a:xfrm>
            <a:custGeom>
              <a:avLst/>
              <a:gdLst/>
              <a:ahLst/>
              <a:cxnLst/>
              <a:rect l="l" t="t" r="r" b="b"/>
              <a:pathLst>
                <a:path w="2146300" h="114300">
                  <a:moveTo>
                    <a:pt x="2145792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145792" y="114300"/>
                  </a:lnTo>
                  <a:lnTo>
                    <a:pt x="2145792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695194" y="5380481"/>
              <a:ext cx="2146300" cy="114300"/>
            </a:xfrm>
            <a:custGeom>
              <a:avLst/>
              <a:gdLst/>
              <a:ahLst/>
              <a:cxnLst/>
              <a:rect l="l" t="t" r="r" b="b"/>
              <a:pathLst>
                <a:path w="2146300" h="114300">
                  <a:moveTo>
                    <a:pt x="0" y="114300"/>
                  </a:moveTo>
                  <a:lnTo>
                    <a:pt x="2145792" y="114300"/>
                  </a:lnTo>
                  <a:lnTo>
                    <a:pt x="2145792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694432" y="5522975"/>
              <a:ext cx="2112645" cy="114300"/>
            </a:xfrm>
            <a:custGeom>
              <a:avLst/>
              <a:gdLst/>
              <a:ahLst/>
              <a:cxnLst/>
              <a:rect l="l" t="t" r="r" b="b"/>
              <a:pathLst>
                <a:path w="2112645" h="114300">
                  <a:moveTo>
                    <a:pt x="2112264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112264" y="114300"/>
                  </a:lnTo>
                  <a:lnTo>
                    <a:pt x="2112264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695194" y="5523737"/>
              <a:ext cx="2112645" cy="114300"/>
            </a:xfrm>
            <a:custGeom>
              <a:avLst/>
              <a:gdLst/>
              <a:ahLst/>
              <a:cxnLst/>
              <a:rect l="l" t="t" r="r" b="b"/>
              <a:pathLst>
                <a:path w="2112645" h="114300">
                  <a:moveTo>
                    <a:pt x="0" y="114300"/>
                  </a:moveTo>
                  <a:lnTo>
                    <a:pt x="2112263" y="114300"/>
                  </a:lnTo>
                  <a:lnTo>
                    <a:pt x="2112263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94432" y="5666231"/>
              <a:ext cx="2083435" cy="114300"/>
            </a:xfrm>
            <a:custGeom>
              <a:avLst/>
              <a:gdLst/>
              <a:ahLst/>
              <a:cxnLst/>
              <a:rect l="l" t="t" r="r" b="b"/>
              <a:pathLst>
                <a:path w="2083435" h="114300">
                  <a:moveTo>
                    <a:pt x="2083308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083308" y="114300"/>
                  </a:lnTo>
                  <a:lnTo>
                    <a:pt x="2083308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95194" y="5666993"/>
              <a:ext cx="2083435" cy="114300"/>
            </a:xfrm>
            <a:custGeom>
              <a:avLst/>
              <a:gdLst/>
              <a:ahLst/>
              <a:cxnLst/>
              <a:rect l="l" t="t" r="r" b="b"/>
              <a:pathLst>
                <a:path w="2083435" h="114300">
                  <a:moveTo>
                    <a:pt x="0" y="114300"/>
                  </a:moveTo>
                  <a:lnTo>
                    <a:pt x="2083308" y="114300"/>
                  </a:lnTo>
                  <a:lnTo>
                    <a:pt x="2083308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694432" y="5809487"/>
              <a:ext cx="2044064" cy="114300"/>
            </a:xfrm>
            <a:custGeom>
              <a:avLst/>
              <a:gdLst/>
              <a:ahLst/>
              <a:cxnLst/>
              <a:rect l="l" t="t" r="r" b="b"/>
              <a:pathLst>
                <a:path w="2044064" h="114300">
                  <a:moveTo>
                    <a:pt x="2043683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043683" y="114300"/>
                  </a:lnTo>
                  <a:lnTo>
                    <a:pt x="2043683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695194" y="5810249"/>
              <a:ext cx="2044064" cy="114300"/>
            </a:xfrm>
            <a:custGeom>
              <a:avLst/>
              <a:gdLst/>
              <a:ahLst/>
              <a:cxnLst/>
              <a:rect l="l" t="t" r="r" b="b"/>
              <a:pathLst>
                <a:path w="2044064" h="114300">
                  <a:moveTo>
                    <a:pt x="0" y="114300"/>
                  </a:moveTo>
                  <a:lnTo>
                    <a:pt x="2043683" y="114300"/>
                  </a:lnTo>
                  <a:lnTo>
                    <a:pt x="2043683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694432" y="5951219"/>
              <a:ext cx="2036445" cy="114300"/>
            </a:xfrm>
            <a:custGeom>
              <a:avLst/>
              <a:gdLst/>
              <a:ahLst/>
              <a:cxnLst/>
              <a:rect l="l" t="t" r="r" b="b"/>
              <a:pathLst>
                <a:path w="2036445" h="114300">
                  <a:moveTo>
                    <a:pt x="2036064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2036064" y="114300"/>
                  </a:lnTo>
                  <a:lnTo>
                    <a:pt x="2036064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695194" y="5951981"/>
              <a:ext cx="2036445" cy="114300"/>
            </a:xfrm>
            <a:custGeom>
              <a:avLst/>
              <a:gdLst/>
              <a:ahLst/>
              <a:cxnLst/>
              <a:rect l="l" t="t" r="r" b="b"/>
              <a:pathLst>
                <a:path w="2036445" h="114300">
                  <a:moveTo>
                    <a:pt x="0" y="114300"/>
                  </a:moveTo>
                  <a:lnTo>
                    <a:pt x="2036063" y="114300"/>
                  </a:lnTo>
                  <a:lnTo>
                    <a:pt x="2036063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694432" y="6094475"/>
              <a:ext cx="1999614" cy="114300"/>
            </a:xfrm>
            <a:custGeom>
              <a:avLst/>
              <a:gdLst/>
              <a:ahLst/>
              <a:cxnLst/>
              <a:rect l="l" t="t" r="r" b="b"/>
              <a:pathLst>
                <a:path w="1999614" h="114300">
                  <a:moveTo>
                    <a:pt x="1999488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999488" y="114300"/>
                  </a:lnTo>
                  <a:lnTo>
                    <a:pt x="1999488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695194" y="6095237"/>
              <a:ext cx="1999614" cy="114300"/>
            </a:xfrm>
            <a:custGeom>
              <a:avLst/>
              <a:gdLst/>
              <a:ahLst/>
              <a:cxnLst/>
              <a:rect l="l" t="t" r="r" b="b"/>
              <a:pathLst>
                <a:path w="1999614" h="114300">
                  <a:moveTo>
                    <a:pt x="0" y="114300"/>
                  </a:moveTo>
                  <a:lnTo>
                    <a:pt x="1999487" y="114300"/>
                  </a:lnTo>
                  <a:lnTo>
                    <a:pt x="1999487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694432" y="6237731"/>
              <a:ext cx="1990725" cy="114300"/>
            </a:xfrm>
            <a:custGeom>
              <a:avLst/>
              <a:gdLst/>
              <a:ahLst/>
              <a:cxnLst/>
              <a:rect l="l" t="t" r="r" b="b"/>
              <a:pathLst>
                <a:path w="1990725" h="114300">
                  <a:moveTo>
                    <a:pt x="1990344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990344" y="114300"/>
                  </a:lnTo>
                  <a:lnTo>
                    <a:pt x="1990344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695194" y="6238493"/>
              <a:ext cx="1990725" cy="114300"/>
            </a:xfrm>
            <a:custGeom>
              <a:avLst/>
              <a:gdLst/>
              <a:ahLst/>
              <a:cxnLst/>
              <a:rect l="l" t="t" r="r" b="b"/>
              <a:pathLst>
                <a:path w="1990725" h="114300">
                  <a:moveTo>
                    <a:pt x="0" y="114300"/>
                  </a:moveTo>
                  <a:lnTo>
                    <a:pt x="1990344" y="114300"/>
                  </a:lnTo>
                  <a:lnTo>
                    <a:pt x="1990344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694432" y="6380987"/>
              <a:ext cx="1943100" cy="114300"/>
            </a:xfrm>
            <a:custGeom>
              <a:avLst/>
              <a:gdLst/>
              <a:ahLst/>
              <a:cxnLst/>
              <a:rect l="l" t="t" r="r" b="b"/>
              <a:pathLst>
                <a:path w="1943100" h="114300">
                  <a:moveTo>
                    <a:pt x="1943100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943100" y="114300"/>
                  </a:lnTo>
                  <a:lnTo>
                    <a:pt x="1943100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695194" y="6381749"/>
              <a:ext cx="1943100" cy="114300"/>
            </a:xfrm>
            <a:custGeom>
              <a:avLst/>
              <a:gdLst/>
              <a:ahLst/>
              <a:cxnLst/>
              <a:rect l="l" t="t" r="r" b="b"/>
              <a:pathLst>
                <a:path w="1943100" h="114300">
                  <a:moveTo>
                    <a:pt x="0" y="114300"/>
                  </a:moveTo>
                  <a:lnTo>
                    <a:pt x="1943100" y="114300"/>
                  </a:lnTo>
                  <a:lnTo>
                    <a:pt x="1943100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694432" y="6522719"/>
              <a:ext cx="1937385" cy="114300"/>
            </a:xfrm>
            <a:custGeom>
              <a:avLst/>
              <a:gdLst/>
              <a:ahLst/>
              <a:cxnLst/>
              <a:rect l="l" t="t" r="r" b="b"/>
              <a:pathLst>
                <a:path w="1937385" h="114300">
                  <a:moveTo>
                    <a:pt x="1937004" y="0"/>
                  </a:moveTo>
                  <a:lnTo>
                    <a:pt x="0" y="0"/>
                  </a:lnTo>
                  <a:lnTo>
                    <a:pt x="0" y="114299"/>
                  </a:lnTo>
                  <a:lnTo>
                    <a:pt x="1937004" y="114299"/>
                  </a:lnTo>
                  <a:lnTo>
                    <a:pt x="1937004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695194" y="6523481"/>
              <a:ext cx="1937385" cy="114300"/>
            </a:xfrm>
            <a:custGeom>
              <a:avLst/>
              <a:gdLst/>
              <a:ahLst/>
              <a:cxnLst/>
              <a:rect l="l" t="t" r="r" b="b"/>
              <a:pathLst>
                <a:path w="1937385" h="114300">
                  <a:moveTo>
                    <a:pt x="0" y="114300"/>
                  </a:moveTo>
                  <a:lnTo>
                    <a:pt x="1937004" y="114300"/>
                  </a:lnTo>
                  <a:lnTo>
                    <a:pt x="1937004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694432" y="6665975"/>
              <a:ext cx="1856739" cy="114300"/>
            </a:xfrm>
            <a:custGeom>
              <a:avLst/>
              <a:gdLst/>
              <a:ahLst/>
              <a:cxnLst/>
              <a:rect l="l" t="t" r="r" b="b"/>
              <a:pathLst>
                <a:path w="1856739" h="114300">
                  <a:moveTo>
                    <a:pt x="1856232" y="0"/>
                  </a:moveTo>
                  <a:lnTo>
                    <a:pt x="0" y="0"/>
                  </a:lnTo>
                  <a:lnTo>
                    <a:pt x="0" y="114299"/>
                  </a:lnTo>
                  <a:lnTo>
                    <a:pt x="1856232" y="114299"/>
                  </a:lnTo>
                  <a:lnTo>
                    <a:pt x="1856232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695194" y="6666738"/>
              <a:ext cx="1856739" cy="114300"/>
            </a:xfrm>
            <a:custGeom>
              <a:avLst/>
              <a:gdLst/>
              <a:ahLst/>
              <a:cxnLst/>
              <a:rect l="l" t="t" r="r" b="b"/>
              <a:pathLst>
                <a:path w="1856739" h="114300">
                  <a:moveTo>
                    <a:pt x="0" y="114300"/>
                  </a:moveTo>
                  <a:lnTo>
                    <a:pt x="1856232" y="114300"/>
                  </a:lnTo>
                  <a:lnTo>
                    <a:pt x="1856232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694432" y="6809231"/>
              <a:ext cx="1338580" cy="114300"/>
            </a:xfrm>
            <a:custGeom>
              <a:avLst/>
              <a:gdLst/>
              <a:ahLst/>
              <a:cxnLst/>
              <a:rect l="l" t="t" r="r" b="b"/>
              <a:pathLst>
                <a:path w="1338579" h="114300">
                  <a:moveTo>
                    <a:pt x="1338071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1338071" y="114300"/>
                  </a:lnTo>
                  <a:lnTo>
                    <a:pt x="1338071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695194" y="6809994"/>
              <a:ext cx="1338580" cy="114300"/>
            </a:xfrm>
            <a:custGeom>
              <a:avLst/>
              <a:gdLst/>
              <a:ahLst/>
              <a:cxnLst/>
              <a:rect l="l" t="t" r="r" b="b"/>
              <a:pathLst>
                <a:path w="1338579" h="114300">
                  <a:moveTo>
                    <a:pt x="0" y="114300"/>
                  </a:moveTo>
                  <a:lnTo>
                    <a:pt x="1338071" y="114300"/>
                  </a:lnTo>
                  <a:lnTo>
                    <a:pt x="1338071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694432" y="6952488"/>
              <a:ext cx="935990" cy="114300"/>
            </a:xfrm>
            <a:custGeom>
              <a:avLst/>
              <a:gdLst/>
              <a:ahLst/>
              <a:cxnLst/>
              <a:rect l="l" t="t" r="r" b="b"/>
              <a:pathLst>
                <a:path w="935989" h="114300">
                  <a:moveTo>
                    <a:pt x="935735" y="0"/>
                  </a:moveTo>
                  <a:lnTo>
                    <a:pt x="0" y="0"/>
                  </a:lnTo>
                  <a:lnTo>
                    <a:pt x="0" y="114300"/>
                  </a:lnTo>
                  <a:lnTo>
                    <a:pt x="935735" y="114300"/>
                  </a:lnTo>
                  <a:lnTo>
                    <a:pt x="935735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695194" y="6953250"/>
              <a:ext cx="935990" cy="114300"/>
            </a:xfrm>
            <a:custGeom>
              <a:avLst/>
              <a:gdLst/>
              <a:ahLst/>
              <a:cxnLst/>
              <a:rect l="l" t="t" r="r" b="b"/>
              <a:pathLst>
                <a:path w="935989" h="114300">
                  <a:moveTo>
                    <a:pt x="0" y="114300"/>
                  </a:moveTo>
                  <a:lnTo>
                    <a:pt x="935735" y="114300"/>
                  </a:lnTo>
                  <a:lnTo>
                    <a:pt x="935735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694432" y="7094219"/>
              <a:ext cx="909955" cy="114300"/>
            </a:xfrm>
            <a:custGeom>
              <a:avLst/>
              <a:gdLst/>
              <a:ahLst/>
              <a:cxnLst/>
              <a:rect l="l" t="t" r="r" b="b"/>
              <a:pathLst>
                <a:path w="909954" h="114300">
                  <a:moveTo>
                    <a:pt x="909828" y="0"/>
                  </a:moveTo>
                  <a:lnTo>
                    <a:pt x="0" y="0"/>
                  </a:lnTo>
                  <a:lnTo>
                    <a:pt x="0" y="114299"/>
                  </a:lnTo>
                  <a:lnTo>
                    <a:pt x="909828" y="114299"/>
                  </a:lnTo>
                  <a:lnTo>
                    <a:pt x="909828" y="0"/>
                  </a:lnTo>
                  <a:close/>
                </a:path>
              </a:pathLst>
            </a:custGeom>
            <a:solidFill>
              <a:srgbClr val="626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695194" y="7094981"/>
              <a:ext cx="909955" cy="114300"/>
            </a:xfrm>
            <a:custGeom>
              <a:avLst/>
              <a:gdLst/>
              <a:ahLst/>
              <a:cxnLst/>
              <a:rect l="l" t="t" r="r" b="b"/>
              <a:pathLst>
                <a:path w="909954" h="114300">
                  <a:moveTo>
                    <a:pt x="0" y="114300"/>
                  </a:moveTo>
                  <a:lnTo>
                    <a:pt x="909828" y="114300"/>
                  </a:lnTo>
                  <a:lnTo>
                    <a:pt x="909828" y="0"/>
                  </a:ln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2645410" y="7248525"/>
            <a:ext cx="984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2A3E5F"/>
                </a:solidFill>
                <a:latin typeface="Verdana"/>
                <a:cs typeface="Verdana"/>
              </a:rPr>
              <a:t>0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file:///C:/Users/L470/Desktop/swiggy-</a:t>
            </a:r>
            <a:r>
              <a:rPr dirty="0"/>
              <a:t>project.html</a:t>
            </a:r>
            <a:r>
              <a:rPr spc="190" dirty="0"/>
              <a:t>  </a:t>
            </a:r>
            <a:fld id="{81D60167-4931-47E6-BA6A-407CBD079E47}" type="slidenum">
              <a:rPr spc="-25" dirty="0"/>
              <a:t>7</a:t>
            </a:fld>
            <a:r>
              <a:rPr spc="-25" dirty="0"/>
              <a:t>/9</a:t>
            </a:r>
          </a:p>
        </p:txBody>
      </p:sp>
      <p:sp>
        <p:nvSpPr>
          <p:cNvPr id="77" name="object 77"/>
          <p:cNvSpPr txBox="1"/>
          <p:nvPr/>
        </p:nvSpPr>
        <p:spPr>
          <a:xfrm>
            <a:off x="4221226" y="7248525"/>
            <a:ext cx="1936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2A3E5F"/>
                </a:solidFill>
                <a:latin typeface="Verdana"/>
                <a:cs typeface="Verdana"/>
              </a:rPr>
              <a:t>1M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844666" y="7248525"/>
            <a:ext cx="1936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2A3E5F"/>
                </a:solidFill>
                <a:latin typeface="Verdana"/>
                <a:cs typeface="Verdana"/>
              </a:rPr>
              <a:t>2M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9091041" y="7248525"/>
            <a:ext cx="1949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2A3E5F"/>
                </a:solidFill>
                <a:latin typeface="Verdana"/>
                <a:cs typeface="Verdana"/>
              </a:rPr>
              <a:t>4M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714481" y="7248525"/>
            <a:ext cx="1949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2A3E5F"/>
                </a:solidFill>
                <a:latin typeface="Verdana"/>
                <a:cs typeface="Verdana"/>
              </a:rPr>
              <a:t>5M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496313" y="3235578"/>
            <a:ext cx="1202055" cy="40201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00685" marR="5715" indent="202565" algn="r">
              <a:lnSpc>
                <a:spcPct val="104099"/>
              </a:lnSpc>
              <a:spcBef>
                <a:spcPts val="55"/>
              </a:spcBef>
            </a:pP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Karnataka </a:t>
            </a:r>
            <a:r>
              <a:rPr sz="900" dirty="0">
                <a:solidFill>
                  <a:srgbClr val="2A3E5F"/>
                </a:solidFill>
                <a:latin typeface="Verdana"/>
                <a:cs typeface="Verdana"/>
              </a:rPr>
              <a:t>Uttar</a:t>
            </a:r>
            <a:r>
              <a:rPr sz="900" spc="-15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Pradesh Telangana Maharashtra</a:t>
            </a:r>
            <a:endParaRPr sz="900">
              <a:latin typeface="Verdana"/>
              <a:cs typeface="Verdana"/>
            </a:endParaRPr>
          </a:p>
          <a:p>
            <a:pPr marL="476884" marR="5715" indent="419100" algn="r">
              <a:lnSpc>
                <a:spcPct val="104200"/>
              </a:lnSpc>
            </a:pP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Delhi Gujarat Punjab</a:t>
            </a:r>
            <a:r>
              <a:rPr sz="900" spc="500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2A3E5F"/>
                </a:solidFill>
                <a:latin typeface="Verdana"/>
                <a:cs typeface="Verdana"/>
              </a:rPr>
              <a:t>West</a:t>
            </a:r>
            <a:r>
              <a:rPr sz="900" spc="-60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Bengal </a:t>
            </a:r>
            <a:r>
              <a:rPr sz="900" spc="-20" dirty="0">
                <a:solidFill>
                  <a:srgbClr val="2A3E5F"/>
                </a:solidFill>
                <a:latin typeface="Verdana"/>
                <a:cs typeface="Verdana"/>
              </a:rPr>
              <a:t>Tamil</a:t>
            </a:r>
            <a:r>
              <a:rPr sz="900" spc="-45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900" spc="-20" dirty="0">
                <a:solidFill>
                  <a:srgbClr val="2A3E5F"/>
                </a:solidFill>
                <a:latin typeface="Verdana"/>
                <a:cs typeface="Verdana"/>
              </a:rPr>
              <a:t>Nadu </a:t>
            </a: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Rajasthan</a:t>
            </a:r>
            <a:endParaRPr sz="900">
              <a:latin typeface="Verdana"/>
              <a:cs typeface="Verdana"/>
            </a:endParaRPr>
          </a:p>
          <a:p>
            <a:pPr marR="5715" algn="r">
              <a:lnSpc>
                <a:spcPct val="100000"/>
              </a:lnSpc>
              <a:spcBef>
                <a:spcPts val="40"/>
              </a:spcBef>
            </a:pPr>
            <a:r>
              <a:rPr sz="900" dirty="0">
                <a:solidFill>
                  <a:srgbClr val="2A3E5F"/>
                </a:solidFill>
                <a:latin typeface="Verdana"/>
                <a:cs typeface="Verdana"/>
              </a:rPr>
              <a:t>Madhya</a:t>
            </a:r>
            <a:r>
              <a:rPr sz="900" spc="-65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Pradesh</a:t>
            </a:r>
            <a:endParaRPr sz="900">
              <a:latin typeface="Verdana"/>
              <a:cs typeface="Verdana"/>
            </a:endParaRPr>
          </a:p>
          <a:p>
            <a:pPr marL="163195" marR="5080" indent="798195" algn="r">
              <a:lnSpc>
                <a:spcPct val="104099"/>
              </a:lnSpc>
            </a:pPr>
            <a:r>
              <a:rPr sz="900" spc="-25" dirty="0">
                <a:solidFill>
                  <a:srgbClr val="2A3E5F"/>
                </a:solidFill>
                <a:latin typeface="Verdana"/>
                <a:cs typeface="Verdana"/>
              </a:rPr>
              <a:t>Goa </a:t>
            </a: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Haryana Meghalaya </a:t>
            </a:r>
            <a:r>
              <a:rPr sz="900" dirty="0">
                <a:solidFill>
                  <a:srgbClr val="2A3E5F"/>
                </a:solidFill>
                <a:latin typeface="Verdana"/>
                <a:cs typeface="Verdana"/>
              </a:rPr>
              <a:t>Himachal</a:t>
            </a:r>
            <a:r>
              <a:rPr sz="900" spc="-55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Pradesh</a:t>
            </a:r>
            <a:endParaRPr sz="900">
              <a:latin typeface="Verdana"/>
              <a:cs typeface="Verdana"/>
            </a:endParaRPr>
          </a:p>
          <a:p>
            <a:pPr marR="6985" algn="r">
              <a:lnSpc>
                <a:spcPct val="100000"/>
              </a:lnSpc>
              <a:spcBef>
                <a:spcPts val="50"/>
              </a:spcBef>
            </a:pPr>
            <a:r>
              <a:rPr sz="900" dirty="0">
                <a:solidFill>
                  <a:srgbClr val="2A3E5F"/>
                </a:solidFill>
                <a:latin typeface="Verdana"/>
                <a:cs typeface="Verdana"/>
              </a:rPr>
              <a:t>Jammu</a:t>
            </a:r>
            <a:r>
              <a:rPr sz="900" spc="-35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900" dirty="0">
                <a:solidFill>
                  <a:srgbClr val="2A3E5F"/>
                </a:solidFill>
                <a:latin typeface="Verdana"/>
                <a:cs typeface="Verdana"/>
              </a:rPr>
              <a:t>and</a:t>
            </a: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 Kashmir</a:t>
            </a:r>
            <a:endParaRPr sz="900">
              <a:latin typeface="Verdana"/>
              <a:cs typeface="Verdana"/>
            </a:endParaRPr>
          </a:p>
          <a:p>
            <a:pPr marR="8255" algn="r">
              <a:lnSpc>
                <a:spcPct val="100000"/>
              </a:lnSpc>
              <a:spcBef>
                <a:spcPts val="40"/>
              </a:spcBef>
            </a:pP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Uttarakhand</a:t>
            </a:r>
            <a:endParaRPr sz="900">
              <a:latin typeface="Verdana"/>
              <a:cs typeface="Verdana"/>
            </a:endParaRPr>
          </a:p>
          <a:p>
            <a:pPr marL="727075" marR="5080" indent="101600" algn="r">
              <a:lnSpc>
                <a:spcPct val="104400"/>
              </a:lnSpc>
            </a:pPr>
            <a:r>
              <a:rPr sz="900" spc="-20" dirty="0">
                <a:solidFill>
                  <a:srgbClr val="2A3E5F"/>
                </a:solidFill>
                <a:latin typeface="Verdana"/>
                <a:cs typeface="Verdana"/>
              </a:rPr>
              <a:t>Kerala </a:t>
            </a: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Assam Manipur</a:t>
            </a:r>
            <a:endParaRPr sz="900">
              <a:latin typeface="Verdana"/>
              <a:cs typeface="Verdana"/>
            </a:endParaRPr>
          </a:p>
          <a:p>
            <a:pPr marL="452755" marR="6350" indent="435609" algn="r">
              <a:lnSpc>
                <a:spcPts val="1130"/>
              </a:lnSpc>
              <a:spcBef>
                <a:spcPts val="30"/>
              </a:spcBef>
            </a:pP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Bihar Chhattisgarh Jharkhand</a:t>
            </a:r>
            <a:endParaRPr sz="900">
              <a:latin typeface="Verdana"/>
              <a:cs typeface="Verdana"/>
            </a:endParaRPr>
          </a:p>
          <a:p>
            <a:pPr marL="789940" marR="6350" indent="4445" algn="r">
              <a:lnSpc>
                <a:spcPts val="1120"/>
              </a:lnSpc>
            </a:pP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Odisha </a:t>
            </a:r>
            <a:r>
              <a:rPr sz="900" spc="-30" dirty="0">
                <a:solidFill>
                  <a:srgbClr val="2A3E5F"/>
                </a:solidFill>
                <a:latin typeface="Verdana"/>
                <a:cs typeface="Verdana"/>
              </a:rPr>
              <a:t>Tripura</a:t>
            </a:r>
            <a:endParaRPr sz="900">
              <a:latin typeface="Verdana"/>
              <a:cs typeface="Verdana"/>
            </a:endParaRPr>
          </a:p>
          <a:p>
            <a:pPr marR="6350" algn="r">
              <a:lnSpc>
                <a:spcPct val="100000"/>
              </a:lnSpc>
            </a:pP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Mizoram</a:t>
            </a:r>
            <a:endParaRPr sz="900">
              <a:latin typeface="Verdana"/>
              <a:cs typeface="Verdana"/>
            </a:endParaRPr>
          </a:p>
          <a:p>
            <a:pPr marL="800100" marR="6350" indent="-149860" algn="r">
              <a:lnSpc>
                <a:spcPct val="104400"/>
              </a:lnSpc>
              <a:spcBef>
                <a:spcPts val="5"/>
              </a:spcBef>
            </a:pP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Nagaland Sikkim</a:t>
            </a:r>
            <a:endParaRPr sz="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400555" y="1415670"/>
          <a:ext cx="3486150" cy="1301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7225"/>
                <a:gridCol w="1202689"/>
                <a:gridCol w="895985"/>
                <a:gridCol w="655320"/>
              </a:tblGrid>
              <a:tr h="370205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950" b="1" spc="-50" dirty="0">
                          <a:latin typeface="Segoe UI"/>
                          <a:cs typeface="Segoe UI"/>
                        </a:rPr>
                        <a:t>0</a:t>
                      </a:r>
                      <a:endParaRPr sz="950">
                        <a:latin typeface="Segoe UI"/>
                        <a:cs typeface="Segoe UI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2025Q1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19667822.0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R="25463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950" spc="-20" dirty="0">
                          <a:latin typeface="Segoe UI"/>
                          <a:cs typeface="Segoe UI"/>
                        </a:rPr>
                        <a:t>4.34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73096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8890" marB="0"/>
                </a:tc>
              </a:tr>
              <a:tr h="478155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950" b="1" spc="-50" dirty="0">
                          <a:latin typeface="Segoe UI"/>
                          <a:cs typeface="Segoe UI"/>
                        </a:rPr>
                        <a:t>1</a:t>
                      </a:r>
                      <a:endParaRPr sz="950">
                        <a:latin typeface="Segoe UI"/>
                        <a:cs typeface="Segoe UI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2025Q2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74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19902257.0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74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254635" algn="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950" spc="-20" dirty="0">
                          <a:latin typeface="Segoe UI"/>
                          <a:cs typeface="Segoe UI"/>
                        </a:rPr>
                        <a:t>4.34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745" marB="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74163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745" marB="0">
                    <a:solidFill>
                      <a:srgbClr val="F5F5F5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950" b="1" spc="-50" dirty="0">
                          <a:latin typeface="Segoe UI"/>
                          <a:cs typeface="Segoe UI"/>
                        </a:rPr>
                        <a:t>2</a:t>
                      </a:r>
                      <a:endParaRPr sz="950">
                        <a:latin typeface="Segoe UI"/>
                        <a:cs typeface="Segoe UI"/>
                      </a:endParaRPr>
                    </a:p>
                    <a:p>
                      <a:pPr marL="60960">
                        <a:lnSpc>
                          <a:spcPts val="1090"/>
                        </a:lnSpc>
                        <a:spcBef>
                          <a:spcPts val="310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2025Q3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745" marB="0"/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13442427.0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745" marB="0"/>
                </a:tc>
                <a:tc>
                  <a:txBody>
                    <a:bodyPr/>
                    <a:lstStyle/>
                    <a:p>
                      <a:pPr marR="254635" algn="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950" spc="-20" dirty="0">
                          <a:latin typeface="Segoe UI"/>
                          <a:cs typeface="Segoe UI"/>
                        </a:rPr>
                        <a:t>4.34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745" marB="0"/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950" spc="-10" dirty="0">
                          <a:latin typeface="Segoe UI"/>
                          <a:cs typeface="Segoe UI"/>
                        </a:rPr>
                        <a:t>50171</a:t>
                      </a:r>
                      <a:endParaRPr sz="950">
                        <a:latin typeface="Segoe UI"/>
                        <a:cs typeface="Segoe UI"/>
                      </a:endParaRPr>
                    </a:p>
                  </a:txBody>
                  <a:tcPr marL="0" marR="0" marT="118745" marB="0"/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1400555" y="533399"/>
            <a:ext cx="13044169" cy="773430"/>
            <a:chOff x="1400555" y="533399"/>
            <a:chExt cx="13044169" cy="773430"/>
          </a:xfrm>
        </p:grpSpPr>
        <p:sp>
          <p:nvSpPr>
            <p:cNvPr id="4" name="object 4"/>
            <p:cNvSpPr/>
            <p:nvPr/>
          </p:nvSpPr>
          <p:spPr>
            <a:xfrm>
              <a:off x="1400556" y="1297177"/>
              <a:ext cx="3411854" cy="9525"/>
            </a:xfrm>
            <a:custGeom>
              <a:avLst/>
              <a:gdLst/>
              <a:ahLst/>
              <a:cxnLst/>
              <a:rect l="l" t="t" r="r" b="b"/>
              <a:pathLst>
                <a:path w="3411854" h="9525">
                  <a:moveTo>
                    <a:pt x="3411270" y="0"/>
                  </a:moveTo>
                  <a:lnTo>
                    <a:pt x="3411270" y="0"/>
                  </a:lnTo>
                  <a:lnTo>
                    <a:pt x="0" y="0"/>
                  </a:lnTo>
                  <a:lnTo>
                    <a:pt x="0" y="9144"/>
                  </a:lnTo>
                  <a:lnTo>
                    <a:pt x="3411270" y="9144"/>
                  </a:lnTo>
                  <a:lnTo>
                    <a:pt x="3411270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14272" y="533399"/>
              <a:ext cx="13030200" cy="755015"/>
            </a:xfrm>
            <a:custGeom>
              <a:avLst/>
              <a:gdLst/>
              <a:ahLst/>
              <a:cxnLst/>
              <a:rect l="l" t="t" r="r" b="b"/>
              <a:pathLst>
                <a:path w="13030200" h="755015">
                  <a:moveTo>
                    <a:pt x="13030200" y="0"/>
                  </a:moveTo>
                  <a:lnTo>
                    <a:pt x="12961620" y="0"/>
                  </a:lnTo>
                  <a:lnTo>
                    <a:pt x="12961620" y="83820"/>
                  </a:lnTo>
                  <a:lnTo>
                    <a:pt x="38404" y="83832"/>
                  </a:lnTo>
                  <a:lnTo>
                    <a:pt x="12961620" y="83820"/>
                  </a:lnTo>
                  <a:lnTo>
                    <a:pt x="12961620" y="0"/>
                  </a:lnTo>
                  <a:lnTo>
                    <a:pt x="0" y="0"/>
                  </a:lnTo>
                  <a:lnTo>
                    <a:pt x="0" y="83769"/>
                  </a:lnTo>
                  <a:lnTo>
                    <a:pt x="0" y="754634"/>
                  </a:lnTo>
                  <a:lnTo>
                    <a:pt x="38354" y="754634"/>
                  </a:lnTo>
                  <a:lnTo>
                    <a:pt x="12961620" y="754634"/>
                  </a:lnTo>
                  <a:lnTo>
                    <a:pt x="13030200" y="754634"/>
                  </a:lnTo>
                  <a:lnTo>
                    <a:pt x="13030200" y="83820"/>
                  </a:lnTo>
                  <a:lnTo>
                    <a:pt x="1303020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85876" y="189992"/>
            <a:ext cx="7165340" cy="108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6/11/26,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12:59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PM</a:t>
            </a:r>
            <a:r>
              <a:rPr sz="800" spc="4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swiggy-project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800">
              <a:latin typeface="Arial"/>
              <a:cs typeface="Arial"/>
            </a:endParaRPr>
          </a:p>
          <a:p>
            <a:pPr marL="931544">
              <a:lnSpc>
                <a:spcPct val="100000"/>
              </a:lnSpc>
            </a:pP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sort_values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"Quarter"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  <a:p>
            <a:pPr marL="666115">
              <a:lnSpc>
                <a:spcPct val="100000"/>
              </a:lnSpc>
              <a:spcBef>
                <a:spcPts val="215"/>
              </a:spcBef>
            </a:pPr>
            <a:r>
              <a:rPr sz="950" spc="-5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  <a:p>
            <a:pPr marL="666115">
              <a:lnSpc>
                <a:spcPct val="111600"/>
              </a:lnSpc>
              <a:spcBef>
                <a:spcPts val="85"/>
              </a:spcBef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quarterly_summary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"Total_Sales"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quarterly_summary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"Total_Sales"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round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0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quarterly_summary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"Average_Rating"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quarterly_summary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"Average_Rating"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round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2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r>
              <a:rPr sz="950" spc="250" dirty="0">
                <a:solidFill>
                  <a:srgbClr val="0054AA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quarterly_summary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25955" y="2742945"/>
            <a:ext cx="18497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Segoe UI"/>
                <a:cs typeface="Segoe UI"/>
              </a:rPr>
              <a:t>Top</a:t>
            </a:r>
            <a:r>
              <a:rPr sz="1500" b="1" spc="-30" dirty="0">
                <a:latin typeface="Segoe UI"/>
                <a:cs typeface="Segoe UI"/>
              </a:rPr>
              <a:t> </a:t>
            </a:r>
            <a:r>
              <a:rPr sz="1500" b="1" dirty="0">
                <a:latin typeface="Segoe UI"/>
                <a:cs typeface="Segoe UI"/>
              </a:rPr>
              <a:t>5</a:t>
            </a:r>
            <a:r>
              <a:rPr sz="1500" b="1" spc="-25" dirty="0">
                <a:latin typeface="Segoe UI"/>
                <a:cs typeface="Segoe UI"/>
              </a:rPr>
              <a:t> </a:t>
            </a:r>
            <a:r>
              <a:rPr sz="1500" b="1" dirty="0">
                <a:latin typeface="Segoe UI"/>
                <a:cs typeface="Segoe UI"/>
              </a:rPr>
              <a:t>Cities</a:t>
            </a:r>
            <a:r>
              <a:rPr sz="1500" b="1" spc="-20" dirty="0">
                <a:latin typeface="Segoe UI"/>
                <a:cs typeface="Segoe UI"/>
              </a:rPr>
              <a:t> </a:t>
            </a:r>
            <a:r>
              <a:rPr sz="1500" b="1" dirty="0">
                <a:latin typeface="Segoe UI"/>
                <a:cs typeface="Segoe UI"/>
              </a:rPr>
              <a:t>by</a:t>
            </a:r>
            <a:r>
              <a:rPr sz="1500" b="1" spc="-25" dirty="0">
                <a:latin typeface="Segoe UI"/>
                <a:cs typeface="Segoe UI"/>
              </a:rPr>
              <a:t> </a:t>
            </a:r>
            <a:r>
              <a:rPr sz="1500" b="1" spc="-10" dirty="0">
                <a:latin typeface="Segoe UI"/>
                <a:cs typeface="Segoe UI"/>
              </a:rPr>
              <a:t>Sales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6731" y="3214243"/>
            <a:ext cx="55499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3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606060"/>
                </a:solidFill>
                <a:latin typeface="Consolas"/>
                <a:cs typeface="Consolas"/>
              </a:rPr>
              <a:t>[45]:</a:t>
            </a:r>
            <a:endParaRPr sz="950">
              <a:latin typeface="Consolas"/>
              <a:cs typeface="Consola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05127" y="525779"/>
            <a:ext cx="13048615" cy="771525"/>
            <a:chOff x="1405127" y="525779"/>
            <a:chExt cx="13048615" cy="771525"/>
          </a:xfrm>
        </p:grpSpPr>
        <p:sp>
          <p:nvSpPr>
            <p:cNvPr id="10" name="object 10"/>
            <p:cNvSpPr/>
            <p:nvPr/>
          </p:nvSpPr>
          <p:spPr>
            <a:xfrm>
              <a:off x="1405128" y="525779"/>
              <a:ext cx="13039725" cy="93345"/>
            </a:xfrm>
            <a:custGeom>
              <a:avLst/>
              <a:gdLst/>
              <a:ahLst/>
              <a:cxnLst/>
              <a:rect l="l" t="t" r="r" b="b"/>
              <a:pathLst>
                <a:path w="13039725" h="93345">
                  <a:moveTo>
                    <a:pt x="13039344" y="0"/>
                  </a:moveTo>
                  <a:lnTo>
                    <a:pt x="9144" y="0"/>
                  </a:lnTo>
                  <a:lnTo>
                    <a:pt x="0" y="0"/>
                  </a:lnTo>
                  <a:lnTo>
                    <a:pt x="0" y="9144"/>
                  </a:lnTo>
                  <a:lnTo>
                    <a:pt x="0" y="92964"/>
                  </a:lnTo>
                  <a:lnTo>
                    <a:pt x="9144" y="92964"/>
                  </a:lnTo>
                  <a:lnTo>
                    <a:pt x="9144" y="9144"/>
                  </a:lnTo>
                  <a:lnTo>
                    <a:pt x="13039344" y="9144"/>
                  </a:lnTo>
                  <a:lnTo>
                    <a:pt x="13039344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14271" y="534923"/>
              <a:ext cx="13030200" cy="83820"/>
            </a:xfrm>
            <a:custGeom>
              <a:avLst/>
              <a:gdLst/>
              <a:ahLst/>
              <a:cxnLst/>
              <a:rect l="l" t="t" r="r" b="b"/>
              <a:pathLst>
                <a:path w="13030200" h="83820">
                  <a:moveTo>
                    <a:pt x="13030200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13030200" y="83820"/>
                  </a:lnTo>
                  <a:lnTo>
                    <a:pt x="1303020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05128" y="525779"/>
              <a:ext cx="13048615" cy="771525"/>
            </a:xfrm>
            <a:custGeom>
              <a:avLst/>
              <a:gdLst/>
              <a:ahLst/>
              <a:cxnLst/>
              <a:rect l="l" t="t" r="r" b="b"/>
              <a:pathLst>
                <a:path w="13048615" h="771525">
                  <a:moveTo>
                    <a:pt x="9144" y="92913"/>
                  </a:moveTo>
                  <a:lnTo>
                    <a:pt x="0" y="92913"/>
                  </a:lnTo>
                  <a:lnTo>
                    <a:pt x="0" y="762254"/>
                  </a:lnTo>
                  <a:lnTo>
                    <a:pt x="9144" y="762254"/>
                  </a:lnTo>
                  <a:lnTo>
                    <a:pt x="9144" y="92913"/>
                  </a:lnTo>
                  <a:close/>
                </a:path>
                <a:path w="13048615" h="771525">
                  <a:moveTo>
                    <a:pt x="13048475" y="762266"/>
                  </a:moveTo>
                  <a:lnTo>
                    <a:pt x="13039344" y="762266"/>
                  </a:lnTo>
                  <a:lnTo>
                    <a:pt x="9144" y="762266"/>
                  </a:lnTo>
                  <a:lnTo>
                    <a:pt x="0" y="762266"/>
                  </a:lnTo>
                  <a:lnTo>
                    <a:pt x="0" y="771398"/>
                  </a:lnTo>
                  <a:lnTo>
                    <a:pt x="9144" y="771398"/>
                  </a:lnTo>
                  <a:lnTo>
                    <a:pt x="13039344" y="771398"/>
                  </a:lnTo>
                  <a:lnTo>
                    <a:pt x="13048475" y="771398"/>
                  </a:lnTo>
                  <a:lnTo>
                    <a:pt x="13048475" y="762266"/>
                  </a:lnTo>
                  <a:close/>
                </a:path>
                <a:path w="13048615" h="771525">
                  <a:moveTo>
                    <a:pt x="13048475" y="0"/>
                  </a:moveTo>
                  <a:lnTo>
                    <a:pt x="13039344" y="0"/>
                  </a:lnTo>
                  <a:lnTo>
                    <a:pt x="13039344" y="9144"/>
                  </a:lnTo>
                  <a:lnTo>
                    <a:pt x="13039344" y="92913"/>
                  </a:lnTo>
                  <a:lnTo>
                    <a:pt x="13039344" y="762254"/>
                  </a:lnTo>
                  <a:lnTo>
                    <a:pt x="13048475" y="762254"/>
                  </a:lnTo>
                  <a:lnTo>
                    <a:pt x="13048475" y="92964"/>
                  </a:lnTo>
                  <a:lnTo>
                    <a:pt x="13048475" y="9144"/>
                  </a:lnTo>
                  <a:lnTo>
                    <a:pt x="1304847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409700" y="3084829"/>
            <a:ext cx="13039725" cy="2599055"/>
          </a:xfrm>
          <a:prstGeom prst="rect">
            <a:avLst/>
          </a:prstGeom>
          <a:solidFill>
            <a:srgbClr val="F5F5F5"/>
          </a:solidFill>
          <a:ln w="9143">
            <a:solidFill>
              <a:srgbClr val="DFDFDF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42545" marR="10800715">
              <a:lnSpc>
                <a:spcPct val="107600"/>
              </a:lnSpc>
              <a:spcBef>
                <a:spcPts val="520"/>
              </a:spcBef>
            </a:pP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top_5_cities</a:t>
            </a:r>
            <a:r>
              <a:rPr sz="950" spc="-50" dirty="0">
                <a:solidFill>
                  <a:srgbClr val="202020"/>
                </a:solidFill>
                <a:latin typeface="Consolas"/>
                <a:cs typeface="Consolas"/>
              </a:rPr>
              <a:t> 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b="1" spc="-50" dirty="0">
                <a:solidFill>
                  <a:srgbClr val="AA21FF"/>
                </a:solidFill>
                <a:latin typeface="Consolas"/>
                <a:cs typeface="Consolas"/>
              </a:rPr>
              <a:t> </a:t>
            </a:r>
            <a:r>
              <a:rPr sz="950" spc="-50" dirty="0">
                <a:solidFill>
                  <a:srgbClr val="0054AA"/>
                </a:solidFill>
                <a:latin typeface="Consolas"/>
                <a:cs typeface="Consolas"/>
              </a:rPr>
              <a:t>(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df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groupby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"City"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"Price</a:t>
            </a:r>
            <a:r>
              <a:rPr sz="950" spc="6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(INR)"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endParaRPr sz="950">
              <a:latin typeface="Consolas"/>
              <a:cs typeface="Consolas"/>
            </a:endParaRPr>
          </a:p>
          <a:p>
            <a:pPr marL="307975">
              <a:lnSpc>
                <a:spcPct val="100000"/>
              </a:lnSpc>
              <a:spcBef>
                <a:spcPts val="350"/>
              </a:spcBef>
            </a:pP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sum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  <a:p>
            <a:pPr marL="307975">
              <a:lnSpc>
                <a:spcPct val="100000"/>
              </a:lnSpc>
              <a:spcBef>
                <a:spcPts val="215"/>
              </a:spcBef>
            </a:pP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nlargest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spc="-10" dirty="0">
                <a:solidFill>
                  <a:srgbClr val="008700"/>
                </a:solidFill>
                <a:latin typeface="Consolas"/>
                <a:cs typeface="Consolas"/>
              </a:rPr>
              <a:t>5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  <a:p>
            <a:pPr marL="240665">
              <a:lnSpc>
                <a:spcPct val="100000"/>
              </a:lnSpc>
              <a:spcBef>
                <a:spcPts val="215"/>
              </a:spcBef>
            </a:pP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sort_values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  <a:p>
            <a:pPr marL="307975">
              <a:lnSpc>
                <a:spcPct val="100000"/>
              </a:lnSpc>
              <a:spcBef>
                <a:spcPts val="229"/>
              </a:spcBef>
            </a:pP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reset_index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  <a:p>
            <a:pPr marL="42545">
              <a:lnSpc>
                <a:spcPct val="100000"/>
              </a:lnSpc>
              <a:spcBef>
                <a:spcPts val="204"/>
              </a:spcBef>
            </a:pPr>
            <a:r>
              <a:rPr sz="950" spc="-5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950">
              <a:latin typeface="Consolas"/>
              <a:cs typeface="Consolas"/>
            </a:endParaRPr>
          </a:p>
          <a:p>
            <a:pPr marL="42545" marR="10933430">
              <a:lnSpc>
                <a:spcPct val="108400"/>
              </a:lnSpc>
              <a:tabLst>
                <a:tab pos="1235710" algn="l"/>
                <a:tab pos="1435735" algn="l"/>
              </a:tabLst>
            </a:pP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fig</a:t>
            </a:r>
            <a:r>
              <a:rPr sz="950" spc="-15" dirty="0">
                <a:solidFill>
                  <a:srgbClr val="202020"/>
                </a:solidFill>
                <a:latin typeface="Consolas"/>
                <a:cs typeface="Consolas"/>
              </a:rPr>
              <a:t> 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b="1" spc="-15" dirty="0">
                <a:solidFill>
                  <a:srgbClr val="AA21FF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px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bar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	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top_5_cities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 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x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"Price</a:t>
            </a:r>
            <a:r>
              <a:rPr sz="950" spc="-75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(INR)"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		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y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"City"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endParaRPr sz="950">
              <a:latin typeface="Consolas"/>
              <a:cs typeface="Consolas"/>
            </a:endParaRPr>
          </a:p>
          <a:p>
            <a:pPr marL="42545" marR="10337165">
              <a:lnSpc>
                <a:spcPts val="1240"/>
              </a:lnSpc>
              <a:spcBef>
                <a:spcPts val="40"/>
              </a:spcBef>
              <a:tabLst>
                <a:tab pos="1435735" algn="l"/>
              </a:tabLst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orientation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"h"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</a:t>
            </a:r>
            <a:r>
              <a:rPr sz="950" dirty="0">
                <a:solidFill>
                  <a:srgbClr val="0054AA"/>
                </a:solidFill>
                <a:latin typeface="Consolas"/>
                <a:cs typeface="Consolas"/>
              </a:rPr>
              <a:t>	</a:t>
            </a:r>
            <a:r>
              <a:rPr sz="950" dirty="0">
                <a:solidFill>
                  <a:srgbClr val="202020"/>
                </a:solidFill>
                <a:latin typeface="Consolas"/>
                <a:cs typeface="Consolas"/>
              </a:rPr>
              <a:t>title</a:t>
            </a:r>
            <a:r>
              <a:rPr sz="950" b="1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"Top</a:t>
            </a:r>
            <a:r>
              <a:rPr sz="950" spc="-50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5</a:t>
            </a:r>
            <a:r>
              <a:rPr sz="950" spc="-45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Cities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by</a:t>
            </a:r>
            <a:r>
              <a:rPr sz="950" spc="-35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B92020"/>
                </a:solidFill>
                <a:latin typeface="Consolas"/>
                <a:cs typeface="Consolas"/>
              </a:rPr>
              <a:t>Sales</a:t>
            </a:r>
            <a:r>
              <a:rPr sz="950" spc="-35" dirty="0">
                <a:solidFill>
                  <a:srgbClr val="B92020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(INR)"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, 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color_discrete_sequence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[</a:t>
            </a:r>
            <a:r>
              <a:rPr sz="950" spc="-10" dirty="0">
                <a:solidFill>
                  <a:srgbClr val="B92020"/>
                </a:solidFill>
                <a:latin typeface="Consolas"/>
                <a:cs typeface="Consolas"/>
              </a:rPr>
              <a:t>"red"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]</a:t>
            </a:r>
            <a:endParaRPr sz="950">
              <a:latin typeface="Consolas"/>
              <a:cs typeface="Consolas"/>
            </a:endParaRPr>
          </a:p>
          <a:p>
            <a:pPr marL="42545">
              <a:lnSpc>
                <a:spcPct val="100000"/>
              </a:lnSpc>
              <a:spcBef>
                <a:spcPts val="270"/>
              </a:spcBef>
            </a:pPr>
            <a:r>
              <a:rPr sz="950" spc="-50" dirty="0">
                <a:solidFill>
                  <a:srgbClr val="0054AA"/>
                </a:solidFill>
                <a:latin typeface="Consolas"/>
                <a:cs typeface="Consolas"/>
              </a:rPr>
              <a:t>)</a:t>
            </a:r>
            <a:endParaRPr sz="950">
              <a:latin typeface="Consolas"/>
              <a:cs typeface="Consolas"/>
            </a:endParaRPr>
          </a:p>
          <a:p>
            <a:pPr marL="42545">
              <a:lnSpc>
                <a:spcPct val="100000"/>
              </a:lnSpc>
              <a:spcBef>
                <a:spcPts val="135"/>
              </a:spcBef>
            </a:pP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fig</a:t>
            </a:r>
            <a:r>
              <a:rPr sz="950" b="1" spc="-10" dirty="0">
                <a:solidFill>
                  <a:srgbClr val="AA21FF"/>
                </a:solidFill>
                <a:latin typeface="Consolas"/>
                <a:cs typeface="Consolas"/>
              </a:rPr>
              <a:t>.</a:t>
            </a:r>
            <a:r>
              <a:rPr sz="950" spc="-10" dirty="0">
                <a:solidFill>
                  <a:srgbClr val="202020"/>
                </a:solidFill>
                <a:latin typeface="Consolas"/>
                <a:cs typeface="Consolas"/>
              </a:rPr>
              <a:t>show</a:t>
            </a:r>
            <a:r>
              <a:rPr sz="950" spc="-10" dirty="0">
                <a:solidFill>
                  <a:srgbClr val="0054AA"/>
                </a:solidFill>
                <a:latin typeface="Consolas"/>
                <a:cs typeface="Consolas"/>
              </a:rPr>
              <a:t>()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file:///C:/Users/L470/Desktop/swiggy-</a:t>
            </a:r>
            <a:r>
              <a:rPr dirty="0"/>
              <a:t>project.html</a:t>
            </a:r>
            <a:r>
              <a:rPr spc="190" dirty="0"/>
              <a:t>  </a:t>
            </a:r>
            <a:fld id="{81D60167-4931-47E6-BA6A-407CBD079E47}" type="slidenum">
              <a:rPr spc="-25" dirty="0"/>
              <a:t>8</a:t>
            </a:fld>
            <a:r>
              <a:rPr spc="-25" dirty="0"/>
              <a:t>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5876" y="189992"/>
            <a:ext cx="15887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Arial"/>
                <a:cs typeface="Arial"/>
              </a:rPr>
              <a:t>6/11/26,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12:59</a:t>
            </a:r>
            <a:r>
              <a:rPr sz="800" spc="-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PM</a:t>
            </a:r>
            <a:r>
              <a:rPr sz="800" spc="4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swiggy-project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45310" y="513080"/>
            <a:ext cx="219202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solidFill>
                  <a:srgbClr val="2A3E5F"/>
                </a:solidFill>
                <a:latin typeface="Verdana"/>
                <a:cs typeface="Verdana"/>
              </a:rPr>
              <a:t>Top</a:t>
            </a:r>
            <a:r>
              <a:rPr sz="1250" spc="-20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2A3E5F"/>
                </a:solidFill>
                <a:latin typeface="Verdana"/>
                <a:cs typeface="Verdana"/>
              </a:rPr>
              <a:t>5</a:t>
            </a:r>
            <a:r>
              <a:rPr sz="1250" spc="-20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2A3E5F"/>
                </a:solidFill>
                <a:latin typeface="Verdana"/>
                <a:cs typeface="Verdana"/>
              </a:rPr>
              <a:t>Cities</a:t>
            </a:r>
            <a:r>
              <a:rPr sz="1250" spc="-20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2A3E5F"/>
                </a:solidFill>
                <a:latin typeface="Verdana"/>
                <a:cs typeface="Verdana"/>
              </a:rPr>
              <a:t>by</a:t>
            </a:r>
            <a:r>
              <a:rPr sz="1250" spc="-15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2A3E5F"/>
                </a:solidFill>
                <a:latin typeface="Verdana"/>
                <a:cs typeface="Verdana"/>
              </a:rPr>
              <a:t>Sales</a:t>
            </a:r>
            <a:r>
              <a:rPr sz="1250" spc="-20" dirty="0">
                <a:solidFill>
                  <a:srgbClr val="2A3E5F"/>
                </a:solidFill>
                <a:latin typeface="Verdana"/>
                <a:cs typeface="Verdana"/>
              </a:rPr>
              <a:t> (INR)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29170" y="4598034"/>
            <a:ext cx="767080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2A3E5F"/>
                </a:solidFill>
                <a:latin typeface="Verdana"/>
                <a:cs typeface="Verdana"/>
              </a:rPr>
              <a:t>3M</a:t>
            </a:r>
            <a:endParaRPr sz="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050" dirty="0">
                <a:solidFill>
                  <a:srgbClr val="2A3E5F"/>
                </a:solidFill>
                <a:latin typeface="Verdana"/>
                <a:cs typeface="Verdana"/>
              </a:rPr>
              <a:t>Price</a:t>
            </a:r>
            <a:r>
              <a:rPr sz="1050" spc="-30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2A3E5F"/>
                </a:solidFill>
                <a:latin typeface="Verdana"/>
                <a:cs typeface="Verdana"/>
              </a:rPr>
              <a:t>(INR)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4455" y="5581268"/>
            <a:ext cx="48895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In</a:t>
            </a:r>
            <a:r>
              <a:rPr sz="950" spc="-2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606060"/>
                </a:solidFill>
                <a:latin typeface="Consolas"/>
                <a:cs typeface="Consolas"/>
              </a:rPr>
              <a:t>[</a:t>
            </a:r>
            <a:r>
              <a:rPr sz="950" spc="-20" dirty="0">
                <a:solidFill>
                  <a:srgbClr val="606060"/>
                </a:solidFill>
                <a:latin typeface="Consolas"/>
                <a:cs typeface="Consolas"/>
              </a:rPr>
              <a:t> </a:t>
            </a:r>
            <a:r>
              <a:rPr sz="950" spc="-35" dirty="0">
                <a:solidFill>
                  <a:srgbClr val="606060"/>
                </a:solidFill>
                <a:latin typeface="Consolas"/>
                <a:cs typeface="Consolas"/>
              </a:rPr>
              <a:t>]:</a:t>
            </a:r>
            <a:endParaRPr sz="950">
              <a:latin typeface="Consolas"/>
              <a:cs typeface="Consola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05127" y="5496128"/>
            <a:ext cx="13048615" cy="297815"/>
            <a:chOff x="1405127" y="5496128"/>
            <a:chExt cx="13048615" cy="297815"/>
          </a:xfrm>
        </p:grpSpPr>
        <p:sp>
          <p:nvSpPr>
            <p:cNvPr id="7" name="object 7"/>
            <p:cNvSpPr/>
            <p:nvPr/>
          </p:nvSpPr>
          <p:spPr>
            <a:xfrm>
              <a:off x="1414272" y="5503747"/>
              <a:ext cx="13030200" cy="281305"/>
            </a:xfrm>
            <a:custGeom>
              <a:avLst/>
              <a:gdLst/>
              <a:ahLst/>
              <a:cxnLst/>
              <a:rect l="l" t="t" r="r" b="b"/>
              <a:pathLst>
                <a:path w="13030200" h="281304">
                  <a:moveTo>
                    <a:pt x="13030200" y="0"/>
                  </a:moveTo>
                  <a:lnTo>
                    <a:pt x="0" y="0"/>
                  </a:lnTo>
                  <a:lnTo>
                    <a:pt x="0" y="84124"/>
                  </a:lnTo>
                  <a:lnTo>
                    <a:pt x="0" y="280720"/>
                  </a:lnTo>
                  <a:lnTo>
                    <a:pt x="38354" y="280720"/>
                  </a:lnTo>
                  <a:lnTo>
                    <a:pt x="12961620" y="280720"/>
                  </a:lnTo>
                  <a:lnTo>
                    <a:pt x="13030200" y="280720"/>
                  </a:lnTo>
                  <a:lnTo>
                    <a:pt x="13030200" y="84124"/>
                  </a:lnTo>
                  <a:lnTo>
                    <a:pt x="1303020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05128" y="5496127"/>
              <a:ext cx="13039725" cy="93345"/>
            </a:xfrm>
            <a:custGeom>
              <a:avLst/>
              <a:gdLst/>
              <a:ahLst/>
              <a:cxnLst/>
              <a:rect l="l" t="t" r="r" b="b"/>
              <a:pathLst>
                <a:path w="13039725" h="93345">
                  <a:moveTo>
                    <a:pt x="13039344" y="50"/>
                  </a:moveTo>
                  <a:lnTo>
                    <a:pt x="9144" y="50"/>
                  </a:lnTo>
                  <a:lnTo>
                    <a:pt x="0" y="0"/>
                  </a:lnTo>
                  <a:lnTo>
                    <a:pt x="0" y="9194"/>
                  </a:lnTo>
                  <a:lnTo>
                    <a:pt x="0" y="93268"/>
                  </a:lnTo>
                  <a:lnTo>
                    <a:pt x="9144" y="93268"/>
                  </a:lnTo>
                  <a:lnTo>
                    <a:pt x="9144" y="9194"/>
                  </a:lnTo>
                  <a:lnTo>
                    <a:pt x="13039344" y="9194"/>
                  </a:lnTo>
                  <a:lnTo>
                    <a:pt x="13039344" y="5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14271" y="5505272"/>
              <a:ext cx="13030200" cy="84455"/>
            </a:xfrm>
            <a:custGeom>
              <a:avLst/>
              <a:gdLst/>
              <a:ahLst/>
              <a:cxnLst/>
              <a:rect l="l" t="t" r="r" b="b"/>
              <a:pathLst>
                <a:path w="13030200" h="84454">
                  <a:moveTo>
                    <a:pt x="13030200" y="0"/>
                  </a:moveTo>
                  <a:lnTo>
                    <a:pt x="0" y="0"/>
                  </a:lnTo>
                  <a:lnTo>
                    <a:pt x="0" y="84124"/>
                  </a:lnTo>
                  <a:lnTo>
                    <a:pt x="13030200" y="84124"/>
                  </a:lnTo>
                  <a:lnTo>
                    <a:pt x="1303020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05128" y="5496127"/>
              <a:ext cx="13048615" cy="297815"/>
            </a:xfrm>
            <a:custGeom>
              <a:avLst/>
              <a:gdLst/>
              <a:ahLst/>
              <a:cxnLst/>
              <a:rect l="l" t="t" r="r" b="b"/>
              <a:pathLst>
                <a:path w="13048615" h="297814">
                  <a:moveTo>
                    <a:pt x="13048475" y="0"/>
                  </a:moveTo>
                  <a:lnTo>
                    <a:pt x="13039344" y="0"/>
                  </a:lnTo>
                  <a:lnTo>
                    <a:pt x="13039344" y="9194"/>
                  </a:lnTo>
                  <a:lnTo>
                    <a:pt x="13039344" y="93268"/>
                  </a:lnTo>
                  <a:lnTo>
                    <a:pt x="13039344" y="288340"/>
                  </a:lnTo>
                  <a:lnTo>
                    <a:pt x="9144" y="288340"/>
                  </a:lnTo>
                  <a:lnTo>
                    <a:pt x="9144" y="93268"/>
                  </a:lnTo>
                  <a:lnTo>
                    <a:pt x="0" y="93268"/>
                  </a:lnTo>
                  <a:lnTo>
                    <a:pt x="0" y="288340"/>
                  </a:lnTo>
                  <a:lnTo>
                    <a:pt x="0" y="297484"/>
                  </a:lnTo>
                  <a:lnTo>
                    <a:pt x="9144" y="297484"/>
                  </a:lnTo>
                  <a:lnTo>
                    <a:pt x="13039344" y="297484"/>
                  </a:lnTo>
                  <a:lnTo>
                    <a:pt x="13048475" y="297484"/>
                  </a:lnTo>
                  <a:lnTo>
                    <a:pt x="13048475" y="288340"/>
                  </a:lnTo>
                  <a:lnTo>
                    <a:pt x="13048475" y="93268"/>
                  </a:lnTo>
                  <a:lnTo>
                    <a:pt x="13048475" y="9194"/>
                  </a:lnTo>
                  <a:lnTo>
                    <a:pt x="13048475" y="5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316" y="4464430"/>
            <a:ext cx="127889" cy="24917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2132076" y="1287779"/>
            <a:ext cx="9895840" cy="3286760"/>
            <a:chOff x="2132076" y="1287779"/>
            <a:chExt cx="9895840" cy="3286760"/>
          </a:xfrm>
        </p:grpSpPr>
        <p:sp>
          <p:nvSpPr>
            <p:cNvPr id="13" name="object 13"/>
            <p:cNvSpPr/>
            <p:nvPr/>
          </p:nvSpPr>
          <p:spPr>
            <a:xfrm>
              <a:off x="2141220" y="1287779"/>
              <a:ext cx="9886315" cy="3286125"/>
            </a:xfrm>
            <a:custGeom>
              <a:avLst/>
              <a:gdLst/>
              <a:ahLst/>
              <a:cxnLst/>
              <a:rect l="l" t="t" r="r" b="b"/>
              <a:pathLst>
                <a:path w="9886315" h="3286125">
                  <a:moveTo>
                    <a:pt x="9886188" y="0"/>
                  </a:moveTo>
                  <a:lnTo>
                    <a:pt x="0" y="0"/>
                  </a:lnTo>
                  <a:lnTo>
                    <a:pt x="0" y="3285743"/>
                  </a:lnTo>
                  <a:lnTo>
                    <a:pt x="9886188" y="3285743"/>
                  </a:lnTo>
                  <a:lnTo>
                    <a:pt x="9886188" y="0"/>
                  </a:lnTo>
                  <a:close/>
                </a:path>
              </a:pathLst>
            </a:custGeom>
            <a:solidFill>
              <a:srgbClr val="E4E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64102" y="1288541"/>
              <a:ext cx="1720850" cy="3286125"/>
            </a:xfrm>
            <a:custGeom>
              <a:avLst/>
              <a:gdLst/>
              <a:ahLst/>
              <a:cxnLst/>
              <a:rect l="l" t="t" r="r" b="b"/>
              <a:pathLst>
                <a:path w="1720850" h="3286125">
                  <a:moveTo>
                    <a:pt x="0" y="3219450"/>
                  </a:moveTo>
                  <a:lnTo>
                    <a:pt x="0" y="3285744"/>
                  </a:lnTo>
                </a:path>
                <a:path w="1720850" h="3286125">
                  <a:moveTo>
                    <a:pt x="0" y="2561082"/>
                  </a:moveTo>
                  <a:lnTo>
                    <a:pt x="0" y="2693670"/>
                  </a:lnTo>
                </a:path>
                <a:path w="1720850" h="3286125">
                  <a:moveTo>
                    <a:pt x="0" y="1904238"/>
                  </a:moveTo>
                  <a:lnTo>
                    <a:pt x="0" y="2035302"/>
                  </a:lnTo>
                </a:path>
                <a:path w="1720850" h="3286125">
                  <a:moveTo>
                    <a:pt x="0" y="1247394"/>
                  </a:moveTo>
                  <a:lnTo>
                    <a:pt x="0" y="1378458"/>
                  </a:lnTo>
                </a:path>
                <a:path w="1720850" h="3286125">
                  <a:moveTo>
                    <a:pt x="0" y="590550"/>
                  </a:moveTo>
                  <a:lnTo>
                    <a:pt x="0" y="721614"/>
                  </a:lnTo>
                </a:path>
                <a:path w="1720850" h="3286125">
                  <a:moveTo>
                    <a:pt x="0" y="0"/>
                  </a:moveTo>
                  <a:lnTo>
                    <a:pt x="0" y="64770"/>
                  </a:lnTo>
                </a:path>
                <a:path w="1720850" h="3286125">
                  <a:moveTo>
                    <a:pt x="1720596" y="3219450"/>
                  </a:moveTo>
                  <a:lnTo>
                    <a:pt x="1720596" y="3285744"/>
                  </a:lnTo>
                </a:path>
                <a:path w="1720850" h="3286125">
                  <a:moveTo>
                    <a:pt x="1720596" y="2561082"/>
                  </a:moveTo>
                  <a:lnTo>
                    <a:pt x="1720596" y="2693670"/>
                  </a:lnTo>
                </a:path>
                <a:path w="1720850" h="3286125">
                  <a:moveTo>
                    <a:pt x="1720596" y="1904238"/>
                  </a:moveTo>
                  <a:lnTo>
                    <a:pt x="1720596" y="2035302"/>
                  </a:lnTo>
                </a:path>
                <a:path w="1720850" h="3286125">
                  <a:moveTo>
                    <a:pt x="1720596" y="1247394"/>
                  </a:moveTo>
                  <a:lnTo>
                    <a:pt x="1720596" y="1378458"/>
                  </a:lnTo>
                </a:path>
                <a:path w="1720850" h="3286125">
                  <a:moveTo>
                    <a:pt x="1720596" y="590550"/>
                  </a:moveTo>
                  <a:lnTo>
                    <a:pt x="1720596" y="721614"/>
                  </a:lnTo>
                </a:path>
                <a:path w="1720850" h="3286125">
                  <a:moveTo>
                    <a:pt x="1720596" y="0"/>
                  </a:moveTo>
                  <a:lnTo>
                    <a:pt x="1720596" y="6477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05294" y="1288541"/>
              <a:ext cx="3442970" cy="3286125"/>
            </a:xfrm>
            <a:custGeom>
              <a:avLst/>
              <a:gdLst/>
              <a:ahLst/>
              <a:cxnLst/>
              <a:rect l="l" t="t" r="r" b="b"/>
              <a:pathLst>
                <a:path w="3442970" h="3286125">
                  <a:moveTo>
                    <a:pt x="0" y="2561082"/>
                  </a:moveTo>
                  <a:lnTo>
                    <a:pt x="0" y="3285744"/>
                  </a:lnTo>
                </a:path>
                <a:path w="3442970" h="3286125">
                  <a:moveTo>
                    <a:pt x="0" y="1904238"/>
                  </a:moveTo>
                  <a:lnTo>
                    <a:pt x="0" y="2035302"/>
                  </a:lnTo>
                </a:path>
                <a:path w="3442970" h="3286125">
                  <a:moveTo>
                    <a:pt x="0" y="1247394"/>
                  </a:moveTo>
                  <a:lnTo>
                    <a:pt x="0" y="1378458"/>
                  </a:lnTo>
                </a:path>
                <a:path w="3442970" h="3286125">
                  <a:moveTo>
                    <a:pt x="0" y="590550"/>
                  </a:moveTo>
                  <a:lnTo>
                    <a:pt x="0" y="721614"/>
                  </a:lnTo>
                </a:path>
                <a:path w="3442970" h="3286125">
                  <a:moveTo>
                    <a:pt x="0" y="0"/>
                  </a:moveTo>
                  <a:lnTo>
                    <a:pt x="0" y="64770"/>
                  </a:lnTo>
                </a:path>
                <a:path w="3442970" h="3286125">
                  <a:moveTo>
                    <a:pt x="1722120" y="590550"/>
                  </a:moveTo>
                  <a:lnTo>
                    <a:pt x="1722120" y="3285744"/>
                  </a:lnTo>
                </a:path>
                <a:path w="3442970" h="3286125">
                  <a:moveTo>
                    <a:pt x="1722120" y="0"/>
                  </a:moveTo>
                  <a:lnTo>
                    <a:pt x="1722120" y="64770"/>
                  </a:lnTo>
                </a:path>
                <a:path w="3442970" h="3286125">
                  <a:moveTo>
                    <a:pt x="3442715" y="590550"/>
                  </a:moveTo>
                  <a:lnTo>
                    <a:pt x="3442715" y="3285744"/>
                  </a:lnTo>
                </a:path>
                <a:path w="3442970" h="3286125">
                  <a:moveTo>
                    <a:pt x="3442715" y="0"/>
                  </a:moveTo>
                  <a:lnTo>
                    <a:pt x="3442715" y="6477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41982" y="1288541"/>
              <a:ext cx="0" cy="3286125"/>
            </a:xfrm>
            <a:custGeom>
              <a:avLst/>
              <a:gdLst/>
              <a:ahLst/>
              <a:cxnLst/>
              <a:rect l="l" t="t" r="r" b="b"/>
              <a:pathLst>
                <a:path h="3286125">
                  <a:moveTo>
                    <a:pt x="0" y="0"/>
                  </a:moveTo>
                  <a:lnTo>
                    <a:pt x="0" y="3285744"/>
                  </a:lnTo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41220" y="3982211"/>
              <a:ext cx="4869180" cy="525780"/>
            </a:xfrm>
            <a:custGeom>
              <a:avLst/>
              <a:gdLst/>
              <a:ahLst/>
              <a:cxnLst/>
              <a:rect l="l" t="t" r="r" b="b"/>
              <a:pathLst>
                <a:path w="4869180" h="525779">
                  <a:moveTo>
                    <a:pt x="4869180" y="0"/>
                  </a:moveTo>
                  <a:lnTo>
                    <a:pt x="0" y="0"/>
                  </a:lnTo>
                  <a:lnTo>
                    <a:pt x="0" y="525780"/>
                  </a:lnTo>
                  <a:lnTo>
                    <a:pt x="4869180" y="525780"/>
                  </a:lnTo>
                  <a:lnTo>
                    <a:pt x="486918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41982" y="3982973"/>
              <a:ext cx="4869180" cy="525780"/>
            </a:xfrm>
            <a:custGeom>
              <a:avLst/>
              <a:gdLst/>
              <a:ahLst/>
              <a:cxnLst/>
              <a:rect l="l" t="t" r="r" b="b"/>
              <a:pathLst>
                <a:path w="4869180" h="525779">
                  <a:moveTo>
                    <a:pt x="0" y="0"/>
                  </a:moveTo>
                  <a:lnTo>
                    <a:pt x="4869180" y="0"/>
                  </a:lnTo>
                  <a:lnTo>
                    <a:pt x="4869180" y="525779"/>
                  </a:lnTo>
                  <a:lnTo>
                    <a:pt x="0" y="525779"/>
                  </a:lnTo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41220" y="3323843"/>
              <a:ext cx="5191125" cy="525780"/>
            </a:xfrm>
            <a:custGeom>
              <a:avLst/>
              <a:gdLst/>
              <a:ahLst/>
              <a:cxnLst/>
              <a:rect l="l" t="t" r="r" b="b"/>
              <a:pathLst>
                <a:path w="5191125" h="525779">
                  <a:moveTo>
                    <a:pt x="5190744" y="0"/>
                  </a:moveTo>
                  <a:lnTo>
                    <a:pt x="0" y="0"/>
                  </a:lnTo>
                  <a:lnTo>
                    <a:pt x="0" y="525780"/>
                  </a:lnTo>
                  <a:lnTo>
                    <a:pt x="5190744" y="525780"/>
                  </a:lnTo>
                  <a:lnTo>
                    <a:pt x="519074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41982" y="3324605"/>
              <a:ext cx="5191125" cy="525780"/>
            </a:xfrm>
            <a:custGeom>
              <a:avLst/>
              <a:gdLst/>
              <a:ahLst/>
              <a:cxnLst/>
              <a:rect l="l" t="t" r="r" b="b"/>
              <a:pathLst>
                <a:path w="5191125" h="525779">
                  <a:moveTo>
                    <a:pt x="0" y="0"/>
                  </a:moveTo>
                  <a:lnTo>
                    <a:pt x="5190744" y="0"/>
                  </a:lnTo>
                  <a:lnTo>
                    <a:pt x="5190744" y="525779"/>
                  </a:lnTo>
                  <a:lnTo>
                    <a:pt x="0" y="525779"/>
                  </a:lnTo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41220" y="2666999"/>
              <a:ext cx="5201920" cy="525780"/>
            </a:xfrm>
            <a:custGeom>
              <a:avLst/>
              <a:gdLst/>
              <a:ahLst/>
              <a:cxnLst/>
              <a:rect l="l" t="t" r="r" b="b"/>
              <a:pathLst>
                <a:path w="5201920" h="525780">
                  <a:moveTo>
                    <a:pt x="5201411" y="0"/>
                  </a:moveTo>
                  <a:lnTo>
                    <a:pt x="0" y="0"/>
                  </a:lnTo>
                  <a:lnTo>
                    <a:pt x="0" y="525779"/>
                  </a:lnTo>
                  <a:lnTo>
                    <a:pt x="5201411" y="525779"/>
                  </a:lnTo>
                  <a:lnTo>
                    <a:pt x="520141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141982" y="2667761"/>
              <a:ext cx="5201920" cy="525780"/>
            </a:xfrm>
            <a:custGeom>
              <a:avLst/>
              <a:gdLst/>
              <a:ahLst/>
              <a:cxnLst/>
              <a:rect l="l" t="t" r="r" b="b"/>
              <a:pathLst>
                <a:path w="5201920" h="525780">
                  <a:moveTo>
                    <a:pt x="0" y="0"/>
                  </a:moveTo>
                  <a:lnTo>
                    <a:pt x="5201412" y="0"/>
                  </a:lnTo>
                  <a:lnTo>
                    <a:pt x="5201412" y="525779"/>
                  </a:lnTo>
                  <a:lnTo>
                    <a:pt x="0" y="525779"/>
                  </a:lnTo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141220" y="2010155"/>
              <a:ext cx="5366385" cy="525780"/>
            </a:xfrm>
            <a:custGeom>
              <a:avLst/>
              <a:gdLst/>
              <a:ahLst/>
              <a:cxnLst/>
              <a:rect l="l" t="t" r="r" b="b"/>
              <a:pathLst>
                <a:path w="5366384" h="525780">
                  <a:moveTo>
                    <a:pt x="5366004" y="0"/>
                  </a:moveTo>
                  <a:lnTo>
                    <a:pt x="0" y="0"/>
                  </a:lnTo>
                  <a:lnTo>
                    <a:pt x="0" y="525779"/>
                  </a:lnTo>
                  <a:lnTo>
                    <a:pt x="5366004" y="525779"/>
                  </a:lnTo>
                  <a:lnTo>
                    <a:pt x="536600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41982" y="2010917"/>
              <a:ext cx="5366385" cy="525780"/>
            </a:xfrm>
            <a:custGeom>
              <a:avLst/>
              <a:gdLst/>
              <a:ahLst/>
              <a:cxnLst/>
              <a:rect l="l" t="t" r="r" b="b"/>
              <a:pathLst>
                <a:path w="5366384" h="525780">
                  <a:moveTo>
                    <a:pt x="0" y="0"/>
                  </a:moveTo>
                  <a:lnTo>
                    <a:pt x="5366004" y="0"/>
                  </a:lnTo>
                  <a:lnTo>
                    <a:pt x="5366004" y="525780"/>
                  </a:lnTo>
                  <a:lnTo>
                    <a:pt x="0" y="525780"/>
                  </a:lnTo>
                </a:path>
              </a:pathLst>
            </a:custGeom>
            <a:ln w="4571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141220" y="1353311"/>
              <a:ext cx="9392920" cy="525780"/>
            </a:xfrm>
            <a:custGeom>
              <a:avLst/>
              <a:gdLst/>
              <a:ahLst/>
              <a:cxnLst/>
              <a:rect l="l" t="t" r="r" b="b"/>
              <a:pathLst>
                <a:path w="9392920" h="525780">
                  <a:moveTo>
                    <a:pt x="9392412" y="0"/>
                  </a:moveTo>
                  <a:lnTo>
                    <a:pt x="0" y="0"/>
                  </a:lnTo>
                  <a:lnTo>
                    <a:pt x="0" y="525779"/>
                  </a:lnTo>
                  <a:lnTo>
                    <a:pt x="9392412" y="525779"/>
                  </a:lnTo>
                  <a:lnTo>
                    <a:pt x="93924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41982" y="1354073"/>
              <a:ext cx="9392920" cy="525780"/>
            </a:xfrm>
            <a:custGeom>
              <a:avLst/>
              <a:gdLst/>
              <a:ahLst/>
              <a:cxnLst/>
              <a:rect l="l" t="t" r="r" b="b"/>
              <a:pathLst>
                <a:path w="9392920" h="525780">
                  <a:moveTo>
                    <a:pt x="0" y="0"/>
                  </a:moveTo>
                  <a:lnTo>
                    <a:pt x="9392412" y="0"/>
                  </a:lnTo>
                  <a:lnTo>
                    <a:pt x="9392412" y="525779"/>
                  </a:lnTo>
                  <a:lnTo>
                    <a:pt x="0" y="525779"/>
                  </a:lnTo>
                </a:path>
              </a:pathLst>
            </a:custGeom>
            <a:ln w="4572">
              <a:solidFill>
                <a:srgbClr val="E4EB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092198" y="4598034"/>
            <a:ext cx="984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2A3E5F"/>
                </a:solidFill>
                <a:latin typeface="Verdana"/>
                <a:cs typeface="Verdana"/>
              </a:rPr>
              <a:t>0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10" dirty="0"/>
              <a:t>file:///C:/Users/L470/Desktop/swiggy-</a:t>
            </a:r>
            <a:r>
              <a:rPr dirty="0"/>
              <a:t>project.html</a:t>
            </a:r>
            <a:r>
              <a:rPr spc="190" dirty="0"/>
              <a:t>  </a:t>
            </a:r>
            <a:fld id="{81D60167-4931-47E6-BA6A-407CBD079E47}" type="slidenum">
              <a:rPr spc="-25" dirty="0"/>
              <a:t>9</a:t>
            </a:fld>
            <a:r>
              <a:rPr spc="-25" dirty="0"/>
              <a:t>/9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765550" y="4598034"/>
            <a:ext cx="1949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2A3E5F"/>
                </a:solidFill>
                <a:latin typeface="Verdana"/>
                <a:cs typeface="Verdana"/>
              </a:rPr>
              <a:t>1M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488051" y="4598034"/>
            <a:ext cx="1936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2A3E5F"/>
                </a:solidFill>
                <a:latin typeface="Verdana"/>
                <a:cs typeface="Verdana"/>
              </a:rPr>
              <a:t>2M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931020" y="4598034"/>
            <a:ext cx="1936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2A3E5F"/>
                </a:solidFill>
                <a:latin typeface="Verdana"/>
                <a:cs typeface="Verdana"/>
              </a:rPr>
              <a:t>4M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651997" y="4598034"/>
            <a:ext cx="1949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2A3E5F"/>
                </a:solidFill>
                <a:latin typeface="Verdana"/>
                <a:cs typeface="Verdana"/>
              </a:rPr>
              <a:t>5M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40510" y="4185030"/>
            <a:ext cx="6038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2A3E5F"/>
                </a:solidFill>
                <a:latin typeface="Verdana"/>
                <a:cs typeface="Verdana"/>
              </a:rPr>
              <a:t>New</a:t>
            </a:r>
            <a:r>
              <a:rPr sz="900" spc="-40" dirty="0">
                <a:solidFill>
                  <a:srgbClr val="2A3E5F"/>
                </a:solidFill>
                <a:latin typeface="Verdana"/>
                <a:cs typeface="Verdana"/>
              </a:rPr>
              <a:t> </a:t>
            </a: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Delhi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68526" y="3526663"/>
            <a:ext cx="475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Mumbai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00886" y="2870961"/>
            <a:ext cx="6438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Hyderabad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21282" y="2212593"/>
            <a:ext cx="5232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Lucknow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35938" y="1555750"/>
            <a:ext cx="608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2A3E5F"/>
                </a:solidFill>
                <a:latin typeface="Verdana"/>
                <a:cs typeface="Verdana"/>
              </a:rPr>
              <a:t>Bengaluru</a:t>
            </a:r>
            <a:endParaRPr sz="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1119</Words>
  <Application>Microsoft Office PowerPoint</Application>
  <PresentationFormat>Custom</PresentationFormat>
  <Paragraphs>480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Consolas</vt:lpstr>
      <vt:lpstr>Segoe UI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swiggy-project</dc:title>
  <dc:creator>L470</dc:creator>
  <cp:lastModifiedBy>L470</cp:lastModifiedBy>
  <cp:revision>1</cp:revision>
  <dcterms:created xsi:type="dcterms:W3CDTF">2026-06-11T10:09:52Z</dcterms:created>
  <dcterms:modified xsi:type="dcterms:W3CDTF">2026-06-11T10:11:02Z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2026-06-11T00:00:00Z</vt:filetime>
  </property>
  <property fmtid="{D5CDD505-2E9C-101B-9397-08002B2CF9AE}" pid="3" name="Creator">
    <vt:lpwstr>Microsoft® Word 2013</vt:lpwstr>
  </property>
  <property fmtid="{D5CDD505-2E9C-101B-9397-08002B2CF9AE}" pid="4" name="LastSaved">
    <vt:filetime>2026-06-11T00:00:00Z</vt:filetime>
  </property>
  <property fmtid="{D5CDD505-2E9C-101B-9397-08002B2CF9AE}" pid="5" name="Producer">
    <vt:lpwstr>Microsoft® Word 2013</vt:lpwstr>
  </property>
</Properties>
</file>